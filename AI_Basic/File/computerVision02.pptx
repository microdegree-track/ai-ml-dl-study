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6" r:id="rId11"/>
    <p:sldId id="264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0"/>
    <p:restoredTop sz="94685"/>
  </p:normalViewPr>
  <p:slideViewPr>
    <p:cSldViewPr snapToGrid="0">
      <p:cViewPr varScale="1">
        <p:scale>
          <a:sx n="159" d="100"/>
          <a:sy n="159" d="100"/>
        </p:scale>
        <p:origin x="208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AD33E4C-133F-45DE-9548-D96FFAB3897A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A0BA023-985B-4FBE-B875-603CD7CB4110}">
      <dgm:prSet/>
      <dgm:spPr/>
      <dgm:t>
        <a:bodyPr/>
        <a:lstStyle/>
        <a:p>
          <a:r>
            <a:rPr lang="ko-KR"/>
            <a:t>컨볼루션 연산</a:t>
          </a:r>
          <a:r>
            <a:rPr lang="en-US"/>
            <a:t>: </a:t>
          </a:r>
          <a:r>
            <a:rPr lang="ko-KR"/>
            <a:t>커널은 입력 이미지</a:t>
          </a:r>
          <a:r>
            <a:rPr lang="en-US"/>
            <a:t>(</a:t>
          </a:r>
          <a:r>
            <a:rPr lang="ko-KR"/>
            <a:t>또는 이전 계층의 출력</a:t>
          </a:r>
          <a:r>
            <a:rPr lang="en-US"/>
            <a:t>)</a:t>
          </a:r>
          <a:r>
            <a:rPr lang="ko-KR"/>
            <a:t>를 한 픽셀씩 이동하면서</a:t>
          </a:r>
          <a:r>
            <a:rPr lang="en-US"/>
            <a:t>, </a:t>
          </a:r>
          <a:r>
            <a:rPr lang="ko-KR"/>
            <a:t>각 위치에서 원본 픽셀 값과 자신의 값을 요소별 곱셈</a:t>
          </a:r>
          <a:r>
            <a:rPr lang="en-US"/>
            <a:t>(element-wise multiplication)</a:t>
          </a:r>
          <a:r>
            <a:rPr lang="ko-KR"/>
            <a:t>을 수행</a:t>
          </a:r>
          <a:endParaRPr lang="en-US"/>
        </a:p>
      </dgm:t>
    </dgm:pt>
    <dgm:pt modelId="{EB32FA28-1728-4F59-BB8D-8B4EA1A2E335}" type="parTrans" cxnId="{A42804B9-3B62-4435-9A51-CD06045E89D4}">
      <dgm:prSet/>
      <dgm:spPr/>
      <dgm:t>
        <a:bodyPr/>
        <a:lstStyle/>
        <a:p>
          <a:endParaRPr lang="en-US"/>
        </a:p>
      </dgm:t>
    </dgm:pt>
    <dgm:pt modelId="{A6252570-45E2-4405-B3EA-B97BF60E5542}" type="sibTrans" cxnId="{A42804B9-3B62-4435-9A51-CD06045E89D4}">
      <dgm:prSet/>
      <dgm:spPr/>
      <dgm:t>
        <a:bodyPr/>
        <a:lstStyle/>
        <a:p>
          <a:endParaRPr lang="en-US"/>
        </a:p>
      </dgm:t>
    </dgm:pt>
    <dgm:pt modelId="{0E4D138C-DA4C-487B-A33A-3503775AEBF4}">
      <dgm:prSet/>
      <dgm:spPr/>
      <dgm:t>
        <a:bodyPr/>
        <a:lstStyle/>
        <a:p>
          <a:r>
            <a:rPr lang="ko-KR"/>
            <a:t>이 곱셈의 합은 출력 피처 맵의 단일 픽셀을 생성하기 위해 취해지는데 이 과정은 이미지 전체에 걸쳐 반복됨</a:t>
          </a:r>
          <a:endParaRPr lang="en-US"/>
        </a:p>
      </dgm:t>
    </dgm:pt>
    <dgm:pt modelId="{8A7E792A-AE1A-470A-8D12-20E6FE973F90}" type="parTrans" cxnId="{0CC440E7-02C7-4A1C-BBDA-B0613D05FDA8}">
      <dgm:prSet/>
      <dgm:spPr/>
      <dgm:t>
        <a:bodyPr/>
        <a:lstStyle/>
        <a:p>
          <a:endParaRPr lang="en-US"/>
        </a:p>
      </dgm:t>
    </dgm:pt>
    <dgm:pt modelId="{69E2951F-A000-42ED-BD4E-FE70A0EE64F3}" type="sibTrans" cxnId="{0CC440E7-02C7-4A1C-BBDA-B0613D05FDA8}">
      <dgm:prSet/>
      <dgm:spPr/>
      <dgm:t>
        <a:bodyPr/>
        <a:lstStyle/>
        <a:p>
          <a:endParaRPr lang="en-US"/>
        </a:p>
      </dgm:t>
    </dgm:pt>
    <dgm:pt modelId="{4DC393E0-6C50-4FD3-A4DC-068B6439FFCC}">
      <dgm:prSet/>
      <dgm:spPr/>
      <dgm:t>
        <a:bodyPr/>
        <a:lstStyle/>
        <a:p>
          <a:r>
            <a:rPr lang="ko-KR"/>
            <a:t>특징 추출</a:t>
          </a:r>
          <a:r>
            <a:rPr lang="en-US"/>
            <a:t>: </a:t>
          </a:r>
          <a:r>
            <a:rPr lang="ko-KR"/>
            <a:t>다양한 패턴을 가진 커널은 이미지 내에서 다른 특징을 감지할 수 있는데 예를 들어</a:t>
          </a:r>
          <a:r>
            <a:rPr lang="en-US"/>
            <a:t>, </a:t>
          </a:r>
          <a:r>
            <a:rPr lang="ko-KR"/>
            <a:t>한 커널은 수직 가장자리를 감지하는 데 사용될 수 있으며</a:t>
          </a:r>
          <a:r>
            <a:rPr lang="en-US"/>
            <a:t>, </a:t>
          </a:r>
          <a:r>
            <a:rPr lang="ko-KR"/>
            <a:t>다른 커널은 수평 가장자리를 감지할 수 있음</a:t>
          </a:r>
          <a:endParaRPr lang="en-US"/>
        </a:p>
      </dgm:t>
    </dgm:pt>
    <dgm:pt modelId="{A6CE83A6-AF96-41F3-ABE6-C314048E0D8F}" type="parTrans" cxnId="{E7EFBD68-F065-4F51-B435-F72974806A33}">
      <dgm:prSet/>
      <dgm:spPr/>
      <dgm:t>
        <a:bodyPr/>
        <a:lstStyle/>
        <a:p>
          <a:endParaRPr lang="en-US"/>
        </a:p>
      </dgm:t>
    </dgm:pt>
    <dgm:pt modelId="{8F92F16A-3380-4959-880B-2ED107FF5CCA}" type="sibTrans" cxnId="{E7EFBD68-F065-4F51-B435-F72974806A33}">
      <dgm:prSet/>
      <dgm:spPr/>
      <dgm:t>
        <a:bodyPr/>
        <a:lstStyle/>
        <a:p>
          <a:endParaRPr lang="en-US"/>
        </a:p>
      </dgm:t>
    </dgm:pt>
    <dgm:pt modelId="{8B4C8E8B-B9CF-4AB2-B52A-9F20CDEEDD5C}">
      <dgm:prSet/>
      <dgm:spPr/>
      <dgm:t>
        <a:bodyPr/>
        <a:lstStyle/>
        <a:p>
          <a:r>
            <a:rPr lang="en-US"/>
            <a:t>CNN</a:t>
          </a:r>
          <a:r>
            <a:rPr lang="ko-KR"/>
            <a:t>은 특정 작업</a:t>
          </a:r>
          <a:r>
            <a:rPr lang="en-US"/>
            <a:t>(</a:t>
          </a:r>
          <a:r>
            <a:rPr lang="ko-KR"/>
            <a:t>예</a:t>
          </a:r>
          <a:r>
            <a:rPr lang="en-US"/>
            <a:t>: </a:t>
          </a:r>
          <a:r>
            <a:rPr lang="ko-KR"/>
            <a:t>얼굴</a:t>
          </a:r>
          <a:r>
            <a:rPr lang="en-US"/>
            <a:t>, </a:t>
          </a:r>
          <a:r>
            <a:rPr lang="ko-KR"/>
            <a:t>동물 또는 이미지 내 객체 인식</a:t>
          </a:r>
          <a:r>
            <a:rPr lang="en-US"/>
            <a:t>)</a:t>
          </a:r>
          <a:r>
            <a:rPr lang="ko-KR"/>
            <a:t>에 가장 효과적인 커널</a:t>
          </a:r>
          <a:r>
            <a:rPr lang="en-US"/>
            <a:t>(</a:t>
          </a:r>
          <a:r>
            <a:rPr lang="ko-KR"/>
            <a:t>필터 값</a:t>
          </a:r>
          <a:r>
            <a:rPr lang="en-US"/>
            <a:t>)</a:t>
          </a:r>
          <a:r>
            <a:rPr lang="ko-KR"/>
            <a:t>을 학습</a:t>
          </a:r>
          <a:endParaRPr lang="en-US"/>
        </a:p>
      </dgm:t>
    </dgm:pt>
    <dgm:pt modelId="{D2228302-58EC-454D-837E-0BC2B24B09A8}" type="parTrans" cxnId="{7EF41F8C-743F-46E6-B979-5B6E113C7DD3}">
      <dgm:prSet/>
      <dgm:spPr/>
      <dgm:t>
        <a:bodyPr/>
        <a:lstStyle/>
        <a:p>
          <a:endParaRPr lang="en-US"/>
        </a:p>
      </dgm:t>
    </dgm:pt>
    <dgm:pt modelId="{8C648FFB-BF5D-499F-A6D1-FEC20839308F}" type="sibTrans" cxnId="{7EF41F8C-743F-46E6-B979-5B6E113C7DD3}">
      <dgm:prSet/>
      <dgm:spPr/>
      <dgm:t>
        <a:bodyPr/>
        <a:lstStyle/>
        <a:p>
          <a:endParaRPr lang="en-US"/>
        </a:p>
      </dgm:t>
    </dgm:pt>
    <dgm:pt modelId="{E0204129-7F1F-5C46-AA3E-AC4BB45C175F}" type="pres">
      <dgm:prSet presAssocID="{CAD33E4C-133F-45DE-9548-D96FFAB3897A}" presName="outerComposite" presStyleCnt="0">
        <dgm:presLayoutVars>
          <dgm:chMax val="5"/>
          <dgm:dir/>
          <dgm:resizeHandles val="exact"/>
        </dgm:presLayoutVars>
      </dgm:prSet>
      <dgm:spPr/>
    </dgm:pt>
    <dgm:pt modelId="{3407C950-C8DD-FC44-AEA5-BEE3C14FDEB9}" type="pres">
      <dgm:prSet presAssocID="{CAD33E4C-133F-45DE-9548-D96FFAB3897A}" presName="dummyMaxCanvas" presStyleCnt="0">
        <dgm:presLayoutVars/>
      </dgm:prSet>
      <dgm:spPr/>
    </dgm:pt>
    <dgm:pt modelId="{60BD94D2-3FE8-1C4C-8F4C-00638A3819A1}" type="pres">
      <dgm:prSet presAssocID="{CAD33E4C-133F-45DE-9548-D96FFAB3897A}" presName="TwoNodes_1" presStyleLbl="node1" presStyleIdx="0" presStyleCnt="2">
        <dgm:presLayoutVars>
          <dgm:bulletEnabled val="1"/>
        </dgm:presLayoutVars>
      </dgm:prSet>
      <dgm:spPr/>
    </dgm:pt>
    <dgm:pt modelId="{854D0641-5496-084B-AED4-02A3630344DB}" type="pres">
      <dgm:prSet presAssocID="{CAD33E4C-133F-45DE-9548-D96FFAB3897A}" presName="TwoNodes_2" presStyleLbl="node1" presStyleIdx="1" presStyleCnt="2">
        <dgm:presLayoutVars>
          <dgm:bulletEnabled val="1"/>
        </dgm:presLayoutVars>
      </dgm:prSet>
      <dgm:spPr/>
    </dgm:pt>
    <dgm:pt modelId="{C050D92D-BB2A-744D-9597-F1D0968DEC17}" type="pres">
      <dgm:prSet presAssocID="{CAD33E4C-133F-45DE-9548-D96FFAB3897A}" presName="TwoConn_1-2" presStyleLbl="fgAccFollowNode1" presStyleIdx="0" presStyleCnt="1">
        <dgm:presLayoutVars>
          <dgm:bulletEnabled val="1"/>
        </dgm:presLayoutVars>
      </dgm:prSet>
      <dgm:spPr/>
    </dgm:pt>
    <dgm:pt modelId="{0FB6AE36-37C2-3942-84A7-1E7CA15296F3}" type="pres">
      <dgm:prSet presAssocID="{CAD33E4C-133F-45DE-9548-D96FFAB3897A}" presName="TwoNodes_1_text" presStyleLbl="node1" presStyleIdx="1" presStyleCnt="2">
        <dgm:presLayoutVars>
          <dgm:bulletEnabled val="1"/>
        </dgm:presLayoutVars>
      </dgm:prSet>
      <dgm:spPr/>
    </dgm:pt>
    <dgm:pt modelId="{4C39A0B9-64D1-0B4A-8325-7B2376A3502A}" type="pres">
      <dgm:prSet presAssocID="{CAD33E4C-133F-45DE-9548-D96FFAB3897A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D792871F-0AF9-D64B-8A34-E23C643FAD17}" type="presOf" srcId="{8B4C8E8B-B9CF-4AB2-B52A-9F20CDEEDD5C}" destId="{4C39A0B9-64D1-0B4A-8325-7B2376A3502A}" srcOrd="1" destOrd="1" presId="urn:microsoft.com/office/officeart/2005/8/layout/vProcess5"/>
    <dgm:cxn modelId="{B8B91658-403A-DA4D-9A93-ECD1AD3702A6}" type="presOf" srcId="{FA0BA023-985B-4FBE-B875-603CD7CB4110}" destId="{0FB6AE36-37C2-3942-84A7-1E7CA15296F3}" srcOrd="1" destOrd="0" presId="urn:microsoft.com/office/officeart/2005/8/layout/vProcess5"/>
    <dgm:cxn modelId="{E7EFBD68-F065-4F51-B435-F72974806A33}" srcId="{CAD33E4C-133F-45DE-9548-D96FFAB3897A}" destId="{4DC393E0-6C50-4FD3-A4DC-068B6439FFCC}" srcOrd="1" destOrd="0" parTransId="{A6CE83A6-AF96-41F3-ABE6-C314048E0D8F}" sibTransId="{8F92F16A-3380-4959-880B-2ED107FF5CCA}"/>
    <dgm:cxn modelId="{0F9D4083-E59B-AA49-B16C-75F5A7840A22}" type="presOf" srcId="{4DC393E0-6C50-4FD3-A4DC-068B6439FFCC}" destId="{4C39A0B9-64D1-0B4A-8325-7B2376A3502A}" srcOrd="1" destOrd="0" presId="urn:microsoft.com/office/officeart/2005/8/layout/vProcess5"/>
    <dgm:cxn modelId="{7EF41F8C-743F-46E6-B979-5B6E113C7DD3}" srcId="{4DC393E0-6C50-4FD3-A4DC-068B6439FFCC}" destId="{8B4C8E8B-B9CF-4AB2-B52A-9F20CDEEDD5C}" srcOrd="0" destOrd="0" parTransId="{D2228302-58EC-454D-837E-0BC2B24B09A8}" sibTransId="{8C648FFB-BF5D-499F-A6D1-FEC20839308F}"/>
    <dgm:cxn modelId="{CAAF1391-DFFA-EE41-80B7-B578A4592F44}" type="presOf" srcId="{CAD33E4C-133F-45DE-9548-D96FFAB3897A}" destId="{E0204129-7F1F-5C46-AA3E-AC4BB45C175F}" srcOrd="0" destOrd="0" presId="urn:microsoft.com/office/officeart/2005/8/layout/vProcess5"/>
    <dgm:cxn modelId="{31B4F593-1037-D243-B199-FA64DDE61293}" type="presOf" srcId="{A6252570-45E2-4405-B3EA-B97BF60E5542}" destId="{C050D92D-BB2A-744D-9597-F1D0968DEC17}" srcOrd="0" destOrd="0" presId="urn:microsoft.com/office/officeart/2005/8/layout/vProcess5"/>
    <dgm:cxn modelId="{27793998-B450-A848-8324-FA566BF0F2A8}" type="presOf" srcId="{4DC393E0-6C50-4FD3-A4DC-068B6439FFCC}" destId="{854D0641-5496-084B-AED4-02A3630344DB}" srcOrd="0" destOrd="0" presId="urn:microsoft.com/office/officeart/2005/8/layout/vProcess5"/>
    <dgm:cxn modelId="{22C937A2-4C27-ED4A-9385-1EA758703103}" type="presOf" srcId="{0E4D138C-DA4C-487B-A33A-3503775AEBF4}" destId="{0FB6AE36-37C2-3942-84A7-1E7CA15296F3}" srcOrd="1" destOrd="1" presId="urn:microsoft.com/office/officeart/2005/8/layout/vProcess5"/>
    <dgm:cxn modelId="{A42804B9-3B62-4435-9A51-CD06045E89D4}" srcId="{CAD33E4C-133F-45DE-9548-D96FFAB3897A}" destId="{FA0BA023-985B-4FBE-B875-603CD7CB4110}" srcOrd="0" destOrd="0" parTransId="{EB32FA28-1728-4F59-BB8D-8B4EA1A2E335}" sibTransId="{A6252570-45E2-4405-B3EA-B97BF60E5542}"/>
    <dgm:cxn modelId="{56AB35D7-250D-2C46-A585-18FD02B997E3}" type="presOf" srcId="{0E4D138C-DA4C-487B-A33A-3503775AEBF4}" destId="{60BD94D2-3FE8-1C4C-8F4C-00638A3819A1}" srcOrd="0" destOrd="1" presId="urn:microsoft.com/office/officeart/2005/8/layout/vProcess5"/>
    <dgm:cxn modelId="{C101CEDF-CD28-4D42-B430-8ABFB769379A}" type="presOf" srcId="{FA0BA023-985B-4FBE-B875-603CD7CB4110}" destId="{60BD94D2-3FE8-1C4C-8F4C-00638A3819A1}" srcOrd="0" destOrd="0" presId="urn:microsoft.com/office/officeart/2005/8/layout/vProcess5"/>
    <dgm:cxn modelId="{24C4EBE6-CD5C-DD42-9DDA-03B3C86168BB}" type="presOf" srcId="{8B4C8E8B-B9CF-4AB2-B52A-9F20CDEEDD5C}" destId="{854D0641-5496-084B-AED4-02A3630344DB}" srcOrd="0" destOrd="1" presId="urn:microsoft.com/office/officeart/2005/8/layout/vProcess5"/>
    <dgm:cxn modelId="{0CC440E7-02C7-4A1C-BBDA-B0613D05FDA8}" srcId="{FA0BA023-985B-4FBE-B875-603CD7CB4110}" destId="{0E4D138C-DA4C-487B-A33A-3503775AEBF4}" srcOrd="0" destOrd="0" parTransId="{8A7E792A-AE1A-470A-8D12-20E6FE973F90}" sibTransId="{69E2951F-A000-42ED-BD4E-FE70A0EE64F3}"/>
    <dgm:cxn modelId="{C6F13205-52E7-9142-BFE9-A5A3BEA9FAD6}" type="presParOf" srcId="{E0204129-7F1F-5C46-AA3E-AC4BB45C175F}" destId="{3407C950-C8DD-FC44-AEA5-BEE3C14FDEB9}" srcOrd="0" destOrd="0" presId="urn:microsoft.com/office/officeart/2005/8/layout/vProcess5"/>
    <dgm:cxn modelId="{8A6273A8-5047-AD4D-B61B-CE3513FDCFFD}" type="presParOf" srcId="{E0204129-7F1F-5C46-AA3E-AC4BB45C175F}" destId="{60BD94D2-3FE8-1C4C-8F4C-00638A3819A1}" srcOrd="1" destOrd="0" presId="urn:microsoft.com/office/officeart/2005/8/layout/vProcess5"/>
    <dgm:cxn modelId="{F130E4CC-5AF1-CB46-83FA-56F8AF0D3AD6}" type="presParOf" srcId="{E0204129-7F1F-5C46-AA3E-AC4BB45C175F}" destId="{854D0641-5496-084B-AED4-02A3630344DB}" srcOrd="2" destOrd="0" presId="urn:microsoft.com/office/officeart/2005/8/layout/vProcess5"/>
    <dgm:cxn modelId="{B688136F-6991-E942-B3B4-A98A0AE1D249}" type="presParOf" srcId="{E0204129-7F1F-5C46-AA3E-AC4BB45C175F}" destId="{C050D92D-BB2A-744D-9597-F1D0968DEC17}" srcOrd="3" destOrd="0" presId="urn:microsoft.com/office/officeart/2005/8/layout/vProcess5"/>
    <dgm:cxn modelId="{86C2F1FA-A751-384E-858D-713174E3BF8E}" type="presParOf" srcId="{E0204129-7F1F-5C46-AA3E-AC4BB45C175F}" destId="{0FB6AE36-37C2-3942-84A7-1E7CA15296F3}" srcOrd="4" destOrd="0" presId="urn:microsoft.com/office/officeart/2005/8/layout/vProcess5"/>
    <dgm:cxn modelId="{13E3083C-A844-7B45-B348-9B571B9870A8}" type="presParOf" srcId="{E0204129-7F1F-5C46-AA3E-AC4BB45C175F}" destId="{4C39A0B9-64D1-0B4A-8325-7B2376A3502A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069A23-D87D-4BB1-AC6C-EB2CB3A7F153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38C3E32-D8D3-45B7-A780-89B92FDCFCC4}">
      <dgm:prSet/>
      <dgm:spPr/>
      <dgm:t>
        <a:bodyPr/>
        <a:lstStyle/>
        <a:p>
          <a:r>
            <a:rPr lang="ko-KR"/>
            <a:t>크기</a:t>
          </a:r>
          <a:r>
            <a:rPr lang="en-US"/>
            <a:t>: </a:t>
          </a:r>
          <a:r>
            <a:rPr lang="ko-KR"/>
            <a:t>커널은 일반적으로 작지만 </a:t>
          </a:r>
          <a:r>
            <a:rPr lang="en-US"/>
            <a:t>3x3, 5x5</a:t>
          </a:r>
          <a:r>
            <a:rPr lang="ko-KR"/>
            <a:t>와 같이 다양한 크기가 있는데 커널의 크기는 각 출력 픽셀에 대해 한 번에 고려되는 입력 영역의 크기를 결정하며</a:t>
          </a:r>
          <a:r>
            <a:rPr lang="en-US"/>
            <a:t>, </a:t>
          </a:r>
          <a:r>
            <a:rPr lang="ko-KR"/>
            <a:t>크기가 큰 커널은 더 글로벌한 특징을</a:t>
          </a:r>
          <a:r>
            <a:rPr lang="en-US"/>
            <a:t>, </a:t>
          </a:r>
          <a:r>
            <a:rPr lang="ko-KR"/>
            <a:t>작은 커널은 로컬한 특징을 포착하는 데 초점을 맞춤</a:t>
          </a:r>
          <a:endParaRPr lang="en-US"/>
        </a:p>
      </dgm:t>
    </dgm:pt>
    <dgm:pt modelId="{6AF309B7-CE97-4FAA-95A1-070E44BFD24B}" type="parTrans" cxnId="{38F4E1E9-807F-4BAA-81B9-9A66805528B9}">
      <dgm:prSet/>
      <dgm:spPr/>
      <dgm:t>
        <a:bodyPr/>
        <a:lstStyle/>
        <a:p>
          <a:endParaRPr lang="en-US"/>
        </a:p>
      </dgm:t>
    </dgm:pt>
    <dgm:pt modelId="{C2091DD8-7707-425D-BBF3-5613974F10E6}" type="sibTrans" cxnId="{38F4E1E9-807F-4BAA-81B9-9A66805528B9}">
      <dgm:prSet/>
      <dgm:spPr/>
      <dgm:t>
        <a:bodyPr/>
        <a:lstStyle/>
        <a:p>
          <a:endParaRPr lang="en-US"/>
        </a:p>
      </dgm:t>
    </dgm:pt>
    <dgm:pt modelId="{449039D3-8D2A-4059-8F86-E127566D2800}">
      <dgm:prSet/>
      <dgm:spPr/>
      <dgm:t>
        <a:bodyPr/>
        <a:lstStyle/>
        <a:p>
          <a:r>
            <a:rPr lang="ko-KR"/>
            <a:t>깊이</a:t>
          </a:r>
          <a:r>
            <a:rPr lang="en-US"/>
            <a:t>: CNN</a:t>
          </a:r>
          <a:r>
            <a:rPr lang="ko-KR"/>
            <a:t>에서 커널의 깊이는 적용되는 입력 볼륨의 깊이와 일치하는데 예를 들어</a:t>
          </a:r>
          <a:r>
            <a:rPr lang="en-US"/>
            <a:t>, RGB </a:t>
          </a:r>
          <a:r>
            <a:rPr lang="ko-KR"/>
            <a:t>이미지는 </a:t>
          </a:r>
          <a:r>
            <a:rPr lang="en-US"/>
            <a:t>3</a:t>
          </a:r>
          <a:r>
            <a:rPr lang="ko-KR"/>
            <a:t>의 깊이를 가지므로</a:t>
          </a:r>
          <a:r>
            <a:rPr lang="en-US"/>
            <a:t>(</a:t>
          </a:r>
          <a:r>
            <a:rPr lang="ko-KR"/>
            <a:t>각 색상 채널마다 하나의 레이어</a:t>
          </a:r>
          <a:r>
            <a:rPr lang="en-US"/>
            <a:t>), </a:t>
          </a:r>
          <a:r>
            <a:rPr lang="ko-KR"/>
            <a:t>커널도 깊이가 </a:t>
          </a:r>
          <a:r>
            <a:rPr lang="en-US"/>
            <a:t>3</a:t>
          </a:r>
          <a:r>
            <a:rPr lang="ko-KR"/>
            <a:t>이 됨</a:t>
          </a:r>
          <a:endParaRPr lang="en-US"/>
        </a:p>
      </dgm:t>
    </dgm:pt>
    <dgm:pt modelId="{EDCA2704-BC19-4638-BB37-C59B1CABD464}" type="parTrans" cxnId="{F7074CA5-2C2E-4B8B-BAA8-9474B8AD3305}">
      <dgm:prSet/>
      <dgm:spPr/>
      <dgm:t>
        <a:bodyPr/>
        <a:lstStyle/>
        <a:p>
          <a:endParaRPr lang="en-US"/>
        </a:p>
      </dgm:t>
    </dgm:pt>
    <dgm:pt modelId="{3AFB570E-4694-4222-BD3F-EB011ECD6F48}" type="sibTrans" cxnId="{F7074CA5-2C2E-4B8B-BAA8-9474B8AD3305}">
      <dgm:prSet/>
      <dgm:spPr/>
      <dgm:t>
        <a:bodyPr/>
        <a:lstStyle/>
        <a:p>
          <a:endParaRPr lang="en-US"/>
        </a:p>
      </dgm:t>
    </dgm:pt>
    <dgm:pt modelId="{0CB09CCC-090F-4905-8C39-BD1BA7AF59F6}">
      <dgm:prSet/>
      <dgm:spPr/>
      <dgm:t>
        <a:bodyPr/>
        <a:lstStyle/>
        <a:p>
          <a:r>
            <a:rPr lang="ko-KR"/>
            <a:t>개수</a:t>
          </a:r>
          <a:r>
            <a:rPr lang="en-US"/>
            <a:t>: </a:t>
          </a:r>
          <a:r>
            <a:rPr lang="ko-KR"/>
            <a:t>컨볼루션 계층은 다양한 커널을 가질 수 있으며</a:t>
          </a:r>
          <a:r>
            <a:rPr lang="en-US"/>
            <a:t>, </a:t>
          </a:r>
          <a:r>
            <a:rPr lang="ko-KR"/>
            <a:t>각각 별도의 피처 맵을 생성하는데 이를 통해 네트워크는 각 계층에서 여러 특징을 감지할 수 있음</a:t>
          </a:r>
          <a:endParaRPr lang="en-US"/>
        </a:p>
      </dgm:t>
    </dgm:pt>
    <dgm:pt modelId="{2787E995-B82A-4660-AB6C-009A18FEE3C7}" type="parTrans" cxnId="{9E1D1FB0-3A39-4FCE-9652-0443250E092F}">
      <dgm:prSet/>
      <dgm:spPr/>
      <dgm:t>
        <a:bodyPr/>
        <a:lstStyle/>
        <a:p>
          <a:endParaRPr lang="en-US"/>
        </a:p>
      </dgm:t>
    </dgm:pt>
    <dgm:pt modelId="{99ADC96D-4279-46BC-81FB-B8E541266589}" type="sibTrans" cxnId="{9E1D1FB0-3A39-4FCE-9652-0443250E092F}">
      <dgm:prSet/>
      <dgm:spPr/>
      <dgm:t>
        <a:bodyPr/>
        <a:lstStyle/>
        <a:p>
          <a:endParaRPr lang="en-US"/>
        </a:p>
      </dgm:t>
    </dgm:pt>
    <dgm:pt modelId="{603A3C1F-DA5D-A04C-A2EB-DCE94F56C70A}" type="pres">
      <dgm:prSet presAssocID="{08069A23-D87D-4BB1-AC6C-EB2CB3A7F153}" presName="linear" presStyleCnt="0">
        <dgm:presLayoutVars>
          <dgm:animLvl val="lvl"/>
          <dgm:resizeHandles val="exact"/>
        </dgm:presLayoutVars>
      </dgm:prSet>
      <dgm:spPr/>
    </dgm:pt>
    <dgm:pt modelId="{12733CF9-FA30-264E-A887-DFE07DAD1516}" type="pres">
      <dgm:prSet presAssocID="{038C3E32-D8D3-45B7-A780-89B92FDCFCC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B53019-370B-A84C-A602-1B7DA81A04A4}" type="pres">
      <dgm:prSet presAssocID="{C2091DD8-7707-425D-BBF3-5613974F10E6}" presName="spacer" presStyleCnt="0"/>
      <dgm:spPr/>
    </dgm:pt>
    <dgm:pt modelId="{3C00C5F5-AFB1-5844-AC18-36064CF81E74}" type="pres">
      <dgm:prSet presAssocID="{449039D3-8D2A-4059-8F86-E127566D280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021E3B3-52BF-DC4A-A158-BF03B7D17436}" type="pres">
      <dgm:prSet presAssocID="{3AFB570E-4694-4222-BD3F-EB011ECD6F48}" presName="spacer" presStyleCnt="0"/>
      <dgm:spPr/>
    </dgm:pt>
    <dgm:pt modelId="{CE6BEDBD-06A8-CF4F-8659-D20E4E150F31}" type="pres">
      <dgm:prSet presAssocID="{0CB09CCC-090F-4905-8C39-BD1BA7AF59F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275B90E-61A3-5741-BB6A-50D923EF9A3A}" type="presOf" srcId="{08069A23-D87D-4BB1-AC6C-EB2CB3A7F153}" destId="{603A3C1F-DA5D-A04C-A2EB-DCE94F56C70A}" srcOrd="0" destOrd="0" presId="urn:microsoft.com/office/officeart/2005/8/layout/vList2"/>
    <dgm:cxn modelId="{D43BA24E-FB7B-FB45-AE00-512769D5F512}" type="presOf" srcId="{038C3E32-D8D3-45B7-A780-89B92FDCFCC4}" destId="{12733CF9-FA30-264E-A887-DFE07DAD1516}" srcOrd="0" destOrd="0" presId="urn:microsoft.com/office/officeart/2005/8/layout/vList2"/>
    <dgm:cxn modelId="{537FE57F-B68A-EB44-A79E-EE95F3DBDCF9}" type="presOf" srcId="{0CB09CCC-090F-4905-8C39-BD1BA7AF59F6}" destId="{CE6BEDBD-06A8-CF4F-8659-D20E4E150F31}" srcOrd="0" destOrd="0" presId="urn:microsoft.com/office/officeart/2005/8/layout/vList2"/>
    <dgm:cxn modelId="{F7074CA5-2C2E-4B8B-BAA8-9474B8AD3305}" srcId="{08069A23-D87D-4BB1-AC6C-EB2CB3A7F153}" destId="{449039D3-8D2A-4059-8F86-E127566D2800}" srcOrd="1" destOrd="0" parTransId="{EDCA2704-BC19-4638-BB37-C59B1CABD464}" sibTransId="{3AFB570E-4694-4222-BD3F-EB011ECD6F48}"/>
    <dgm:cxn modelId="{9E1D1FB0-3A39-4FCE-9652-0443250E092F}" srcId="{08069A23-D87D-4BB1-AC6C-EB2CB3A7F153}" destId="{0CB09CCC-090F-4905-8C39-BD1BA7AF59F6}" srcOrd="2" destOrd="0" parTransId="{2787E995-B82A-4660-AB6C-009A18FEE3C7}" sibTransId="{99ADC96D-4279-46BC-81FB-B8E541266589}"/>
    <dgm:cxn modelId="{2711CBE8-B475-384C-8505-9E59EA9E313E}" type="presOf" srcId="{449039D3-8D2A-4059-8F86-E127566D2800}" destId="{3C00C5F5-AFB1-5844-AC18-36064CF81E74}" srcOrd="0" destOrd="0" presId="urn:microsoft.com/office/officeart/2005/8/layout/vList2"/>
    <dgm:cxn modelId="{38F4E1E9-807F-4BAA-81B9-9A66805528B9}" srcId="{08069A23-D87D-4BB1-AC6C-EB2CB3A7F153}" destId="{038C3E32-D8D3-45B7-A780-89B92FDCFCC4}" srcOrd="0" destOrd="0" parTransId="{6AF309B7-CE97-4FAA-95A1-070E44BFD24B}" sibTransId="{C2091DD8-7707-425D-BBF3-5613974F10E6}"/>
    <dgm:cxn modelId="{739C1A3E-690B-DD4B-9260-F813C20BF022}" type="presParOf" srcId="{603A3C1F-DA5D-A04C-A2EB-DCE94F56C70A}" destId="{12733CF9-FA30-264E-A887-DFE07DAD1516}" srcOrd="0" destOrd="0" presId="urn:microsoft.com/office/officeart/2005/8/layout/vList2"/>
    <dgm:cxn modelId="{68698A34-F31E-314D-98B6-9B1422C635FD}" type="presParOf" srcId="{603A3C1F-DA5D-A04C-A2EB-DCE94F56C70A}" destId="{ACB53019-370B-A84C-A602-1B7DA81A04A4}" srcOrd="1" destOrd="0" presId="urn:microsoft.com/office/officeart/2005/8/layout/vList2"/>
    <dgm:cxn modelId="{EAED0526-8283-F44C-A6D4-C3EDF9CBC700}" type="presParOf" srcId="{603A3C1F-DA5D-A04C-A2EB-DCE94F56C70A}" destId="{3C00C5F5-AFB1-5844-AC18-36064CF81E74}" srcOrd="2" destOrd="0" presId="urn:microsoft.com/office/officeart/2005/8/layout/vList2"/>
    <dgm:cxn modelId="{E2378BD7-E889-E14B-8C28-B5C822C5BC93}" type="presParOf" srcId="{603A3C1F-DA5D-A04C-A2EB-DCE94F56C70A}" destId="{4021E3B3-52BF-DC4A-A158-BF03B7D17436}" srcOrd="3" destOrd="0" presId="urn:microsoft.com/office/officeart/2005/8/layout/vList2"/>
    <dgm:cxn modelId="{1EF23A6B-334E-0449-9C9E-E9C623F15507}" type="presParOf" srcId="{603A3C1F-DA5D-A04C-A2EB-DCE94F56C70A}" destId="{CE6BEDBD-06A8-CF4F-8659-D20E4E150F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BD94D2-3FE8-1C4C-8F4C-00638A3819A1}">
      <dsp:nvSpPr>
        <dsp:cNvPr id="0" name=""/>
        <dsp:cNvSpPr/>
      </dsp:nvSpPr>
      <dsp:spPr>
        <a:xfrm>
          <a:off x="0" y="0"/>
          <a:ext cx="9206044" cy="16194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/>
            <a:t>컨볼루션 연산</a:t>
          </a:r>
          <a:r>
            <a:rPr lang="en-US" sz="1400" kern="1200"/>
            <a:t>: </a:t>
          </a:r>
          <a:r>
            <a:rPr lang="ko-KR" sz="1400" kern="1200"/>
            <a:t>커널은 입력 이미지</a:t>
          </a:r>
          <a:r>
            <a:rPr lang="en-US" sz="1400" kern="1200"/>
            <a:t>(</a:t>
          </a:r>
          <a:r>
            <a:rPr lang="ko-KR" sz="1400" kern="1200"/>
            <a:t>또는 이전 계층의 출력</a:t>
          </a:r>
          <a:r>
            <a:rPr lang="en-US" sz="1400" kern="1200"/>
            <a:t>)</a:t>
          </a:r>
          <a:r>
            <a:rPr lang="ko-KR" sz="1400" kern="1200"/>
            <a:t>를 한 픽셀씩 이동하면서</a:t>
          </a:r>
          <a:r>
            <a:rPr lang="en-US" sz="1400" kern="1200"/>
            <a:t>, </a:t>
          </a:r>
          <a:r>
            <a:rPr lang="ko-KR" sz="1400" kern="1200"/>
            <a:t>각 위치에서 원본 픽셀 값과 자신의 값을 요소별 곱셈</a:t>
          </a:r>
          <a:r>
            <a:rPr lang="en-US" sz="1400" kern="1200"/>
            <a:t>(element-wise multiplication)</a:t>
          </a:r>
          <a:r>
            <a:rPr lang="ko-KR" sz="1400" kern="1200"/>
            <a:t>을 수행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100" kern="1200"/>
            <a:t>이 곱셈의 합은 출력 피처 맵의 단일 픽셀을 생성하기 위해 취해지는데 이 과정은 이미지 전체에 걸쳐 반복됨</a:t>
          </a:r>
          <a:endParaRPr lang="en-US" sz="1100" kern="1200"/>
        </a:p>
      </dsp:txBody>
      <dsp:txXfrm>
        <a:off x="47433" y="47433"/>
        <a:ext cx="7532177" cy="1524622"/>
      </dsp:txXfrm>
    </dsp:sp>
    <dsp:sp modelId="{854D0641-5496-084B-AED4-02A3630344DB}">
      <dsp:nvSpPr>
        <dsp:cNvPr id="0" name=""/>
        <dsp:cNvSpPr/>
      </dsp:nvSpPr>
      <dsp:spPr>
        <a:xfrm>
          <a:off x="1624596" y="1979374"/>
          <a:ext cx="9206044" cy="161948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400" kern="1200"/>
            <a:t>특징 추출</a:t>
          </a:r>
          <a:r>
            <a:rPr lang="en-US" sz="1400" kern="1200"/>
            <a:t>: </a:t>
          </a:r>
          <a:r>
            <a:rPr lang="ko-KR" sz="1400" kern="1200"/>
            <a:t>다양한 패턴을 가진 커널은 이미지 내에서 다른 특징을 감지할 수 있는데 예를 들어</a:t>
          </a:r>
          <a:r>
            <a:rPr lang="en-US" sz="1400" kern="1200"/>
            <a:t>, </a:t>
          </a:r>
          <a:r>
            <a:rPr lang="ko-KR" sz="1400" kern="1200"/>
            <a:t>한 커널은 수직 가장자리를 감지하는 데 사용될 수 있으며</a:t>
          </a:r>
          <a:r>
            <a:rPr lang="en-US" sz="1400" kern="1200"/>
            <a:t>, </a:t>
          </a:r>
          <a:r>
            <a:rPr lang="ko-KR" sz="1400" kern="1200"/>
            <a:t>다른 커널은 수평 가장자리를 감지할 수 있음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CNN</a:t>
          </a:r>
          <a:r>
            <a:rPr lang="ko-KR" sz="1100" kern="1200"/>
            <a:t>은 특정 작업</a:t>
          </a:r>
          <a:r>
            <a:rPr lang="en-US" sz="1100" kern="1200"/>
            <a:t>(</a:t>
          </a:r>
          <a:r>
            <a:rPr lang="ko-KR" sz="1100" kern="1200"/>
            <a:t>예</a:t>
          </a:r>
          <a:r>
            <a:rPr lang="en-US" sz="1100" kern="1200"/>
            <a:t>: </a:t>
          </a:r>
          <a:r>
            <a:rPr lang="ko-KR" sz="1100" kern="1200"/>
            <a:t>얼굴</a:t>
          </a:r>
          <a:r>
            <a:rPr lang="en-US" sz="1100" kern="1200"/>
            <a:t>, </a:t>
          </a:r>
          <a:r>
            <a:rPr lang="ko-KR" sz="1100" kern="1200"/>
            <a:t>동물 또는 이미지 내 객체 인식</a:t>
          </a:r>
          <a:r>
            <a:rPr lang="en-US" sz="1100" kern="1200"/>
            <a:t>)</a:t>
          </a:r>
          <a:r>
            <a:rPr lang="ko-KR" sz="1100" kern="1200"/>
            <a:t>에 가장 효과적인 커널</a:t>
          </a:r>
          <a:r>
            <a:rPr lang="en-US" sz="1100" kern="1200"/>
            <a:t>(</a:t>
          </a:r>
          <a:r>
            <a:rPr lang="ko-KR" sz="1100" kern="1200"/>
            <a:t>필터 값</a:t>
          </a:r>
          <a:r>
            <a:rPr lang="en-US" sz="1100" kern="1200"/>
            <a:t>)</a:t>
          </a:r>
          <a:r>
            <a:rPr lang="ko-KR" sz="1100" kern="1200"/>
            <a:t>을 학습</a:t>
          </a:r>
          <a:endParaRPr lang="en-US" sz="1100" kern="1200"/>
        </a:p>
      </dsp:txBody>
      <dsp:txXfrm>
        <a:off x="1672029" y="2026807"/>
        <a:ext cx="6433915" cy="1524622"/>
      </dsp:txXfrm>
    </dsp:sp>
    <dsp:sp modelId="{C050D92D-BB2A-744D-9597-F1D0968DEC17}">
      <dsp:nvSpPr>
        <dsp:cNvPr id="0" name=""/>
        <dsp:cNvSpPr/>
      </dsp:nvSpPr>
      <dsp:spPr>
        <a:xfrm>
          <a:off x="8153377" y="1273097"/>
          <a:ext cx="1052667" cy="10526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390227" y="1273097"/>
        <a:ext cx="578967" cy="7921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33CF9-FA30-264E-A887-DFE07DAD1516}">
      <dsp:nvSpPr>
        <dsp:cNvPr id="0" name=""/>
        <dsp:cNvSpPr/>
      </dsp:nvSpPr>
      <dsp:spPr>
        <a:xfrm>
          <a:off x="0" y="384437"/>
          <a:ext cx="6261100" cy="1572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/>
            <a:t>크기</a:t>
          </a:r>
          <a:r>
            <a:rPr lang="en-US" sz="1600" kern="1200"/>
            <a:t>: </a:t>
          </a:r>
          <a:r>
            <a:rPr lang="ko-KR" sz="1600" kern="1200"/>
            <a:t>커널은 일반적으로 작지만 </a:t>
          </a:r>
          <a:r>
            <a:rPr lang="en-US" sz="1600" kern="1200"/>
            <a:t>3x3, 5x5</a:t>
          </a:r>
          <a:r>
            <a:rPr lang="ko-KR" sz="1600" kern="1200"/>
            <a:t>와 같이 다양한 크기가 있는데 커널의 크기는 각 출력 픽셀에 대해 한 번에 고려되는 입력 영역의 크기를 결정하며</a:t>
          </a:r>
          <a:r>
            <a:rPr lang="en-US" sz="1600" kern="1200"/>
            <a:t>, </a:t>
          </a:r>
          <a:r>
            <a:rPr lang="ko-KR" sz="1600" kern="1200"/>
            <a:t>크기가 큰 커널은 더 글로벌한 특징을</a:t>
          </a:r>
          <a:r>
            <a:rPr lang="en-US" sz="1600" kern="1200"/>
            <a:t>, </a:t>
          </a:r>
          <a:r>
            <a:rPr lang="ko-KR" sz="1600" kern="1200"/>
            <a:t>작은 커널은 로컬한 특징을 포착하는 데 초점을 맞춤</a:t>
          </a:r>
          <a:endParaRPr lang="en-US" sz="1600" kern="1200"/>
        </a:p>
      </dsp:txBody>
      <dsp:txXfrm>
        <a:off x="76762" y="461199"/>
        <a:ext cx="6107576" cy="1418956"/>
      </dsp:txXfrm>
    </dsp:sp>
    <dsp:sp modelId="{3C00C5F5-AFB1-5844-AC18-36064CF81E74}">
      <dsp:nvSpPr>
        <dsp:cNvPr id="0" name=""/>
        <dsp:cNvSpPr/>
      </dsp:nvSpPr>
      <dsp:spPr>
        <a:xfrm>
          <a:off x="0" y="2002997"/>
          <a:ext cx="6261100" cy="1572480"/>
        </a:xfrm>
        <a:prstGeom prst="roundRect">
          <a:avLst/>
        </a:prstGeom>
        <a:gradFill rotWithShape="0">
          <a:gsLst>
            <a:gs pos="0">
              <a:schemeClr val="accent2">
                <a:hueOff val="2771159"/>
                <a:satOff val="-477"/>
                <a:lumOff val="-4902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2771159"/>
                <a:satOff val="-477"/>
                <a:lumOff val="-4902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2771159"/>
                <a:satOff val="-477"/>
                <a:lumOff val="-4902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/>
            <a:t>깊이</a:t>
          </a:r>
          <a:r>
            <a:rPr lang="en-US" sz="1600" kern="1200"/>
            <a:t>: CNN</a:t>
          </a:r>
          <a:r>
            <a:rPr lang="ko-KR" sz="1600" kern="1200"/>
            <a:t>에서 커널의 깊이는 적용되는 입력 볼륨의 깊이와 일치하는데 예를 들어</a:t>
          </a:r>
          <a:r>
            <a:rPr lang="en-US" sz="1600" kern="1200"/>
            <a:t>, RGB </a:t>
          </a:r>
          <a:r>
            <a:rPr lang="ko-KR" sz="1600" kern="1200"/>
            <a:t>이미지는 </a:t>
          </a:r>
          <a:r>
            <a:rPr lang="en-US" sz="1600" kern="1200"/>
            <a:t>3</a:t>
          </a:r>
          <a:r>
            <a:rPr lang="ko-KR" sz="1600" kern="1200"/>
            <a:t>의 깊이를 가지므로</a:t>
          </a:r>
          <a:r>
            <a:rPr lang="en-US" sz="1600" kern="1200"/>
            <a:t>(</a:t>
          </a:r>
          <a:r>
            <a:rPr lang="ko-KR" sz="1600" kern="1200"/>
            <a:t>각 색상 채널마다 하나의 레이어</a:t>
          </a:r>
          <a:r>
            <a:rPr lang="en-US" sz="1600" kern="1200"/>
            <a:t>), </a:t>
          </a:r>
          <a:r>
            <a:rPr lang="ko-KR" sz="1600" kern="1200"/>
            <a:t>커널도 깊이가 </a:t>
          </a:r>
          <a:r>
            <a:rPr lang="en-US" sz="1600" kern="1200"/>
            <a:t>3</a:t>
          </a:r>
          <a:r>
            <a:rPr lang="ko-KR" sz="1600" kern="1200"/>
            <a:t>이 됨</a:t>
          </a:r>
          <a:endParaRPr lang="en-US" sz="1600" kern="1200"/>
        </a:p>
      </dsp:txBody>
      <dsp:txXfrm>
        <a:off x="76762" y="2079759"/>
        <a:ext cx="6107576" cy="1418956"/>
      </dsp:txXfrm>
    </dsp:sp>
    <dsp:sp modelId="{CE6BEDBD-06A8-CF4F-8659-D20E4E150F31}">
      <dsp:nvSpPr>
        <dsp:cNvPr id="0" name=""/>
        <dsp:cNvSpPr/>
      </dsp:nvSpPr>
      <dsp:spPr>
        <a:xfrm>
          <a:off x="0" y="3621557"/>
          <a:ext cx="6261100" cy="1572480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600" kern="1200"/>
            <a:t>개수</a:t>
          </a:r>
          <a:r>
            <a:rPr lang="en-US" sz="1600" kern="1200"/>
            <a:t>: </a:t>
          </a:r>
          <a:r>
            <a:rPr lang="ko-KR" sz="1600" kern="1200"/>
            <a:t>컨볼루션 계층은 다양한 커널을 가질 수 있으며</a:t>
          </a:r>
          <a:r>
            <a:rPr lang="en-US" sz="1600" kern="1200"/>
            <a:t>, </a:t>
          </a:r>
          <a:r>
            <a:rPr lang="ko-KR" sz="1600" kern="1200"/>
            <a:t>각각 별도의 피처 맵을 생성하는데 이를 통해 네트워크는 각 계층에서 여러 특징을 감지할 수 있음</a:t>
          </a:r>
          <a:endParaRPr lang="en-US" sz="1600" kern="1200"/>
        </a:p>
      </dsp:txBody>
      <dsp:txXfrm>
        <a:off x="76762" y="3698319"/>
        <a:ext cx="6107576" cy="1418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2024. 4. 11.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465AF-F441-2346-A316-A9FE97FE20D6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14343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401D8-5128-A44A-8319-D6A9E9B7B21D}" type="datetime1">
              <a:rPr lang="ko-KR" altLang="en-US" smtClean="0"/>
              <a:t>2024. 4. 11.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Convolutional Neural Networks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E8C48-CE60-C576-D03B-4B6075CB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KR" sz="440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2ED19-CC42-0EB7-C009-CA46FA91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We have seen before that neural networks are quite good at dealing with images, and even one-layer perceptron is able to recognize handwritten digits from MNIST dataset with reasonable accuracy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However, the MNIST dataset is very special, and all digits are centered inside the image, which makes the task simpler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5AFD5-9F14-36FC-71AD-FAA4D07C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453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E7465-EC89-BB92-20CE-9E50ED59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KR">
                <a:solidFill>
                  <a:srgbClr val="FFFFFF"/>
                </a:solidFill>
              </a:rPr>
              <a:t>How humans solve the problem ...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6CA56-566E-BD4A-B725-98A4C09A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7AA4-FD5E-15DE-FD5F-5D51749E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In real life, we want to be able to recognize objects on a picture regardless of their exact location in the image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Computer vision is different from generic classification, because when we are trying to find a certain object in the picture, we are scanning the image looking for some specific patterns and their combinations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For example, when looking for a cat, we first may look for horizontal lines, which can form whiskers, and then certain a combination of whiskers can tell us that it is actually a picture of a cat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Relative position and presence of certain patterns is important, and not their exact position on the image.</a:t>
            </a:r>
          </a:p>
          <a:p>
            <a:endParaRPr lang="en-US" sz="2000" dirty="0">
              <a:solidFill>
                <a:srgbClr val="FFFFFF"/>
              </a:solidFill>
            </a:endParaRPr>
          </a:p>
          <a:p>
            <a:endParaRPr lang="en-KR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43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D71EC-99AF-3DB6-CE30-475D1C8F2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KR" sz="4400">
                <a:solidFill>
                  <a:srgbClr val="FFFFFF"/>
                </a:solidFill>
              </a:rPr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2A1AB-444E-C078-4317-720643F44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ko-KR" altLang="en-US" sz="2000" dirty="0" err="1">
                <a:solidFill>
                  <a:srgbClr val="FFFFFF"/>
                </a:solidFill>
              </a:rPr>
              <a:t>컨볼루션</a:t>
            </a:r>
            <a:r>
              <a:rPr lang="ko-KR" altLang="en-US" sz="2000" dirty="0">
                <a:solidFill>
                  <a:srgbClr val="FFFFFF"/>
                </a:solidFill>
              </a:rPr>
              <a:t> 신경망</a:t>
            </a:r>
            <a:r>
              <a:rPr lang="en-US" altLang="ko-KR" sz="2000" dirty="0">
                <a:solidFill>
                  <a:srgbClr val="FFFFFF"/>
                </a:solidFill>
              </a:rPr>
              <a:t>(</a:t>
            </a:r>
            <a:r>
              <a:rPr lang="en-US" sz="2000" dirty="0">
                <a:solidFill>
                  <a:srgbClr val="FFFFFF"/>
                </a:solidFill>
              </a:rPr>
              <a:t>Convolutional Neural Network, CNN)</a:t>
            </a:r>
            <a:r>
              <a:rPr lang="ko-KR" altLang="en-US" sz="2000" dirty="0">
                <a:solidFill>
                  <a:srgbClr val="FFFFFF"/>
                </a:solidFill>
              </a:rPr>
              <a:t>은 주로 시각 이미지 분석에 적용되는 딥 </a:t>
            </a:r>
            <a:r>
              <a:rPr lang="ko-KR" altLang="en-US" sz="2000" dirty="0" err="1">
                <a:solidFill>
                  <a:srgbClr val="FFFFFF"/>
                </a:solidFill>
              </a:rPr>
              <a:t>뉴럴</a:t>
            </a:r>
            <a:r>
              <a:rPr lang="ko-KR" altLang="en-US" sz="2000" dirty="0">
                <a:solidFill>
                  <a:srgbClr val="FFFFFF"/>
                </a:solidFill>
              </a:rPr>
              <a:t> 네트워크의 한 분류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CNN</a:t>
            </a:r>
            <a:r>
              <a:rPr lang="ko-KR" altLang="en-US" dirty="0">
                <a:solidFill>
                  <a:srgbClr val="FFFFFF"/>
                </a:solidFill>
              </a:rPr>
              <a:t>은 컴퓨터 비전 분야에 혁명을 일으켜 이미지 및 비디오 인식</a:t>
            </a:r>
            <a:r>
              <a:rPr lang="en-US" altLang="ko-KR" dirty="0">
                <a:solidFill>
                  <a:srgbClr val="FFFFFF"/>
                </a:solidFill>
              </a:rPr>
              <a:t>, </a:t>
            </a:r>
            <a:r>
              <a:rPr lang="ko-KR" altLang="en-US" dirty="0">
                <a:solidFill>
                  <a:srgbClr val="FFFFFF"/>
                </a:solidFill>
              </a:rPr>
              <a:t>이미지 분류</a:t>
            </a:r>
            <a:r>
              <a:rPr lang="en-US" altLang="ko-KR" dirty="0">
                <a:solidFill>
                  <a:srgbClr val="FFFFFF"/>
                </a:solidFill>
              </a:rPr>
              <a:t>, </a:t>
            </a:r>
            <a:r>
              <a:rPr lang="ko-KR" altLang="en-US" dirty="0">
                <a:solidFill>
                  <a:srgbClr val="FFFFFF"/>
                </a:solidFill>
              </a:rPr>
              <a:t>의료 이미지 분석 등에서 자동으로 경험을 통해 학습하고 개선할 수 있는 능력을 제공</a:t>
            </a:r>
            <a:endParaRPr lang="en-US" altLang="ko-KR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CNN</a:t>
            </a:r>
            <a:r>
              <a:rPr lang="ko-KR" altLang="en-US" dirty="0">
                <a:solidFill>
                  <a:srgbClr val="FFFFFF"/>
                </a:solidFill>
              </a:rPr>
              <a:t>이 다른 </a:t>
            </a:r>
            <a:r>
              <a:rPr lang="ko-KR" altLang="en-US" dirty="0" err="1">
                <a:solidFill>
                  <a:srgbClr val="FFFFFF"/>
                </a:solidFill>
              </a:rPr>
              <a:t>뉴럴</a:t>
            </a:r>
            <a:r>
              <a:rPr lang="ko-KR" altLang="en-US" dirty="0">
                <a:solidFill>
                  <a:srgbClr val="FFFFFF"/>
                </a:solidFill>
              </a:rPr>
              <a:t> 네트워크 구조와 구별되는 주요 특징은 깊은 구조와 데이터의 공간적 계층을 </a:t>
            </a:r>
            <a:r>
              <a:rPr lang="ko-KR" altLang="en-US" dirty="0" err="1">
                <a:solidFill>
                  <a:srgbClr val="FFFFFF"/>
                </a:solidFill>
              </a:rPr>
              <a:t>캡쳐할</a:t>
            </a:r>
            <a:r>
              <a:rPr lang="ko-KR" altLang="en-US" dirty="0">
                <a:solidFill>
                  <a:srgbClr val="FFFFFF"/>
                </a:solidFill>
              </a:rPr>
              <a:t> 수 있는 능력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B16FC-91DA-71AB-E16A-C63AA3F1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43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089B4-8460-D780-8ADB-0BD3BB53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CNN</a:t>
            </a:r>
            <a:r>
              <a:rPr lang="ko-KR" altLang="en-US" sz="4400">
                <a:solidFill>
                  <a:srgbClr val="FFFFFF"/>
                </a:solidFill>
              </a:rPr>
              <a:t>의 주요 구성 요소</a:t>
            </a:r>
            <a:endParaRPr lang="en-KR" sz="4400">
              <a:solidFill>
                <a:srgbClr val="FFFFFF"/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942E6CF-1CBC-5785-CE74-449E833E4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en-US" altLang="ko-KR" sz="1600" dirty="0">
                <a:solidFill>
                  <a:srgbClr val="FFFFFF"/>
                </a:solidFill>
              </a:rPr>
              <a:t>1</a:t>
            </a:r>
            <a:r>
              <a:rPr lang="ko-KR" altLang="en-US" sz="1600" dirty="0">
                <a:solidFill>
                  <a:srgbClr val="FFFFFF"/>
                </a:solidFill>
              </a:rPr>
              <a:t>단계</a:t>
            </a:r>
            <a:r>
              <a:rPr lang="en-US" altLang="ko-KR" sz="1600" dirty="0">
                <a:solidFill>
                  <a:srgbClr val="FFFFFF"/>
                </a:solidFill>
              </a:rPr>
              <a:t>: </a:t>
            </a:r>
            <a:r>
              <a:rPr lang="ko-KR" altLang="en-US" sz="1600" dirty="0">
                <a:solidFill>
                  <a:srgbClr val="FFFFFF"/>
                </a:solidFill>
              </a:rPr>
              <a:t>이미지 입력</a:t>
            </a:r>
            <a:r>
              <a:rPr lang="en-US" altLang="ko-KR" sz="1600" dirty="0">
                <a:solidFill>
                  <a:srgbClr val="FFFFFF"/>
                </a:solidFill>
              </a:rPr>
              <a:t>:</a:t>
            </a:r>
            <a:r>
              <a:rPr lang="ko-KR" altLang="en-US" sz="1600" dirty="0">
                <a:solidFill>
                  <a:srgbClr val="FFFFFF"/>
                </a:solidFill>
              </a:rPr>
              <a:t> </a:t>
            </a:r>
            <a:r>
              <a:rPr lang="en-US" sz="1600" dirty="0">
                <a:solidFill>
                  <a:srgbClr val="FFFFFF"/>
                </a:solidFill>
              </a:rPr>
              <a:t>CNN</a:t>
            </a:r>
            <a:r>
              <a:rPr lang="ko-KR" altLang="en-US" sz="1600" dirty="0">
                <a:solidFill>
                  <a:srgbClr val="FFFFFF"/>
                </a:solidFill>
              </a:rPr>
              <a:t>은 이미지를 입력으로 받는데 예를 들어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고양이와 강아지를 구분하는 모델의 경우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고양이의 이미지가 입력으로 사용될 수 있음</a:t>
            </a:r>
            <a:endParaRPr lang="en-US" altLang="ko-KR" sz="1600" dirty="0">
              <a:solidFill>
                <a:srgbClr val="FFFFFF"/>
              </a:solidFill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2</a:t>
            </a:r>
            <a:r>
              <a:rPr lang="ko-KR" altLang="en-US" sz="1600" dirty="0">
                <a:solidFill>
                  <a:srgbClr val="FFFFFF"/>
                </a:solidFill>
              </a:rPr>
              <a:t>단계</a:t>
            </a:r>
            <a:r>
              <a:rPr lang="en-US" altLang="ko-KR" sz="1600" dirty="0">
                <a:solidFill>
                  <a:srgbClr val="FFFFFF"/>
                </a:solidFill>
              </a:rPr>
              <a:t>: </a:t>
            </a:r>
            <a:r>
              <a:rPr lang="ko-KR" altLang="en-US" sz="1600" dirty="0" err="1">
                <a:solidFill>
                  <a:srgbClr val="FFFFFF"/>
                </a:solidFill>
              </a:rPr>
              <a:t>컨볼루션</a:t>
            </a:r>
            <a:r>
              <a:rPr lang="ko-KR" altLang="en-US" sz="1600" dirty="0">
                <a:solidFill>
                  <a:srgbClr val="FFFFFF"/>
                </a:solidFill>
              </a:rPr>
              <a:t> 계층 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>
                <a:solidFill>
                  <a:srgbClr val="FFFFFF"/>
                </a:solidFill>
              </a:rPr>
              <a:t>Convolutional Layer)</a:t>
            </a:r>
            <a:r>
              <a:rPr lang="en-US" altLang="ko-KR" sz="1600" dirty="0">
                <a:solidFill>
                  <a:srgbClr val="FFFFFF"/>
                </a:solidFill>
              </a:rPr>
              <a:t>:</a:t>
            </a:r>
            <a:r>
              <a:rPr lang="ko-KR" altLang="en-US" sz="1600" dirty="0">
                <a:solidFill>
                  <a:srgbClr val="FFFFFF"/>
                </a:solidFill>
              </a:rPr>
              <a:t> 이 계층은 이미지에서 특징을 추출하는 역할을 하는데 작은 필터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ko-KR" altLang="en-US" sz="1600" dirty="0">
                <a:solidFill>
                  <a:srgbClr val="FFFFFF"/>
                </a:solidFill>
              </a:rPr>
              <a:t>또는 커널</a:t>
            </a:r>
            <a:r>
              <a:rPr lang="en-US" altLang="ko-KR" sz="1600" dirty="0">
                <a:solidFill>
                  <a:srgbClr val="FFFFFF"/>
                </a:solidFill>
              </a:rPr>
              <a:t>)</a:t>
            </a:r>
            <a:r>
              <a:rPr lang="ko-KR" altLang="en-US" sz="1600" dirty="0">
                <a:solidFill>
                  <a:srgbClr val="FFFFFF"/>
                </a:solidFill>
              </a:rPr>
              <a:t>가 이미지 전체에 걸쳐 이동하며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각 위치에서 필터와 이미지 간의 </a:t>
            </a:r>
            <a:r>
              <a:rPr lang="ko-KR" altLang="en-US" sz="1600" dirty="0" err="1">
                <a:solidFill>
                  <a:srgbClr val="FFFFFF"/>
                </a:solidFill>
              </a:rPr>
              <a:t>점곱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>
                <a:solidFill>
                  <a:srgbClr val="FFFFFF"/>
                </a:solidFill>
              </a:rPr>
              <a:t>dot product)</a:t>
            </a:r>
            <a:r>
              <a:rPr lang="ko-KR" altLang="en-US" sz="1600" dirty="0">
                <a:solidFill>
                  <a:srgbClr val="FFFFFF"/>
                </a:solidFill>
              </a:rPr>
              <a:t>을 계산</a:t>
            </a:r>
            <a:r>
              <a:rPr lang="en-US" altLang="ko-KR" sz="1600" dirty="0">
                <a:solidFill>
                  <a:srgbClr val="FFFFFF"/>
                </a:solidFill>
              </a:rPr>
              <a:t>.</a:t>
            </a:r>
            <a:r>
              <a:rPr lang="ko-KR" altLang="en-US" sz="1600" dirty="0">
                <a:solidFill>
                  <a:srgbClr val="FFFFFF"/>
                </a:solidFill>
              </a:rPr>
              <a:t> 예를 들어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필터는 이미지에서 가장자리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질감 또는 특정 패턴 같은 특징을 감지할 수 있음</a:t>
            </a:r>
            <a:endParaRPr lang="en-US" altLang="ko-KR" sz="1600" dirty="0">
              <a:solidFill>
                <a:srgbClr val="FFFFFF"/>
              </a:solidFill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3</a:t>
            </a:r>
            <a:r>
              <a:rPr lang="ko-KR" altLang="en-US" sz="1600" dirty="0">
                <a:solidFill>
                  <a:srgbClr val="FFFFFF"/>
                </a:solidFill>
              </a:rPr>
              <a:t>단계</a:t>
            </a:r>
            <a:r>
              <a:rPr lang="en-US" altLang="ko-KR" sz="1600" dirty="0">
                <a:solidFill>
                  <a:srgbClr val="FFFFFF"/>
                </a:solidFill>
              </a:rPr>
              <a:t>: </a:t>
            </a:r>
            <a:r>
              <a:rPr lang="ko-KR" altLang="en-US" sz="1600" dirty="0">
                <a:solidFill>
                  <a:srgbClr val="FFFFFF"/>
                </a:solidFill>
              </a:rPr>
              <a:t>활성화 함수 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 err="1">
                <a:solidFill>
                  <a:srgbClr val="FFFFFF"/>
                </a:solidFill>
              </a:rPr>
              <a:t>ReLU</a:t>
            </a:r>
            <a:r>
              <a:rPr lang="en-US" sz="1600" dirty="0">
                <a:solidFill>
                  <a:srgbClr val="FFFFFF"/>
                </a:solidFill>
              </a:rPr>
              <a:t>)</a:t>
            </a:r>
            <a:r>
              <a:rPr lang="en-US" altLang="ko-KR" sz="1600" dirty="0">
                <a:solidFill>
                  <a:srgbClr val="FFFFFF"/>
                </a:solidFill>
              </a:rPr>
              <a:t>:</a:t>
            </a:r>
            <a:r>
              <a:rPr lang="ko-KR" altLang="en-US" sz="1600" dirty="0">
                <a:solidFill>
                  <a:srgbClr val="FFFFFF"/>
                </a:solidFill>
              </a:rPr>
              <a:t> </a:t>
            </a:r>
            <a:r>
              <a:rPr lang="ko-KR" altLang="en-US" sz="1600" dirty="0" err="1">
                <a:solidFill>
                  <a:srgbClr val="FFFFFF"/>
                </a:solidFill>
              </a:rPr>
              <a:t>컨볼루션</a:t>
            </a:r>
            <a:r>
              <a:rPr lang="ko-KR" altLang="en-US" sz="1600" dirty="0">
                <a:solidFill>
                  <a:srgbClr val="FFFFFF"/>
                </a:solidFill>
              </a:rPr>
              <a:t> 계층 다음에는 비선형성을 도입하기 위한 활성화 함수가 적용되는데</a:t>
            </a:r>
            <a:r>
              <a:rPr lang="en-US" altLang="ko-KR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ReLU</a:t>
            </a:r>
            <a:r>
              <a:rPr lang="en-US" sz="1600" dirty="0">
                <a:solidFill>
                  <a:srgbClr val="FFFFFF"/>
                </a:solidFill>
              </a:rPr>
              <a:t>(Rectified Linear Unit)</a:t>
            </a:r>
            <a:r>
              <a:rPr lang="ko-KR" altLang="en-US" sz="1600" dirty="0">
                <a:solidFill>
                  <a:srgbClr val="FFFFFF"/>
                </a:solidFill>
              </a:rPr>
              <a:t>는 가장 흔히 사용되며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이는 모델이 더 복잡한 패턴을 학습할 수 있게 함</a:t>
            </a:r>
            <a:endParaRPr lang="en-US" altLang="ko-KR" sz="1600" dirty="0">
              <a:solidFill>
                <a:srgbClr val="FFFFFF"/>
              </a:solidFill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4</a:t>
            </a:r>
            <a:r>
              <a:rPr lang="ko-KR" altLang="en-US" sz="1600" dirty="0">
                <a:solidFill>
                  <a:srgbClr val="FFFFFF"/>
                </a:solidFill>
              </a:rPr>
              <a:t>단계</a:t>
            </a:r>
            <a:r>
              <a:rPr lang="en-US" altLang="ko-KR" sz="1600" dirty="0">
                <a:solidFill>
                  <a:srgbClr val="FFFFFF"/>
                </a:solidFill>
              </a:rPr>
              <a:t>: </a:t>
            </a:r>
            <a:r>
              <a:rPr lang="ko-KR" altLang="en-US" sz="1600" dirty="0" err="1">
                <a:solidFill>
                  <a:srgbClr val="FFFFFF"/>
                </a:solidFill>
              </a:rPr>
              <a:t>풀링</a:t>
            </a:r>
            <a:r>
              <a:rPr lang="ko-KR" altLang="en-US" sz="1600" dirty="0">
                <a:solidFill>
                  <a:srgbClr val="FFFFFF"/>
                </a:solidFill>
              </a:rPr>
              <a:t> 계층 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>
                <a:solidFill>
                  <a:srgbClr val="FFFFFF"/>
                </a:solidFill>
              </a:rPr>
              <a:t>Pooling Layer)</a:t>
            </a:r>
            <a:r>
              <a:rPr lang="en-US" altLang="ko-KR" sz="1600" dirty="0">
                <a:solidFill>
                  <a:srgbClr val="FFFFFF"/>
                </a:solidFill>
              </a:rPr>
              <a:t>:</a:t>
            </a:r>
            <a:r>
              <a:rPr lang="ko-KR" altLang="en-US" sz="1600" dirty="0">
                <a:solidFill>
                  <a:srgbClr val="FFFFFF"/>
                </a:solidFill>
              </a:rPr>
              <a:t> 이 계층은 이미지의 크기를 줄이고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중요한 특징만을 유지하게 하는데 예를 들어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맥스 </a:t>
            </a:r>
            <a:r>
              <a:rPr lang="ko-KR" altLang="en-US" sz="1600" dirty="0" err="1">
                <a:solidFill>
                  <a:srgbClr val="FFFFFF"/>
                </a:solidFill>
              </a:rPr>
              <a:t>풀링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>
                <a:solidFill>
                  <a:srgbClr val="FFFFFF"/>
                </a:solidFill>
              </a:rPr>
              <a:t>Max Pooling)</a:t>
            </a:r>
            <a:r>
              <a:rPr lang="ko-KR" altLang="en-US" sz="1600" dirty="0">
                <a:solidFill>
                  <a:srgbClr val="FFFFFF"/>
                </a:solidFill>
              </a:rPr>
              <a:t>은 가장 큰 값을 선택하여 특징 </a:t>
            </a:r>
            <a:r>
              <a:rPr lang="ko-KR" altLang="en-US" sz="1600" dirty="0" err="1">
                <a:solidFill>
                  <a:srgbClr val="FFFFFF"/>
                </a:solidFill>
              </a:rPr>
              <a:t>맵의</a:t>
            </a:r>
            <a:r>
              <a:rPr lang="ko-KR" altLang="en-US" sz="1600" dirty="0">
                <a:solidFill>
                  <a:srgbClr val="FFFFFF"/>
                </a:solidFill>
              </a:rPr>
              <a:t> 크기를 줄임</a:t>
            </a:r>
            <a:endParaRPr lang="en-US" altLang="ko-KR" sz="1600" dirty="0">
              <a:solidFill>
                <a:srgbClr val="FFFFFF"/>
              </a:solidFill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5</a:t>
            </a:r>
            <a:r>
              <a:rPr lang="ko-KR" altLang="en-US" sz="1600" dirty="0">
                <a:solidFill>
                  <a:srgbClr val="FFFFFF"/>
                </a:solidFill>
              </a:rPr>
              <a:t>단계</a:t>
            </a:r>
            <a:r>
              <a:rPr lang="en-US" altLang="ko-KR" sz="1600" dirty="0">
                <a:solidFill>
                  <a:srgbClr val="FFFFFF"/>
                </a:solidFill>
              </a:rPr>
              <a:t>: </a:t>
            </a:r>
            <a:r>
              <a:rPr lang="ko-KR" altLang="en-US" sz="1600" dirty="0">
                <a:solidFill>
                  <a:srgbClr val="FFFFFF"/>
                </a:solidFill>
              </a:rPr>
              <a:t>완전 연결 계층 </a:t>
            </a:r>
            <a:r>
              <a:rPr lang="en-US" altLang="ko-KR" sz="1600" dirty="0">
                <a:solidFill>
                  <a:srgbClr val="FFFFFF"/>
                </a:solidFill>
              </a:rPr>
              <a:t>(</a:t>
            </a:r>
            <a:r>
              <a:rPr lang="en-US" sz="1600" dirty="0">
                <a:solidFill>
                  <a:srgbClr val="FFFFFF"/>
                </a:solidFill>
              </a:rPr>
              <a:t>Fully Connected Layers)</a:t>
            </a:r>
            <a:r>
              <a:rPr lang="en-US" altLang="ko-KR" sz="1600" dirty="0">
                <a:solidFill>
                  <a:srgbClr val="FFFFFF"/>
                </a:solidFill>
              </a:rPr>
              <a:t>:</a:t>
            </a:r>
            <a:r>
              <a:rPr lang="ko-KR" altLang="en-US" sz="1600" dirty="0">
                <a:solidFill>
                  <a:srgbClr val="FFFFFF"/>
                </a:solidFill>
              </a:rPr>
              <a:t> 마지막에는 완전 연결 계층이 있어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앞서 추출된 특징들을 바탕으로 이미지가 어떤 클래스에 속하는지를 결정하는데 예를 들어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고양이와 강아지를 구분하는 문제에서는 각 클래스에 대한 확률을 출력</a:t>
            </a:r>
            <a:endParaRPr lang="en-US" altLang="ko-KR" sz="1600" dirty="0">
              <a:solidFill>
                <a:srgbClr val="FFFFFF"/>
              </a:solidFill>
            </a:endParaRPr>
          </a:p>
          <a:p>
            <a:endParaRPr lang="en-KR" sz="16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8AEB3-18FA-8FFF-18F2-78113F30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AD0C-C8F7-F795-CD66-A86DF6B8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ko-KR" altLang="en-US" dirty="0"/>
              <a:t>커널의 작동 방식</a:t>
            </a:r>
            <a:endParaRPr lang="en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FAD74-B247-53D1-0C81-11CC533C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7656925-5284-5CBF-76B6-8240A2FE7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9982923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51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96FF2-0F40-B9C3-4FCE-4B3E97D8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i="0">
                <a:effectLst/>
                <a:highlight>
                  <a:srgbClr val="212121"/>
                </a:highlight>
                <a:latin typeface="Söhne"/>
              </a:rPr>
              <a:t>커널의 특성</a:t>
            </a:r>
            <a:endParaRPr lang="en-KR" sz="4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322C4-2328-5158-F4D2-9EA8D5ADC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336872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4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40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CAA0368-465C-37E8-1E81-99702366E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613615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6136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1041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044" name="Picture 1043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46" name="Rectangle 1045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6F196-75F4-2129-ECA0-AFC18683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Kernel</a:t>
            </a:r>
            <a:endParaRPr lang="en-KR" sz="2400">
              <a:solidFill>
                <a:srgbClr val="FFFFFF"/>
              </a:solidFill>
            </a:endParaRPr>
          </a:p>
        </p:txBody>
      </p:sp>
      <p:pic>
        <p:nvPicPr>
          <p:cNvPr id="1050" name="Picture 1049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9888-C800-93FE-3E98-BC05EEB83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ko-KR" altLang="en-US" sz="1400">
                <a:solidFill>
                  <a:srgbClr val="FFFFFF"/>
                </a:solidFill>
              </a:rPr>
              <a:t>커널</a:t>
            </a:r>
            <a:r>
              <a:rPr lang="en-US" altLang="ko-KR" sz="1400">
                <a:solidFill>
                  <a:srgbClr val="FFFFFF"/>
                </a:solidFill>
              </a:rPr>
              <a:t>(</a:t>
            </a:r>
            <a:r>
              <a:rPr lang="en-US" sz="1400">
                <a:solidFill>
                  <a:srgbClr val="FFFFFF"/>
                </a:solidFill>
              </a:rPr>
              <a:t>kernel)</a:t>
            </a:r>
            <a:r>
              <a:rPr lang="ko-KR" altLang="en-US" sz="1400">
                <a:solidFill>
                  <a:srgbClr val="FFFFFF"/>
                </a:solidFill>
              </a:rPr>
              <a:t>은 컨볼루션 신경망</a:t>
            </a:r>
            <a:r>
              <a:rPr lang="en-US" altLang="ko-KR" sz="1400">
                <a:solidFill>
                  <a:srgbClr val="FFFFFF"/>
                </a:solidFill>
              </a:rPr>
              <a:t>(</a:t>
            </a:r>
            <a:r>
              <a:rPr lang="en-US" sz="1400">
                <a:solidFill>
                  <a:srgbClr val="FFFFFF"/>
                </a:solidFill>
              </a:rPr>
              <a:t>Convolutional Neural Network, CNN)</a:t>
            </a:r>
            <a:r>
              <a:rPr lang="ko-KR" altLang="en-US" sz="1400">
                <a:solidFill>
                  <a:srgbClr val="FFFFFF"/>
                </a:solidFill>
              </a:rPr>
              <a:t>에서 이미지에 적용되는 작은 행렬을 의미</a:t>
            </a:r>
            <a:endParaRPr lang="en-US" altLang="ko-KR" sz="1400">
              <a:solidFill>
                <a:srgbClr val="FFFFFF"/>
              </a:solidFill>
            </a:endParaRPr>
          </a:p>
          <a:p>
            <a:pPr lvl="1"/>
            <a:r>
              <a:rPr lang="ko-KR" altLang="en-US" sz="1400">
                <a:solidFill>
                  <a:srgbClr val="FFFFFF"/>
                </a:solidFill>
              </a:rPr>
              <a:t>이 커널이나 필터는 이미지의 특징을 추출하는 데 사용되며</a:t>
            </a:r>
            <a:r>
              <a:rPr lang="en-US" altLang="ko-KR" sz="1400">
                <a:solidFill>
                  <a:srgbClr val="FFFFFF"/>
                </a:solidFill>
              </a:rPr>
              <a:t>, </a:t>
            </a:r>
            <a:r>
              <a:rPr lang="ko-KR" altLang="en-US" sz="1400">
                <a:solidFill>
                  <a:srgbClr val="FFFFFF"/>
                </a:solidFill>
              </a:rPr>
              <a:t>가장자리 검출</a:t>
            </a:r>
            <a:r>
              <a:rPr lang="en-US" altLang="ko-KR" sz="1400">
                <a:solidFill>
                  <a:srgbClr val="FFFFFF"/>
                </a:solidFill>
              </a:rPr>
              <a:t>, </a:t>
            </a:r>
            <a:r>
              <a:rPr lang="ko-KR" altLang="en-US" sz="1400">
                <a:solidFill>
                  <a:srgbClr val="FFFFFF"/>
                </a:solidFill>
              </a:rPr>
              <a:t>흐림</a:t>
            </a:r>
            <a:r>
              <a:rPr lang="en-US" altLang="ko-KR" sz="1400">
                <a:solidFill>
                  <a:srgbClr val="FFFFFF"/>
                </a:solidFill>
              </a:rPr>
              <a:t>, </a:t>
            </a:r>
            <a:r>
              <a:rPr lang="ko-KR" altLang="en-US" sz="1400">
                <a:solidFill>
                  <a:srgbClr val="FFFFFF"/>
                </a:solidFill>
              </a:rPr>
              <a:t>날카롭게 하기 등 다양한 작업을 수행할 수 있음</a:t>
            </a:r>
            <a:endParaRPr lang="en-US" altLang="ko-KR" sz="1400">
              <a:solidFill>
                <a:srgbClr val="FFFFFF"/>
              </a:solidFill>
            </a:endParaRPr>
          </a:p>
          <a:p>
            <a:pPr lvl="1"/>
            <a:r>
              <a:rPr lang="en-US" sz="1400">
                <a:solidFill>
                  <a:srgbClr val="FFFFFF"/>
                </a:solidFill>
              </a:rPr>
              <a:t>CNN</a:t>
            </a:r>
            <a:r>
              <a:rPr lang="ko-KR" altLang="en-US" sz="1400">
                <a:solidFill>
                  <a:srgbClr val="FFFFFF"/>
                </a:solidFill>
              </a:rPr>
              <a:t>에서 커널은 컨볼루션 계층을 통해 이미지에서 특징을 추출하는 데 핵심적인 역할을 함</a:t>
            </a:r>
            <a:endParaRPr lang="en-KR" sz="1400">
              <a:solidFill>
                <a:srgbClr val="FFFFFF"/>
              </a:solidFill>
            </a:endParaRPr>
          </a:p>
        </p:txBody>
      </p:sp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onvolutional Neural Networks: 1998-2023 Overview | SuperAnnotate">
            <a:extLst>
              <a:ext uri="{FF2B5EF4-FFF2-40B4-BE49-F238E27FC236}">
                <a16:creationId xmlns:a16="http://schemas.microsoft.com/office/drawing/2014/main" id="{DB017794-DA3F-FD5C-520F-2D4CEB2F6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666457"/>
            <a:ext cx="5629268" cy="3518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3D2D92-A328-28CC-9C54-B920AD71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7497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0ABC-4EBE-3132-0662-5529AC55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Vertical edge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4DCB-54B4-EC1C-AB44-713C6BB9F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AFC384-C216-ECE1-3C82-DF1D8A745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0" y="2195429"/>
            <a:ext cx="7445005" cy="439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83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3704"/>
            <a:ext cx="10437812" cy="3211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B71EC-4450-9239-92EC-EC3F4DA5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KR">
                <a:solidFill>
                  <a:srgbClr val="FFFFFF"/>
                </a:solidFill>
              </a:rPr>
              <a:t>CNN</a:t>
            </a:r>
            <a:r>
              <a:rPr lang="ko-KR" altLang="en-US">
                <a:solidFill>
                  <a:srgbClr val="FFFFFF"/>
                </a:solidFill>
              </a:rPr>
              <a:t>에서 학습이란 최적의 </a:t>
            </a:r>
            <a:r>
              <a:rPr lang="en-US" altLang="ko-KR">
                <a:solidFill>
                  <a:srgbClr val="FFFFFF"/>
                </a:solidFill>
              </a:rPr>
              <a:t>Filter </a:t>
            </a:r>
            <a:r>
              <a:rPr lang="ko-KR" altLang="en-US">
                <a:solidFill>
                  <a:srgbClr val="FFFFFF"/>
                </a:solidFill>
              </a:rPr>
              <a:t>행렬 값을 찾는 것</a:t>
            </a:r>
            <a:endParaRPr lang="en-KR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9003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3C528-49F6-F78F-818F-4242AF1B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9455" y="753227"/>
            <a:ext cx="1154151" cy="109078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85714"/>
            <a:ext cx="10437812" cy="32116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FC39-A168-6A8D-11AA-5E4794FA6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437831"/>
            <a:ext cx="9114023" cy="3150308"/>
          </a:xfrm>
        </p:spPr>
        <p:txBody>
          <a:bodyPr>
            <a:normAutofit/>
          </a:bodyPr>
          <a:lstStyle/>
          <a:p>
            <a:r>
              <a:rPr lang="ko-KR" altLang="en-US" sz="2000" dirty="0" err="1">
                <a:solidFill>
                  <a:srgbClr val="FFFFFF"/>
                </a:solidFill>
              </a:rPr>
              <a:t>딥러닝의</a:t>
            </a:r>
            <a:r>
              <a:rPr lang="ko-KR" altLang="en-US" sz="2000" dirty="0">
                <a:solidFill>
                  <a:srgbClr val="FFFFFF"/>
                </a:solidFill>
              </a:rPr>
              <a:t> 장점은 파라미터를 학습하는 것인데 즉 </a:t>
            </a:r>
            <a:r>
              <a:rPr lang="en-US" altLang="ko-KR" sz="2000" dirty="0">
                <a:solidFill>
                  <a:srgbClr val="FFFFFF"/>
                </a:solidFill>
              </a:rPr>
              <a:t>Filter </a:t>
            </a:r>
            <a:r>
              <a:rPr lang="ko-KR" altLang="en-US" sz="2000" dirty="0">
                <a:solidFill>
                  <a:srgbClr val="FFFFFF"/>
                </a:solidFill>
              </a:rPr>
              <a:t>행렬 안에 어떠한 값들이 들어가야 최적의 </a:t>
            </a:r>
            <a:r>
              <a:rPr lang="en-US" altLang="ko-KR" sz="2000" dirty="0">
                <a:solidFill>
                  <a:srgbClr val="FFFFFF"/>
                </a:solidFill>
              </a:rPr>
              <a:t>Edge </a:t>
            </a:r>
            <a:r>
              <a:rPr lang="ko-KR" altLang="en-US" sz="2000" dirty="0">
                <a:solidFill>
                  <a:srgbClr val="FFFFFF"/>
                </a:solidFill>
              </a:rPr>
              <a:t>성분을 추출하고 최소의 </a:t>
            </a:r>
            <a:r>
              <a:rPr lang="en-US" altLang="ko-KR" sz="2000" dirty="0">
                <a:solidFill>
                  <a:srgbClr val="FFFFFF"/>
                </a:solidFill>
              </a:rPr>
              <a:t>Cost</a:t>
            </a:r>
            <a:r>
              <a:rPr lang="ko-KR" altLang="en-US" sz="2000" dirty="0">
                <a:solidFill>
                  <a:srgbClr val="FFFFFF"/>
                </a:solidFill>
              </a:rPr>
              <a:t>와 최상의 </a:t>
            </a:r>
            <a:r>
              <a:rPr lang="en-US" altLang="ko-KR" sz="2000" dirty="0">
                <a:solidFill>
                  <a:srgbClr val="FFFFFF"/>
                </a:solidFill>
              </a:rPr>
              <a:t>Accuracy</a:t>
            </a:r>
            <a:r>
              <a:rPr lang="ko-KR" altLang="en-US" sz="2000" dirty="0" err="1">
                <a:solidFill>
                  <a:srgbClr val="FFFFFF"/>
                </a:solidFill>
              </a:rPr>
              <a:t>를</a:t>
            </a:r>
            <a:r>
              <a:rPr lang="ko-KR" altLang="en-US" sz="2000" dirty="0">
                <a:solidFill>
                  <a:srgbClr val="FFFFFF"/>
                </a:solidFill>
              </a:rPr>
              <a:t> 가질 수 있는지 </a:t>
            </a:r>
            <a:r>
              <a:rPr lang="en-US" altLang="ko-KR" sz="2000" dirty="0" err="1">
                <a:solidFill>
                  <a:srgbClr val="FFFFFF"/>
                </a:solidFill>
              </a:rPr>
              <a:t>Gadient</a:t>
            </a:r>
            <a:r>
              <a:rPr lang="en-US" altLang="ko-KR" sz="2000" dirty="0">
                <a:solidFill>
                  <a:srgbClr val="FFFFFF"/>
                </a:solidFill>
              </a:rPr>
              <a:t> Descent</a:t>
            </a:r>
            <a:r>
              <a:rPr lang="ko-KR" altLang="en-US" sz="2000" dirty="0" err="1">
                <a:solidFill>
                  <a:srgbClr val="FFFFFF"/>
                </a:solidFill>
              </a:rPr>
              <a:t>를</a:t>
            </a:r>
            <a:r>
              <a:rPr lang="ko-KR" altLang="en-US" sz="2000" dirty="0">
                <a:solidFill>
                  <a:srgbClr val="FFFFFF"/>
                </a:solidFill>
              </a:rPr>
              <a:t> 통해서 학습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lvl="1"/>
            <a:r>
              <a:rPr lang="en-US" dirty="0">
                <a:solidFill>
                  <a:srgbClr val="FFFFFF"/>
                </a:solidFill>
              </a:rPr>
              <a:t>CNN</a:t>
            </a:r>
            <a:r>
              <a:rPr lang="ko-KR" altLang="en-US" dirty="0">
                <a:solidFill>
                  <a:srgbClr val="FFFFFF"/>
                </a:solidFill>
              </a:rPr>
              <a:t>에서 학습해야 할 일종의 </a:t>
            </a:r>
            <a:r>
              <a:rPr lang="en-US" altLang="ko-KR" dirty="0">
                <a:solidFill>
                  <a:srgbClr val="FFFFFF"/>
                </a:solidFill>
              </a:rPr>
              <a:t>Weight</a:t>
            </a:r>
            <a:endParaRPr lang="en-KR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1414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6EBF0F3-F11B-A5F3-F21C-D9807BF7AE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812" r="46112" b="-2"/>
          <a:stretch/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056D5-7739-7055-45B6-4D51CEB6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CNN </a:t>
            </a:r>
            <a:r>
              <a:rPr lang="ko-KR" altLang="en-US" dirty="0"/>
              <a:t>적용 예시</a:t>
            </a:r>
            <a:endParaRPr lang="en-KR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3FED9-B280-F01F-DB6E-00D7DEEA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이미지에서 강아지를 인식하는 </a:t>
            </a:r>
            <a:r>
              <a:rPr lang="en-US" sz="2000" dirty="0"/>
              <a:t>CNN </a:t>
            </a:r>
            <a:r>
              <a:rPr lang="ko-KR" altLang="en-US" sz="2000" dirty="0"/>
              <a:t>모델의 예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입력 이미지</a:t>
            </a:r>
            <a:r>
              <a:rPr lang="en-US" altLang="ko-KR" sz="2000" dirty="0"/>
              <a:t>: </a:t>
            </a:r>
            <a:r>
              <a:rPr lang="ko-KR" altLang="en-US" sz="2000" dirty="0"/>
              <a:t>강아지의 사진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err="1"/>
              <a:t>컨볼루션</a:t>
            </a:r>
            <a:r>
              <a:rPr lang="ko-KR" altLang="en-US" sz="2000" dirty="0"/>
              <a:t> 계층</a:t>
            </a:r>
            <a:r>
              <a:rPr lang="en-US" altLang="ko-KR" sz="2000" dirty="0"/>
              <a:t>: </a:t>
            </a:r>
            <a:r>
              <a:rPr lang="ko-KR" altLang="en-US" sz="2000" dirty="0"/>
              <a:t>강아지의 특징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ko-KR" altLang="en-US" sz="2000" dirty="0"/>
              <a:t>귀</a:t>
            </a:r>
            <a:r>
              <a:rPr lang="en-US" altLang="ko-KR" sz="2000" dirty="0"/>
              <a:t>, </a:t>
            </a:r>
            <a:r>
              <a:rPr lang="ko-KR" altLang="en-US" sz="2000" dirty="0"/>
              <a:t>눈</a:t>
            </a:r>
            <a:r>
              <a:rPr lang="en-US" altLang="ko-KR" sz="2000" dirty="0"/>
              <a:t>)</a:t>
            </a:r>
            <a:r>
              <a:rPr lang="ko-KR" altLang="en-US" sz="2000" dirty="0"/>
              <a:t>을 감지하는 필터 적용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ReLU</a:t>
            </a:r>
            <a:r>
              <a:rPr lang="en-US" sz="2000" dirty="0"/>
              <a:t> </a:t>
            </a:r>
            <a:r>
              <a:rPr lang="ko-KR" altLang="en-US" sz="2000" dirty="0"/>
              <a:t>활성화 함수</a:t>
            </a:r>
            <a:r>
              <a:rPr lang="en-US" altLang="ko-KR" sz="2000" dirty="0"/>
              <a:t>: </a:t>
            </a:r>
            <a:r>
              <a:rPr lang="ko-KR" altLang="en-US" sz="2000" dirty="0"/>
              <a:t>비선형 변환 적용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 err="1"/>
              <a:t>풀링</a:t>
            </a:r>
            <a:r>
              <a:rPr lang="ko-KR" altLang="en-US" sz="2000" dirty="0"/>
              <a:t> 계층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크기 감소 및 주요 특징 유지</a:t>
            </a: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sz="2000" dirty="0"/>
              <a:t>완전 연결 계층</a:t>
            </a:r>
            <a:r>
              <a:rPr lang="en-US" altLang="ko-KR" sz="2000" dirty="0"/>
              <a:t>: </a:t>
            </a:r>
            <a:r>
              <a:rPr lang="ko-KR" altLang="en-US" sz="2000" dirty="0"/>
              <a:t>강아지 이미지를 최종적으로 인식하고 분류</a:t>
            </a:r>
            <a:endParaRPr lang="en-US" altLang="ko-KR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34454-F77B-220A-6456-700E7671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5936189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33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59299-5283-0FC6-AAC9-80668D3D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>
                <a:solidFill>
                  <a:srgbClr val="FFFFFF"/>
                </a:solidFill>
              </a:rPr>
              <a:t>Main ideas behind CNN</a:t>
            </a:r>
            <a:endParaRPr lang="en-KR" sz="4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303E9-E20F-35D1-427D-9839A2A0C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The way CNNs work is based on the following important ideas: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Convolutional filters can extract patterns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We can design the network in such a way that filters are trained automatically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We can use the same approach to find patterns in high-level features, not only in the original image</a:t>
            </a:r>
          </a:p>
          <a:p>
            <a:pPr lvl="2"/>
            <a:r>
              <a:rPr lang="en-US" sz="2000" dirty="0">
                <a:solidFill>
                  <a:srgbClr val="FFFFFF"/>
                </a:solidFill>
              </a:rPr>
              <a:t>Thus, CNN feature extraction work on a hierarchy of features, starting from low-level pixel combinations, up to higher level combination of picture parts</a:t>
            </a:r>
            <a:endParaRPr lang="en-KR" sz="20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501D8-3E7E-2EE5-05D8-6321F52A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338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4" name="Picture 2073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76" name="Picture 2075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2077" name="Picture 2076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2078" name="Rectangle 2077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 useBgFill="1">
        <p:nvSpPr>
          <p:cNvPr id="2080" name="Rectangle 2079">
            <a:extLst>
              <a:ext uri="{FF2B5EF4-FFF2-40B4-BE49-F238E27FC236}">
                <a16:creationId xmlns:a16="http://schemas.microsoft.com/office/drawing/2014/main" id="{068A8980-5323-4E32-9817-A14D0B91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81" name="Picture 2080">
            <a:extLst>
              <a:ext uri="{FF2B5EF4-FFF2-40B4-BE49-F238E27FC236}">
                <a16:creationId xmlns:a16="http://schemas.microsoft.com/office/drawing/2014/main" id="{C1A37955-21EA-4810-9AED-24CF25E26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" y="0"/>
            <a:ext cx="12192000" cy="6858000"/>
          </a:xfrm>
          <a:prstGeom prst="rect">
            <a:avLst/>
          </a:prstGeom>
        </p:spPr>
      </p:pic>
      <p:sp>
        <p:nvSpPr>
          <p:cNvPr id="2082" name="Rectangle 2081">
            <a:extLst>
              <a:ext uri="{FF2B5EF4-FFF2-40B4-BE49-F238E27FC236}">
                <a16:creationId xmlns:a16="http://schemas.microsoft.com/office/drawing/2014/main" id="{8B79A499-6023-4495-8687-96680A5E9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22A2E-B257-8AA3-F277-1A4A6D80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8" y="4710483"/>
            <a:ext cx="8133478" cy="94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lang="en-US" sz="4800" dirty="0"/>
              <a:t>Example</a:t>
            </a:r>
          </a:p>
        </p:txBody>
      </p:sp>
      <p:pic>
        <p:nvPicPr>
          <p:cNvPr id="2050" name="Picture 2" descr="Hierarchical Feature Extraction">
            <a:extLst>
              <a:ext uri="{FF2B5EF4-FFF2-40B4-BE49-F238E27FC236}">
                <a16:creationId xmlns:a16="http://schemas.microsoft.com/office/drawing/2014/main" id="{834D2F09-F38D-F4A1-1765-F7E9F7485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0790" y="640078"/>
            <a:ext cx="6584617" cy="3609141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3" name="Rectangle 2082">
            <a:extLst>
              <a:ext uri="{FF2B5EF4-FFF2-40B4-BE49-F238E27FC236}">
                <a16:creationId xmlns:a16="http://schemas.microsoft.com/office/drawing/2014/main" id="{BAA1CC66-52B7-4B1A-83B9-4473DABF8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D37A1-3011-C6B9-2C1D-2CD2FD69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4653" y="5083011"/>
            <a:ext cx="1173167" cy="9736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28844951-7827-47D4-8276-7DDE1FA7D85A}" type="slidenum">
              <a:rPr lang="en-US" sz="4800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13</a:t>
            </a:fld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427A1B02-0BC3-4123-A27E-111F26354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846EBDA5-97CE-4375-BC99-C7365D1C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85129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291</TotalTime>
  <Words>920</Words>
  <Application>Microsoft Macintosh PowerPoint</Application>
  <PresentationFormat>Widescreen</PresentationFormat>
  <Paragraphs>65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맑은 고딕</vt:lpstr>
      <vt:lpstr>Söhne</vt:lpstr>
      <vt:lpstr>Arial</vt:lpstr>
      <vt:lpstr>Trebuchet MS</vt:lpstr>
      <vt:lpstr>베를린</vt:lpstr>
      <vt:lpstr>Convolutional Neural Networks</vt:lpstr>
      <vt:lpstr>Problem</vt:lpstr>
      <vt:lpstr>How humans solve the problem ...</vt:lpstr>
      <vt:lpstr>Explanation</vt:lpstr>
      <vt:lpstr>CNN의 주요 구성 요소</vt:lpstr>
      <vt:lpstr>커널의 작동 방식</vt:lpstr>
      <vt:lpstr>커널의 특성</vt:lpstr>
      <vt:lpstr>Kernel</vt:lpstr>
      <vt:lpstr>Vertical edge detection</vt:lpstr>
      <vt:lpstr>CNN에서 학습이란 최적의 Filter 행렬 값을 찾는 것</vt:lpstr>
      <vt:lpstr>CNN 적용 예시</vt:lpstr>
      <vt:lpstr>Main ideas behind CNN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Woojin Paik</cp:lastModifiedBy>
  <cp:revision>22</cp:revision>
  <dcterms:created xsi:type="dcterms:W3CDTF">2024-04-09T10:12:03Z</dcterms:created>
  <dcterms:modified xsi:type="dcterms:W3CDTF">2024-04-11T07:03:43Z</dcterms:modified>
</cp:coreProperties>
</file>
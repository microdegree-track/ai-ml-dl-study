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59" r:id="rId6"/>
    <p:sldId id="262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2"/>
    <p:restoredTop sz="94694"/>
  </p:normalViewPr>
  <p:slideViewPr>
    <p:cSldViewPr snapToGrid="0">
      <p:cViewPr varScale="1">
        <p:scale>
          <a:sx n="121" d="100"/>
          <a:sy n="121" d="100"/>
        </p:scale>
        <p:origin x="1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0326C-E7FD-4F33-BE78-966B3DCCD323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D4BD11-65A8-4470-9B8C-5616AF6B6579}">
      <dgm:prSet/>
      <dgm:spPr/>
      <dgm:t>
        <a:bodyPr/>
        <a:lstStyle/>
        <a:p>
          <a:r>
            <a:rPr kumimoji="1" lang="ko-KR"/>
            <a:t>공상과학 소설에서는 인공지능이 인류에게 위험을 초래하는 이야기를 종종 볼 수 있음</a:t>
          </a:r>
          <a:endParaRPr lang="en-US"/>
        </a:p>
      </dgm:t>
    </dgm:pt>
    <dgm:pt modelId="{821B7877-32FF-401F-845C-E326AADE4B19}" type="parTrans" cxnId="{5A3482E4-3F17-4114-8824-0485FE6CF01F}">
      <dgm:prSet/>
      <dgm:spPr/>
      <dgm:t>
        <a:bodyPr/>
        <a:lstStyle/>
        <a:p>
          <a:endParaRPr lang="en-US"/>
        </a:p>
      </dgm:t>
    </dgm:pt>
    <dgm:pt modelId="{0E4A025E-7D85-4BD8-A627-5E9A246CC515}" type="sibTrans" cxnId="{5A3482E4-3F17-4114-8824-0485FE6CF01F}">
      <dgm:prSet/>
      <dgm:spPr/>
      <dgm:t>
        <a:bodyPr/>
        <a:lstStyle/>
        <a:p>
          <a:endParaRPr lang="en-US"/>
        </a:p>
      </dgm:t>
    </dgm:pt>
    <dgm:pt modelId="{769CD5CB-2CCB-4F25-A6E1-2ECD5496BD26}">
      <dgm:prSet/>
      <dgm:spPr/>
      <dgm:t>
        <a:bodyPr/>
        <a:lstStyle/>
        <a:p>
          <a:r>
            <a:rPr kumimoji="1" lang="ko-KR"/>
            <a:t>보통 이러한 이야기는 </a:t>
          </a:r>
          <a:r>
            <a:rPr kumimoji="1" lang="en-US"/>
            <a:t>AI</a:t>
          </a:r>
          <a:r>
            <a:rPr kumimoji="1" lang="ko-KR"/>
            <a:t>가 인간과 맞서기로 결심하는 일종의 </a:t>
          </a:r>
          <a:r>
            <a:rPr kumimoji="1" lang="en-US"/>
            <a:t>AI </a:t>
          </a:r>
          <a:r>
            <a:rPr kumimoji="1" lang="ko-KR"/>
            <a:t>반란을 중심으로 전개됨</a:t>
          </a:r>
          <a:endParaRPr lang="en-US"/>
        </a:p>
      </dgm:t>
    </dgm:pt>
    <dgm:pt modelId="{908C532C-7AC3-41C6-A7D1-953831C5CA0B}" type="parTrans" cxnId="{DD99BC3A-314F-417A-9264-00D38CC37C5F}">
      <dgm:prSet/>
      <dgm:spPr/>
      <dgm:t>
        <a:bodyPr/>
        <a:lstStyle/>
        <a:p>
          <a:endParaRPr lang="en-US"/>
        </a:p>
      </dgm:t>
    </dgm:pt>
    <dgm:pt modelId="{FF52FEF1-806E-4E16-87F0-B496F74B27CE}" type="sibTrans" cxnId="{DD99BC3A-314F-417A-9264-00D38CC37C5F}">
      <dgm:prSet/>
      <dgm:spPr/>
      <dgm:t>
        <a:bodyPr/>
        <a:lstStyle/>
        <a:p>
          <a:endParaRPr lang="en-US"/>
        </a:p>
      </dgm:t>
    </dgm:pt>
    <dgm:pt modelId="{68297AB6-5903-4803-A3D6-F927E7BB1FF1}">
      <dgm:prSet/>
      <dgm:spPr/>
      <dgm:t>
        <a:bodyPr/>
        <a:lstStyle/>
        <a:p>
          <a:r>
            <a:rPr kumimoji="1" lang="ko-KR"/>
            <a:t>이는 </a:t>
          </a:r>
          <a:r>
            <a:rPr kumimoji="1" lang="en-US"/>
            <a:t>AI</a:t>
          </a:r>
          <a:r>
            <a:rPr kumimoji="1" lang="ko-KR"/>
            <a:t>에 일종의 감정이 있거나 개발자가 예상하지 못한 결정을 내릴 수 있다는 것을 의미</a:t>
          </a:r>
          <a:endParaRPr lang="en-US"/>
        </a:p>
      </dgm:t>
    </dgm:pt>
    <dgm:pt modelId="{99A9B082-0696-40E7-ADE1-6D6D57BC855F}" type="parTrans" cxnId="{E637F40A-D560-434C-B43C-C25881F2694A}">
      <dgm:prSet/>
      <dgm:spPr/>
      <dgm:t>
        <a:bodyPr/>
        <a:lstStyle/>
        <a:p>
          <a:endParaRPr lang="en-US"/>
        </a:p>
      </dgm:t>
    </dgm:pt>
    <dgm:pt modelId="{3144EDAD-A770-42AC-BF99-BF35D0C90265}" type="sibTrans" cxnId="{E637F40A-D560-434C-B43C-C25881F2694A}">
      <dgm:prSet/>
      <dgm:spPr/>
      <dgm:t>
        <a:bodyPr/>
        <a:lstStyle/>
        <a:p>
          <a:endParaRPr lang="en-US"/>
        </a:p>
      </dgm:t>
    </dgm:pt>
    <dgm:pt modelId="{D57A5919-E9D6-4970-A2C2-71DC1893B74A}">
      <dgm:prSet/>
      <dgm:spPr/>
      <dgm:t>
        <a:bodyPr/>
        <a:lstStyle/>
        <a:p>
          <a:r>
            <a:rPr kumimoji="1" lang="ko-KR"/>
            <a:t>이 강좌에서 배운 </a:t>
          </a:r>
          <a:r>
            <a:rPr kumimoji="1" lang="en-US"/>
            <a:t>AI</a:t>
          </a:r>
          <a:r>
            <a:rPr kumimoji="1" lang="ko-KR"/>
            <a:t>의 종류는 큰 행렬 연산에 지나지 않음</a:t>
          </a:r>
          <a:endParaRPr lang="en-US"/>
        </a:p>
      </dgm:t>
    </dgm:pt>
    <dgm:pt modelId="{96529FBE-277D-4F39-A4AD-BD390B8D1FCC}" type="parTrans" cxnId="{8BFB4FB6-9F76-4650-9825-750EB7014536}">
      <dgm:prSet/>
      <dgm:spPr/>
      <dgm:t>
        <a:bodyPr/>
        <a:lstStyle/>
        <a:p>
          <a:endParaRPr lang="en-US"/>
        </a:p>
      </dgm:t>
    </dgm:pt>
    <dgm:pt modelId="{57AE6BD4-630D-4968-B2B3-E6F55F0D8018}" type="sibTrans" cxnId="{8BFB4FB6-9F76-4650-9825-750EB7014536}">
      <dgm:prSet/>
      <dgm:spPr/>
      <dgm:t>
        <a:bodyPr/>
        <a:lstStyle/>
        <a:p>
          <a:endParaRPr lang="en-US"/>
        </a:p>
      </dgm:t>
    </dgm:pt>
    <dgm:pt modelId="{344304CD-E903-4A79-B68C-39BB334507EE}">
      <dgm:prSet/>
      <dgm:spPr/>
      <dgm:t>
        <a:bodyPr/>
        <a:lstStyle/>
        <a:p>
          <a:r>
            <a:rPr kumimoji="1" lang="ko-KR"/>
            <a:t>문제를 해결하는 데 도움이 되는 매우 강력한 도구이며</a:t>
          </a:r>
          <a:r>
            <a:rPr kumimoji="1" lang="en-US"/>
            <a:t>, </a:t>
          </a:r>
          <a:r>
            <a:rPr kumimoji="1" lang="ko-KR"/>
            <a:t>다른 강력한 도구와 마찬가지로 좋은 목적과 나쁜 목적으로 사용될 수 있음</a:t>
          </a:r>
          <a:endParaRPr lang="en-US"/>
        </a:p>
      </dgm:t>
    </dgm:pt>
    <dgm:pt modelId="{06948EDD-319A-46A9-8321-59223F37F13F}" type="parTrans" cxnId="{6D4E2EF6-4848-497E-8959-A9F3D2234785}">
      <dgm:prSet/>
      <dgm:spPr/>
      <dgm:t>
        <a:bodyPr/>
        <a:lstStyle/>
        <a:p>
          <a:endParaRPr lang="en-US"/>
        </a:p>
      </dgm:t>
    </dgm:pt>
    <dgm:pt modelId="{D5DFC6BB-9788-40F4-A500-EFB344C45EA2}" type="sibTrans" cxnId="{6D4E2EF6-4848-497E-8959-A9F3D2234785}">
      <dgm:prSet/>
      <dgm:spPr/>
      <dgm:t>
        <a:bodyPr/>
        <a:lstStyle/>
        <a:p>
          <a:endParaRPr lang="en-US"/>
        </a:p>
      </dgm:t>
    </dgm:pt>
    <dgm:pt modelId="{D6D8C548-5780-451B-94DE-7CC18059DD49}">
      <dgm:prSet/>
      <dgm:spPr/>
      <dgm:t>
        <a:bodyPr/>
        <a:lstStyle/>
        <a:p>
          <a:r>
            <a:rPr kumimoji="1" lang="ko-KR"/>
            <a:t>중요한 것은 오용될 수 있다는 사실</a:t>
          </a:r>
          <a:endParaRPr lang="en-US"/>
        </a:p>
      </dgm:t>
    </dgm:pt>
    <dgm:pt modelId="{AA7FD791-8242-4EAE-9FD5-7CDBA88B3DE0}" type="parTrans" cxnId="{B595A37A-8004-4070-837E-1E4EF26A4EE0}">
      <dgm:prSet/>
      <dgm:spPr/>
      <dgm:t>
        <a:bodyPr/>
        <a:lstStyle/>
        <a:p>
          <a:endParaRPr lang="en-US"/>
        </a:p>
      </dgm:t>
    </dgm:pt>
    <dgm:pt modelId="{F538BE16-5C46-4862-8B78-E64E7DECE8AD}" type="sibTrans" cxnId="{B595A37A-8004-4070-837E-1E4EF26A4EE0}">
      <dgm:prSet/>
      <dgm:spPr/>
      <dgm:t>
        <a:bodyPr/>
        <a:lstStyle/>
        <a:p>
          <a:endParaRPr lang="en-US"/>
        </a:p>
      </dgm:t>
    </dgm:pt>
    <dgm:pt modelId="{E68423E3-75AA-784F-8ED1-AAB3AFACE50E}" type="pres">
      <dgm:prSet presAssocID="{5750326C-E7FD-4F33-BE78-966B3DCCD323}" presName="linear" presStyleCnt="0">
        <dgm:presLayoutVars>
          <dgm:animLvl val="lvl"/>
          <dgm:resizeHandles val="exact"/>
        </dgm:presLayoutVars>
      </dgm:prSet>
      <dgm:spPr/>
    </dgm:pt>
    <dgm:pt modelId="{B91EDC9D-98AE-D449-88A4-B49268EF8614}" type="pres">
      <dgm:prSet presAssocID="{7CD4BD11-65A8-4470-9B8C-5616AF6B657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F4B2173-1936-BA4C-A965-9A8159D9402E}" type="pres">
      <dgm:prSet presAssocID="{7CD4BD11-65A8-4470-9B8C-5616AF6B6579}" presName="childText" presStyleLbl="revTx" presStyleIdx="0" presStyleCnt="2">
        <dgm:presLayoutVars>
          <dgm:bulletEnabled val="1"/>
        </dgm:presLayoutVars>
      </dgm:prSet>
      <dgm:spPr/>
    </dgm:pt>
    <dgm:pt modelId="{31BB46B8-7968-CE41-A801-130AC390FDCC}" type="pres">
      <dgm:prSet presAssocID="{D57A5919-E9D6-4970-A2C2-71DC1893B74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A9D2561-278E-B34F-BDE7-919BB3A453C5}" type="pres">
      <dgm:prSet presAssocID="{D57A5919-E9D6-4970-A2C2-71DC1893B74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637F40A-D560-434C-B43C-C25881F2694A}" srcId="{7CD4BD11-65A8-4470-9B8C-5616AF6B6579}" destId="{68297AB6-5903-4803-A3D6-F927E7BB1FF1}" srcOrd="1" destOrd="0" parTransId="{99A9B082-0696-40E7-ADE1-6D6D57BC855F}" sibTransId="{3144EDAD-A770-42AC-BF99-BF35D0C90265}"/>
    <dgm:cxn modelId="{D982EE0E-2FAF-6246-9F55-09D5AB831D02}" type="presOf" srcId="{7CD4BD11-65A8-4470-9B8C-5616AF6B6579}" destId="{B91EDC9D-98AE-D449-88A4-B49268EF8614}" srcOrd="0" destOrd="0" presId="urn:microsoft.com/office/officeart/2005/8/layout/vList2"/>
    <dgm:cxn modelId="{E8BD6E1A-E476-5F43-A572-EA9119379741}" type="presOf" srcId="{68297AB6-5903-4803-A3D6-F927E7BB1FF1}" destId="{EF4B2173-1936-BA4C-A965-9A8159D9402E}" srcOrd="0" destOrd="1" presId="urn:microsoft.com/office/officeart/2005/8/layout/vList2"/>
    <dgm:cxn modelId="{DD99BC3A-314F-417A-9264-00D38CC37C5F}" srcId="{7CD4BD11-65A8-4470-9B8C-5616AF6B6579}" destId="{769CD5CB-2CCB-4F25-A6E1-2ECD5496BD26}" srcOrd="0" destOrd="0" parTransId="{908C532C-7AC3-41C6-A7D1-953831C5CA0B}" sibTransId="{FF52FEF1-806E-4E16-87F0-B496F74B27CE}"/>
    <dgm:cxn modelId="{19FF1052-512D-314F-AF8E-DC1B76971F8D}" type="presOf" srcId="{5750326C-E7FD-4F33-BE78-966B3DCCD323}" destId="{E68423E3-75AA-784F-8ED1-AAB3AFACE50E}" srcOrd="0" destOrd="0" presId="urn:microsoft.com/office/officeart/2005/8/layout/vList2"/>
    <dgm:cxn modelId="{B595A37A-8004-4070-837E-1E4EF26A4EE0}" srcId="{D57A5919-E9D6-4970-A2C2-71DC1893B74A}" destId="{D6D8C548-5780-451B-94DE-7CC18059DD49}" srcOrd="1" destOrd="0" parTransId="{AA7FD791-8242-4EAE-9FD5-7CDBA88B3DE0}" sibTransId="{F538BE16-5C46-4862-8B78-E64E7DECE8AD}"/>
    <dgm:cxn modelId="{8BFB4FB6-9F76-4650-9825-750EB7014536}" srcId="{5750326C-E7FD-4F33-BE78-966B3DCCD323}" destId="{D57A5919-E9D6-4970-A2C2-71DC1893B74A}" srcOrd="1" destOrd="0" parTransId="{96529FBE-277D-4F39-A4AD-BD390B8D1FCC}" sibTransId="{57AE6BD4-630D-4968-B2B3-E6F55F0D8018}"/>
    <dgm:cxn modelId="{8A0E56B8-CD57-CB42-88CA-413810111460}" type="presOf" srcId="{769CD5CB-2CCB-4F25-A6E1-2ECD5496BD26}" destId="{EF4B2173-1936-BA4C-A965-9A8159D9402E}" srcOrd="0" destOrd="0" presId="urn:microsoft.com/office/officeart/2005/8/layout/vList2"/>
    <dgm:cxn modelId="{DFD998C1-91E0-3647-AF97-F38C345A24F2}" type="presOf" srcId="{D6D8C548-5780-451B-94DE-7CC18059DD49}" destId="{DA9D2561-278E-B34F-BDE7-919BB3A453C5}" srcOrd="0" destOrd="1" presId="urn:microsoft.com/office/officeart/2005/8/layout/vList2"/>
    <dgm:cxn modelId="{1F09E1CA-60D7-DC40-8CB2-19D057814A68}" type="presOf" srcId="{D57A5919-E9D6-4970-A2C2-71DC1893B74A}" destId="{31BB46B8-7968-CE41-A801-130AC390FDCC}" srcOrd="0" destOrd="0" presId="urn:microsoft.com/office/officeart/2005/8/layout/vList2"/>
    <dgm:cxn modelId="{5A3482E4-3F17-4114-8824-0485FE6CF01F}" srcId="{5750326C-E7FD-4F33-BE78-966B3DCCD323}" destId="{7CD4BD11-65A8-4470-9B8C-5616AF6B6579}" srcOrd="0" destOrd="0" parTransId="{821B7877-32FF-401F-845C-E326AADE4B19}" sibTransId="{0E4A025E-7D85-4BD8-A627-5E9A246CC515}"/>
    <dgm:cxn modelId="{53CC0EED-C5BB-3442-92F4-FFC79870D1DA}" type="presOf" srcId="{344304CD-E903-4A79-B68C-39BB334507EE}" destId="{DA9D2561-278E-B34F-BDE7-919BB3A453C5}" srcOrd="0" destOrd="0" presId="urn:microsoft.com/office/officeart/2005/8/layout/vList2"/>
    <dgm:cxn modelId="{6D4E2EF6-4848-497E-8959-A9F3D2234785}" srcId="{D57A5919-E9D6-4970-A2C2-71DC1893B74A}" destId="{344304CD-E903-4A79-B68C-39BB334507EE}" srcOrd="0" destOrd="0" parTransId="{06948EDD-319A-46A9-8321-59223F37F13F}" sibTransId="{D5DFC6BB-9788-40F4-A500-EFB344C45EA2}"/>
    <dgm:cxn modelId="{AD570697-89F7-A941-AE7D-076190C21C58}" type="presParOf" srcId="{E68423E3-75AA-784F-8ED1-AAB3AFACE50E}" destId="{B91EDC9D-98AE-D449-88A4-B49268EF8614}" srcOrd="0" destOrd="0" presId="urn:microsoft.com/office/officeart/2005/8/layout/vList2"/>
    <dgm:cxn modelId="{62F52113-864F-0342-8B1A-71966DB56F36}" type="presParOf" srcId="{E68423E3-75AA-784F-8ED1-AAB3AFACE50E}" destId="{EF4B2173-1936-BA4C-A965-9A8159D9402E}" srcOrd="1" destOrd="0" presId="urn:microsoft.com/office/officeart/2005/8/layout/vList2"/>
    <dgm:cxn modelId="{5948AC69-0633-5148-97BD-3CA69F376ECF}" type="presParOf" srcId="{E68423E3-75AA-784F-8ED1-AAB3AFACE50E}" destId="{31BB46B8-7968-CE41-A801-130AC390FDCC}" srcOrd="2" destOrd="0" presId="urn:microsoft.com/office/officeart/2005/8/layout/vList2"/>
    <dgm:cxn modelId="{2D995677-A704-7B4D-ACAE-00E08E7E9587}" type="presParOf" srcId="{E68423E3-75AA-784F-8ED1-AAB3AFACE50E}" destId="{DA9D2561-278E-B34F-BDE7-919BB3A453C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1EDC9D-98AE-D449-88A4-B49268EF8614}">
      <dsp:nvSpPr>
        <dsp:cNvPr id="0" name=""/>
        <dsp:cNvSpPr/>
      </dsp:nvSpPr>
      <dsp:spPr>
        <a:xfrm>
          <a:off x="0" y="102377"/>
          <a:ext cx="6261100" cy="1184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200" kern="1200"/>
            <a:t>공상과학 소설에서는 인공지능이 인류에게 위험을 초래하는 이야기를 종종 볼 수 있음</a:t>
          </a:r>
          <a:endParaRPr lang="en-US" sz="2200" kern="1200"/>
        </a:p>
      </dsp:txBody>
      <dsp:txXfrm>
        <a:off x="57800" y="160177"/>
        <a:ext cx="6145500" cy="1068440"/>
      </dsp:txXfrm>
    </dsp:sp>
    <dsp:sp modelId="{EF4B2173-1936-BA4C-A965-9A8159D9402E}">
      <dsp:nvSpPr>
        <dsp:cNvPr id="0" name=""/>
        <dsp:cNvSpPr/>
      </dsp:nvSpPr>
      <dsp:spPr>
        <a:xfrm>
          <a:off x="0" y="1286417"/>
          <a:ext cx="6261100" cy="1502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700" kern="1200"/>
            <a:t>보통 이러한 이야기는 </a:t>
          </a:r>
          <a:r>
            <a:rPr kumimoji="1" lang="en-US" sz="1700" kern="1200"/>
            <a:t>AI</a:t>
          </a:r>
          <a:r>
            <a:rPr kumimoji="1" lang="ko-KR" sz="1700" kern="1200"/>
            <a:t>가 인간과 맞서기로 결심하는 일종의 </a:t>
          </a:r>
          <a:r>
            <a:rPr kumimoji="1" lang="en-US" sz="1700" kern="1200"/>
            <a:t>AI </a:t>
          </a:r>
          <a:r>
            <a:rPr kumimoji="1" lang="ko-KR" sz="1700" kern="1200"/>
            <a:t>반란을 중심으로 전개됨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700" kern="1200"/>
            <a:t>이는 </a:t>
          </a:r>
          <a:r>
            <a:rPr kumimoji="1" lang="en-US" sz="1700" kern="1200"/>
            <a:t>AI</a:t>
          </a:r>
          <a:r>
            <a:rPr kumimoji="1" lang="ko-KR" sz="1700" kern="1200"/>
            <a:t>에 일종의 감정이 있거나 개발자가 예상하지 못한 결정을 내릴 수 있다는 것을 의미</a:t>
          </a:r>
          <a:endParaRPr lang="en-US" sz="1700" kern="1200"/>
        </a:p>
      </dsp:txBody>
      <dsp:txXfrm>
        <a:off x="0" y="1286417"/>
        <a:ext cx="6261100" cy="1502820"/>
      </dsp:txXfrm>
    </dsp:sp>
    <dsp:sp modelId="{31BB46B8-7968-CE41-A801-130AC390FDCC}">
      <dsp:nvSpPr>
        <dsp:cNvPr id="0" name=""/>
        <dsp:cNvSpPr/>
      </dsp:nvSpPr>
      <dsp:spPr>
        <a:xfrm>
          <a:off x="0" y="2789237"/>
          <a:ext cx="6261100" cy="118404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200" kern="1200"/>
            <a:t>이 강좌에서 배운 </a:t>
          </a:r>
          <a:r>
            <a:rPr kumimoji="1" lang="en-US" sz="2200" kern="1200"/>
            <a:t>AI</a:t>
          </a:r>
          <a:r>
            <a:rPr kumimoji="1" lang="ko-KR" sz="2200" kern="1200"/>
            <a:t>의 종류는 큰 행렬 연산에 지나지 않음</a:t>
          </a:r>
          <a:endParaRPr lang="en-US" sz="2200" kern="1200"/>
        </a:p>
      </dsp:txBody>
      <dsp:txXfrm>
        <a:off x="57800" y="2847037"/>
        <a:ext cx="6145500" cy="1068440"/>
      </dsp:txXfrm>
    </dsp:sp>
    <dsp:sp modelId="{DA9D2561-278E-B34F-BDE7-919BB3A453C5}">
      <dsp:nvSpPr>
        <dsp:cNvPr id="0" name=""/>
        <dsp:cNvSpPr/>
      </dsp:nvSpPr>
      <dsp:spPr>
        <a:xfrm>
          <a:off x="0" y="3973277"/>
          <a:ext cx="6261100" cy="1502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700" kern="1200"/>
            <a:t>문제를 해결하는 데 도움이 되는 매우 강력한 도구이며</a:t>
          </a:r>
          <a:r>
            <a:rPr kumimoji="1" lang="en-US" sz="1700" kern="1200"/>
            <a:t>, </a:t>
          </a:r>
          <a:r>
            <a:rPr kumimoji="1" lang="ko-KR" sz="1700" kern="1200"/>
            <a:t>다른 강력한 도구와 마찬가지로 좋은 목적과 나쁜 목적으로 사용될 수 있음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700" kern="1200"/>
            <a:t>중요한 것은 오용될 수 있다는 사실</a:t>
          </a:r>
          <a:endParaRPr lang="en-US" sz="1700" kern="1200"/>
        </a:p>
      </dsp:txBody>
      <dsp:txXfrm>
        <a:off x="0" y="3973277"/>
        <a:ext cx="6261100" cy="1502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2024. 5. 27.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7F90-C814-0C4D-B292-1B52260158C6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6631-B2E8-5949-9E3D-AB029F41E8D4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57F4-5739-B746-B898-0F942E5F0EE3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C826B-1F54-584A-852E-391B2B687534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DAE3-FF81-8546-A688-039B0024C8BD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F866-076F-3142-B7C8-09131416A95C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9E19-8DB9-C84C-A36A-6FBA44461F64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80EF-8F9F-1042-B285-DD6EB5795424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BBC8A-D7F6-8B4D-928B-18CAAD860692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E16-056D-A045-9C8A-09D8C93D24F6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FE23-DE78-824F-AEB7-9327F603B104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CBE5-BB0D-5749-A754-D64658E0FC2C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042F-DBA4-7A43-B49D-EC395945E9DE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6DEF-5881-0D49-AF84-1D7F97D7A773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06F-CD6C-0149-AE1C-BC16F411653C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7CBA2-8D22-3840-9729-7D140403E6C2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B250C0B-2BB5-5D47-92EC-F70355769266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F4667-600B-7648-B695-525CBB42900C}" type="datetime1">
              <a:rPr lang="ko-KR" altLang="en-US" smtClean="0"/>
              <a:t>2024. 5. 27.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Ethical and Responsible AI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25F389E-6244-BAC6-A6E2-7584B898C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-US" altLang="ko-KR" sz="4400"/>
              <a:t>Introduction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219371-99A5-D5D5-CBF2-D2736F86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9B1D1B20-11D0-9F0B-04E0-DC006C4382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838626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58735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BEF5D1-78AF-8B67-B386-59C6CB28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" altLang="ko-KR" sz="4800" dirty="0">
                <a:solidFill>
                  <a:schemeClr val="accent1"/>
                </a:solidFill>
              </a:rPr>
              <a:t>Principles of Responsible AI</a:t>
            </a:r>
            <a:endParaRPr kumimoji="1" lang="ko-KR" altLang="en-US" sz="4800" dirty="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58A82B-E625-EA37-1DF0-E082FE233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공정성은 편향된 데이터를 학습에 사용함으로써 발생할 수 있는 모델 편향이라는 중요한 문제와 관련이 있음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예를 들어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어떤 사람이 소프트웨어 개발자로 일할 확률을 예측하려고 할 때</a:t>
            </a:r>
            <a:r>
              <a:rPr kumimoji="1" lang="en-US" altLang="ko-KR" dirty="0"/>
              <a:t>, </a:t>
            </a:r>
            <a:r>
              <a:rPr kumimoji="1" lang="ko-KR" altLang="en-US" dirty="0"/>
              <a:t>훈련 데이터 세트가 남성에게 편향되어 있기 때문에 모델이 남성을 더 선호할 가능성이 높음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편견을 피하기 위해 훈련 데이터의 균형을 신중하게 조정하고 모델을 조사하여 모델이 더 관련성이 높은 특징을 고려하도록 해야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8BA0B-6CA8-F75B-A261-5D1E52D4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9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563312-EC52-5DEF-773A-AAFA476F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" altLang="ko-KR" sz="4800">
                <a:solidFill>
                  <a:schemeClr val="accent1"/>
                </a:solidFill>
              </a:rPr>
              <a:t>Principles of Responsible AI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9AF52-1319-E000-88F6-FFC58C88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/>
              <a:t>신뢰성 및 안전성</a:t>
            </a:r>
            <a:endParaRPr kumimoji="1" lang="en-US" altLang="ko-KR" sz="2000"/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/>
              <a:t>AI </a:t>
            </a:r>
            <a:r>
              <a:rPr kumimoji="1" lang="ko-KR" altLang="en-US" dirty="0"/>
              <a:t>모델은 그 특성상 실수를 할 수 있음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신경망은 확률을 반환하므로 의사 결정을 내릴 때 이를 고려해야 함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모든 모델에는 어느 정도의 </a:t>
            </a:r>
            <a:r>
              <a:rPr kumimoji="1" lang="en-US" altLang="ko-KR" dirty="0"/>
              <a:t>precision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recall</a:t>
            </a:r>
            <a:r>
              <a:rPr kumimoji="1" lang="ko-KR" altLang="en-US" dirty="0"/>
              <a:t>이 있으며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잘못된 조언으로 인한 피해를 방지하려면 이를 이해해야 함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33AC1-9F73-2B59-81A1-EDDDAD02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354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9AF52-1319-E000-88F6-FFC58C88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5041628" cy="3599316"/>
          </a:xfrm>
        </p:spPr>
        <p:txBody>
          <a:bodyPr>
            <a:normAutofit/>
          </a:bodyPr>
          <a:lstStyle/>
          <a:p>
            <a:r>
              <a:rPr kumimoji="1" lang="ko-KR" altLang="en-US" sz="2000" dirty="0"/>
              <a:t>개인정보 보호와 보안에는 </a:t>
            </a:r>
            <a:r>
              <a:rPr kumimoji="1" lang="en" altLang="ko-KR" sz="2000" dirty="0"/>
              <a:t>AI</a:t>
            </a:r>
            <a:r>
              <a:rPr kumimoji="1" lang="ko-KR" altLang="en-US" sz="2000" dirty="0"/>
              <a:t>와 관련된 몇 가지 의미가 있음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예를 들어</a:t>
            </a:r>
            <a:r>
              <a:rPr kumimoji="1" lang="en-US" altLang="ko-KR" dirty="0"/>
              <a:t>, </a:t>
            </a:r>
            <a:r>
              <a:rPr kumimoji="1" lang="ko-KR" altLang="en-US" dirty="0"/>
              <a:t>모델 학습에 일부 데이터를 사용하면 이 데이터는 </a:t>
            </a:r>
            <a:r>
              <a:rPr kumimoji="1" lang="ko-KR" altLang="en-US" dirty="0" err="1"/>
              <a:t>어떻게든</a:t>
            </a:r>
            <a:r>
              <a:rPr kumimoji="1" lang="ko-KR" altLang="en-US" dirty="0"/>
              <a:t> 모델에 </a:t>
            </a:r>
            <a:r>
              <a:rPr kumimoji="1" lang="en-US" altLang="ko-KR" dirty="0"/>
              <a:t>＇</a:t>
            </a:r>
            <a:r>
              <a:rPr kumimoji="1" lang="ko-KR" altLang="en-US" dirty="0"/>
              <a:t>통합</a:t>
            </a:r>
            <a:r>
              <a:rPr kumimoji="1" lang="en-US" altLang="ko-KR" dirty="0"/>
              <a:t>＇</a:t>
            </a:r>
            <a:r>
              <a:rPr kumimoji="1" lang="ko-KR" altLang="en-US" dirty="0"/>
              <a:t>됨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한편으로는 보안과 개인정보 보호가 강화되는 반면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다른 한편으로는 모델이 어떤 데이터를 기반으로 학습되었는지 기억해야 함</a:t>
            </a:r>
            <a:endParaRPr kumimoji="1" lang="en-US" altLang="ko-KR" dirty="0"/>
          </a:p>
          <a:p>
            <a:endParaRPr kumimoji="1" lang="ko-KR" altLang="en-US" sz="2000" dirty="0"/>
          </a:p>
        </p:txBody>
      </p:sp>
      <p:pic>
        <p:nvPicPr>
          <p:cNvPr id="6" name="Picture 5" descr="빨간색 조각 한 개가 있는 흰색 퍼즐">
            <a:extLst>
              <a:ext uri="{FF2B5EF4-FFF2-40B4-BE49-F238E27FC236}">
                <a16:creationId xmlns:a16="http://schemas.microsoft.com/office/drawing/2014/main" id="{427A030F-3FB0-1BC2-ECAB-A5C695D43E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09" r="24204" b="-2"/>
          <a:stretch/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563312-EC52-5DEF-773A-AAFA476F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041629" cy="1080938"/>
          </a:xfrm>
        </p:spPr>
        <p:txBody>
          <a:bodyPr>
            <a:normAutofit/>
          </a:bodyPr>
          <a:lstStyle/>
          <a:p>
            <a:r>
              <a:rPr kumimoji="1" lang="en" altLang="ko-KR"/>
              <a:t>Principles of Responsible AI</a:t>
            </a:r>
            <a:endParaRPr kumimoji="1" lang="ko-KR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33AC1-9F73-2B59-81A1-EDDDAD02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16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563312-EC52-5DEF-773A-AAFA476F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" altLang="ko-KR" sz="4800">
                <a:solidFill>
                  <a:schemeClr val="accent1"/>
                </a:solidFill>
              </a:rPr>
              <a:t>Principles of Responsible AI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9AF52-1319-E000-88F6-FFC58C88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포용성 </a:t>
            </a:r>
            <a:r>
              <a:rPr kumimoji="1" lang="en-US" altLang="ko-KR" sz="2000" dirty="0"/>
              <a:t>(inclusiveness)</a:t>
            </a:r>
          </a:p>
          <a:p>
            <a:pPr lvl="1"/>
            <a:r>
              <a:rPr kumimoji="1" lang="ko-KR" altLang="en-US" dirty="0"/>
              <a:t>사람을 대체하기 위해 </a:t>
            </a:r>
            <a:r>
              <a:rPr kumimoji="1" lang="en" altLang="ko-KR" dirty="0"/>
              <a:t>AI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구축하는 것이 아니라 사람을 보강하고 업무를 더 창의적으로 만들기 위해 </a:t>
            </a:r>
            <a:r>
              <a:rPr kumimoji="1" lang="en" altLang="ko-KR" dirty="0"/>
              <a:t>AI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구축한다는 것을 의미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또한 공정성과도 관련이 있는데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소외된 커뮤니티를 다룰 때 수집하는 대부분의 데이터 세트는 편향될 가능성이 높기 때문에 이러한 커뮤니티가 포함되고 </a:t>
            </a:r>
            <a:r>
              <a:rPr kumimoji="1" lang="en" altLang="ko-KR" dirty="0"/>
              <a:t>AI</a:t>
            </a:r>
            <a:r>
              <a:rPr kumimoji="1" lang="ko-KR" altLang="en-US" dirty="0"/>
              <a:t>가 올바르게 처리되도록 해야 함</a:t>
            </a:r>
            <a:endParaRPr kumimoji="1" lang="en-US" altLang="ko-KR" dirty="0"/>
          </a:p>
          <a:p>
            <a:endParaRPr kumimoji="1"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33AC1-9F73-2B59-81A1-EDDDAD02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30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563312-EC52-5DEF-773A-AAFA476F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" altLang="ko-KR" sz="4800">
                <a:solidFill>
                  <a:schemeClr val="accent1"/>
                </a:solidFill>
              </a:rPr>
              <a:t>Principles of Responsible AI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9AF52-1319-E000-88F6-FFC58C88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투명성 </a:t>
            </a:r>
            <a:r>
              <a:rPr kumimoji="1" lang="en-US" altLang="ko-KR" sz="2000" dirty="0"/>
              <a:t>(transparency)</a:t>
            </a: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여기에는 사용 중인 </a:t>
            </a:r>
            <a:r>
              <a:rPr kumimoji="1" lang="en" altLang="ko-KR" dirty="0"/>
              <a:t>AI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항상 투명하게 공개하는 것이 포함됨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또한 가능하면 해석 가능한 </a:t>
            </a:r>
            <a:r>
              <a:rPr kumimoji="1" lang="en" altLang="ko-KR" dirty="0"/>
              <a:t>AI </a:t>
            </a:r>
            <a:r>
              <a:rPr kumimoji="1" lang="ko-KR" altLang="en-US" dirty="0"/>
              <a:t>시스템을 사용하고자 함</a:t>
            </a:r>
            <a:endParaRPr kumimoji="1" lang="en-US" altLang="ko-KR" dirty="0"/>
          </a:p>
          <a:p>
            <a:endParaRPr kumimoji="1"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33AC1-9F73-2B59-81A1-EDDDAD02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43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563312-EC52-5DEF-773A-AAFA476F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" altLang="ko-KR" sz="4800">
                <a:solidFill>
                  <a:schemeClr val="accent1"/>
                </a:solidFill>
              </a:rPr>
              <a:t>Principles of Responsible AI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9AF52-1319-E000-88F6-FFC58C88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책임감 </a:t>
            </a:r>
            <a:r>
              <a:rPr kumimoji="1" lang="en-US" altLang="ko-KR" sz="2000" dirty="0"/>
              <a:t>(accountability)</a:t>
            </a:r>
          </a:p>
          <a:p>
            <a:pPr lvl="1"/>
            <a:r>
              <a:rPr kumimoji="1" lang="en" altLang="ko-KR" dirty="0"/>
              <a:t>AI </a:t>
            </a:r>
            <a:r>
              <a:rPr kumimoji="1" lang="ko-KR" altLang="en-US" dirty="0"/>
              <a:t>모델이 어떤 결정을 내릴 때</a:t>
            </a:r>
            <a:r>
              <a:rPr kumimoji="1" lang="en-US" altLang="ko-KR" dirty="0"/>
              <a:t>, </a:t>
            </a:r>
            <a:r>
              <a:rPr kumimoji="1" lang="ko-KR" altLang="en-US" dirty="0"/>
              <a:t>그 결정에 대한 책임이 누구에게 있는지 항상 명확하지는 않음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우리는 </a:t>
            </a:r>
            <a:r>
              <a:rPr kumimoji="1" lang="en" altLang="ko-KR" dirty="0"/>
              <a:t>AI </a:t>
            </a:r>
            <a:r>
              <a:rPr kumimoji="1" lang="ko-KR" altLang="en-US" dirty="0"/>
              <a:t>결정의 책임이 어디에 있는지 확실히 이해해야 함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대부분의 경우 우리는 중요한 결정을 내리는 과정에 사람을 포함시켜 실제 사람이 책임을 지도록 하고자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33AC1-9F73-2B59-81A1-EDDDAD02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77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1E482-879C-D0A0-71DD-7325D92B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Tools for Responsible AI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9E2057-052E-8C44-05E1-54F7DB29C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en" altLang="ko-KR" dirty="0"/>
              <a:t>Microsoft has developed the Responsible AI Toolbox which contains a set of tools:</a:t>
            </a:r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/>
              <a:t>Interpretability Dashboard (</a:t>
            </a:r>
            <a:r>
              <a:rPr kumimoji="1" lang="en" altLang="ko-KR" dirty="0" err="1"/>
              <a:t>InterpretML</a:t>
            </a:r>
            <a:r>
              <a:rPr kumimoji="1" lang="en" altLang="ko-KR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/>
              <a:t>Fairness Dashboard (</a:t>
            </a:r>
            <a:r>
              <a:rPr kumimoji="1" lang="en" altLang="ko-KR" dirty="0" err="1"/>
              <a:t>FairLearn</a:t>
            </a:r>
            <a:r>
              <a:rPr kumimoji="1" lang="en" altLang="ko-KR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/>
              <a:t>Error Analysis Dashboard</a:t>
            </a:r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/>
              <a:t>Responsible AI Dashboard that includes</a:t>
            </a:r>
          </a:p>
          <a:p>
            <a:pPr lvl="2">
              <a:buFont typeface="Wingdings" pitchFamily="2" charset="2"/>
              <a:buChar char="ü"/>
            </a:pPr>
            <a:r>
              <a:rPr kumimoji="1" lang="en" altLang="ko-KR" dirty="0" err="1"/>
              <a:t>EconML</a:t>
            </a:r>
            <a:r>
              <a:rPr kumimoji="1" lang="en" altLang="ko-KR" dirty="0"/>
              <a:t> - tool for Causal Analysis, which focuses on what-if questions</a:t>
            </a:r>
          </a:p>
          <a:p>
            <a:pPr lvl="2">
              <a:buFont typeface="Wingdings" pitchFamily="2" charset="2"/>
              <a:buChar char="ü"/>
            </a:pPr>
            <a:r>
              <a:rPr kumimoji="1" lang="en" altLang="ko-KR" dirty="0" err="1"/>
              <a:t>DiCE</a:t>
            </a:r>
            <a:r>
              <a:rPr kumimoji="1" lang="en" altLang="ko-KR" dirty="0"/>
              <a:t> - tool for Counterfactual Analysis allows you to see which features need to be changed to affect the decision of the model</a:t>
            </a:r>
          </a:p>
          <a:p>
            <a:pPr lvl="2">
              <a:buFont typeface="Wingdings" pitchFamily="2" charset="2"/>
              <a:buChar char="ü"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" altLang="ko-KR" dirty="0"/>
              <a:t>https://</a:t>
            </a:r>
            <a:r>
              <a:rPr kumimoji="1" lang="en" altLang="ko-KR" dirty="0" err="1"/>
              <a:t>github.com</a:t>
            </a:r>
            <a:r>
              <a:rPr kumimoji="1" lang="en" altLang="ko-KR" dirty="0"/>
              <a:t>/</a:t>
            </a:r>
            <a:r>
              <a:rPr kumimoji="1" lang="en" altLang="ko-KR" dirty="0" err="1"/>
              <a:t>microsoft</a:t>
            </a:r>
            <a:r>
              <a:rPr kumimoji="1" lang="en" altLang="ko-KR" dirty="0"/>
              <a:t>/</a:t>
            </a:r>
            <a:r>
              <a:rPr kumimoji="1" lang="en" altLang="ko-KR" dirty="0" err="1"/>
              <a:t>responsible-ai-toolbox?tab</a:t>
            </a:r>
            <a:r>
              <a:rPr kumimoji="1" lang="en" altLang="ko-KR" dirty="0"/>
              <a:t>=readme-</a:t>
            </a:r>
            <a:r>
              <a:rPr kumimoji="1" lang="en" altLang="ko-KR" dirty="0" err="1"/>
              <a:t>ov</a:t>
            </a:r>
            <a:r>
              <a:rPr kumimoji="1" lang="en" altLang="ko-KR" dirty="0"/>
              <a:t>-file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7B963-6FF9-5CB1-6FA8-406E609C5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27161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5485</TotalTime>
  <Words>457</Words>
  <Application>Microsoft Macintosh PowerPoint</Application>
  <PresentationFormat>와이드스크린</PresentationFormat>
  <Paragraphs>54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Trebuchet MS</vt:lpstr>
      <vt:lpstr>Wingdings</vt:lpstr>
      <vt:lpstr>베를린</vt:lpstr>
      <vt:lpstr>Ethical and Responsible AI</vt:lpstr>
      <vt:lpstr>Introduction</vt:lpstr>
      <vt:lpstr>Principles of Responsible AI</vt:lpstr>
      <vt:lpstr>Principles of Responsible AI</vt:lpstr>
      <vt:lpstr>Principles of Responsible AI</vt:lpstr>
      <vt:lpstr>Principles of Responsible AI</vt:lpstr>
      <vt:lpstr>Principles of Responsible AI</vt:lpstr>
      <vt:lpstr>Principles of Responsible AI</vt:lpstr>
      <vt:lpstr>Tools for Responsible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150</cp:revision>
  <dcterms:created xsi:type="dcterms:W3CDTF">2024-04-09T10:12:03Z</dcterms:created>
  <dcterms:modified xsi:type="dcterms:W3CDTF">2024-05-27T13:56:54Z</dcterms:modified>
</cp:coreProperties>
</file>
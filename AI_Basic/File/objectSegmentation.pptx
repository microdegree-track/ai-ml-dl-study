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1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93"/>
    <p:restoredTop sz="94694"/>
  </p:normalViewPr>
  <p:slideViewPr>
    <p:cSldViewPr snapToGrid="0">
      <p:cViewPr varScale="1">
        <p:scale>
          <a:sx n="117" d="100"/>
          <a:sy n="117" d="100"/>
        </p:scale>
        <p:origin x="17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36BBE-BFAE-9F43-B166-13FEFD314CB3}" type="datetimeFigureOut">
              <a:rPr kumimoji="1" lang="ko-KR" altLang="en-US" smtClean="0"/>
              <a:t>2024. 5. 20.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465AF-F441-2346-A316-A9FE97FE20D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34037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D7F90-C814-0C4D-B292-1B52260158C6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32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6631-B2E8-5949-9E3D-AB029F41E8D4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6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057F4-5739-B746-B898-0F942E5F0EE3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55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C826B-1F54-584A-852E-391B2B687534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7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3DAE3-FF81-8546-A688-039B0024C8BD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8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DF866-076F-3142-B7C8-09131416A95C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90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C9E19-8DB9-C84C-A36A-6FBA44461F64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9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80EF-8F9F-1042-B285-DD6EB5795424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97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BBC8A-D7F6-8B4D-928B-18CAAD860692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E16-056D-A045-9C8A-09D8C93D24F6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0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6FE23-DE78-824F-AEB7-9327F603B104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44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DCBE5-BB0D-5749-A754-D64658E0FC2C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8386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D042F-DBA4-7A43-B49D-EC395945E9DE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0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46DEF-5881-0D49-AF84-1D7F97D7A773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6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CF06F-CD6C-0149-AE1C-BC16F411653C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6730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7CBA2-8D22-3840-9729-7D140403E6C2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549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B250C0B-2BB5-5D47-92EC-F70355769266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6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F4667-600B-7648-B695-525CBB42900C}" type="datetime1">
              <a:rPr lang="ko-KR" altLang="en-US" smtClean="0"/>
              <a:t>2024. 5. 20.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579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3E715-BBCA-5C4B-2692-46B8628A2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52585"/>
            <a:ext cx="4800600" cy="3766268"/>
          </a:xfrm>
        </p:spPr>
        <p:txBody>
          <a:bodyPr anchor="t">
            <a:normAutofit/>
          </a:bodyPr>
          <a:lstStyle/>
          <a:p>
            <a:pPr algn="l"/>
            <a:r>
              <a:rPr kumimoji="1" lang="en-US" altLang="ko-KR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Object Segmentation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3CA5E-7C02-301E-B4E8-D028991509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762000"/>
            <a:ext cx="4800600" cy="1066800"/>
          </a:xfrm>
        </p:spPr>
        <p:txBody>
          <a:bodyPr>
            <a:normAutofit/>
          </a:bodyPr>
          <a:lstStyle/>
          <a:p>
            <a:pPr algn="l"/>
            <a:r>
              <a:rPr kumimoji="1" lang="en-US" altLang="ko-KR" sz="2200">
                <a:solidFill>
                  <a:schemeClr val="tx2">
                    <a:alpha val="60000"/>
                  </a:schemeClr>
                </a:solidFill>
              </a:rPr>
              <a:t>Foundation of AI</a:t>
            </a:r>
            <a:endParaRPr kumimoji="1" lang="ko-KR" altLang="en-US" sz="220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9B2E7E-708C-5264-7062-592780F0B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E0BB23-952E-CE3A-6D69-51F800C8F8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l="15523" r="21935"/>
          <a:stretch/>
        </p:blipFill>
        <p:spPr>
          <a:xfrm>
            <a:off x="6096000" y="10"/>
            <a:ext cx="6083807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1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1030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1033" name="Picture 1032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6738856-CEFA-2F9F-9731-F3D9A5956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-US" altLang="ko-KR" sz="2400">
                <a:solidFill>
                  <a:srgbClr val="FFFFFF"/>
                </a:solidFill>
              </a:rPr>
              <a:t>Segmentation</a:t>
            </a:r>
            <a:endParaRPr kumimoji="1" lang="ko-KR" altLang="en-US" sz="2400">
              <a:solidFill>
                <a:srgbClr val="FFFFFF"/>
              </a:solidFill>
            </a:endParaRPr>
          </a:p>
        </p:txBody>
      </p:sp>
      <p:pic>
        <p:nvPicPr>
          <p:cNvPr id="1039" name="Picture 1038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520D0B-E096-3072-F756-6C90D1006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2336872"/>
            <a:ext cx="4299857" cy="4338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kumimoji="1" lang="ko-KR" altLang="en-US" sz="1800" dirty="0" err="1">
                <a:solidFill>
                  <a:srgbClr val="FFFFFF"/>
                </a:solidFill>
              </a:rPr>
              <a:t>바운딩</a:t>
            </a:r>
            <a:r>
              <a:rPr kumimoji="1" lang="ko-KR" altLang="en-US" sz="1800" dirty="0">
                <a:solidFill>
                  <a:srgbClr val="FFFFFF"/>
                </a:solidFill>
              </a:rPr>
              <a:t> </a:t>
            </a:r>
            <a:r>
              <a:rPr kumimoji="1" lang="ko-KR" altLang="en-US" sz="1800" dirty="0" err="1">
                <a:solidFill>
                  <a:srgbClr val="FFFFFF"/>
                </a:solidFill>
              </a:rPr>
              <a:t>박스뿐만</a:t>
            </a:r>
            <a:r>
              <a:rPr kumimoji="1" lang="ko-KR" altLang="en-US" sz="1800" dirty="0">
                <a:solidFill>
                  <a:srgbClr val="FFFFFF"/>
                </a:solidFill>
              </a:rPr>
              <a:t> 아니라 보다 정밀한 오브젝트 </a:t>
            </a:r>
            <a:r>
              <a:rPr kumimoji="1" lang="ko-KR" altLang="en-US" sz="1800" dirty="0" err="1">
                <a:solidFill>
                  <a:srgbClr val="FFFFFF"/>
                </a:solidFill>
              </a:rPr>
              <a:t>로컬라이제이션이</a:t>
            </a:r>
            <a:r>
              <a:rPr kumimoji="1" lang="ko-KR" altLang="en-US" sz="1800" dirty="0">
                <a:solidFill>
                  <a:srgbClr val="FFFFFF"/>
                </a:solidFill>
              </a:rPr>
              <a:t> 필요한 경우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800" dirty="0">
                <a:solidFill>
                  <a:srgbClr val="FFFFFF"/>
                </a:solidFill>
              </a:rPr>
              <a:t>Segmentation</a:t>
            </a:r>
            <a:r>
              <a:rPr kumimoji="1" lang="ko-KR" altLang="en-US" sz="1800" dirty="0">
                <a:solidFill>
                  <a:srgbClr val="FFFFFF"/>
                </a:solidFill>
              </a:rPr>
              <a:t>은 픽셀 분류로 볼 수 있는데</a:t>
            </a:r>
            <a:r>
              <a:rPr kumimoji="1" lang="en-US" altLang="ko-KR" sz="1800" dirty="0">
                <a:solidFill>
                  <a:srgbClr val="FFFFFF"/>
                </a:solidFill>
              </a:rPr>
              <a:t>, </a:t>
            </a:r>
            <a:r>
              <a:rPr kumimoji="1" lang="ko-KR" altLang="en-US" sz="1800" dirty="0">
                <a:solidFill>
                  <a:srgbClr val="FFFFFF"/>
                </a:solidFill>
              </a:rPr>
              <a:t>이미지의 각 픽셀에 대해 해당 클래스</a:t>
            </a:r>
            <a:r>
              <a:rPr kumimoji="1" lang="en-US" altLang="ko-KR" sz="1800" dirty="0">
                <a:solidFill>
                  <a:srgbClr val="FFFFFF"/>
                </a:solidFill>
              </a:rPr>
              <a:t>(</a:t>
            </a:r>
            <a:r>
              <a:rPr kumimoji="1" lang="ko-KR" altLang="en-US" sz="1800" dirty="0">
                <a:solidFill>
                  <a:srgbClr val="FFFFFF"/>
                </a:solidFill>
              </a:rPr>
              <a:t>배경도 클래스 중 하나</a:t>
            </a:r>
            <a:r>
              <a:rPr kumimoji="1" lang="en-US" altLang="ko-KR" sz="1800" dirty="0">
                <a:solidFill>
                  <a:srgbClr val="FFFFFF"/>
                </a:solidFill>
              </a:rPr>
              <a:t>)</a:t>
            </a:r>
            <a:r>
              <a:rPr kumimoji="1" lang="ko-KR" altLang="en-US" sz="1800" dirty="0" err="1">
                <a:solidFill>
                  <a:srgbClr val="FFFFFF"/>
                </a:solidFill>
              </a:rPr>
              <a:t>를</a:t>
            </a:r>
            <a:r>
              <a:rPr kumimoji="1" lang="ko-KR" altLang="en-US" sz="1800" dirty="0">
                <a:solidFill>
                  <a:srgbClr val="FFFFFF"/>
                </a:solidFill>
              </a:rPr>
              <a:t> 예측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800" dirty="0">
                <a:solidFill>
                  <a:srgbClr val="FFFFFF"/>
                </a:solidFill>
              </a:rPr>
              <a:t>Segmentation</a:t>
            </a:r>
            <a:r>
              <a:rPr kumimoji="1" lang="ko-KR" altLang="en-US" sz="1800" dirty="0">
                <a:solidFill>
                  <a:srgbClr val="FFFFFF"/>
                </a:solidFill>
              </a:rPr>
              <a:t> 알고리즘에는 크게 두 가지가 있음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Ø"/>
            </a:pPr>
            <a:r>
              <a:rPr kumimoji="1" lang="ko-KR" altLang="en-US" sz="1800" dirty="0" err="1">
                <a:solidFill>
                  <a:srgbClr val="FFFFFF"/>
                </a:solidFill>
              </a:rPr>
              <a:t>시맨틱</a:t>
            </a:r>
            <a:r>
              <a:rPr kumimoji="1" lang="ko-KR" altLang="en-US" sz="1800" dirty="0">
                <a:solidFill>
                  <a:srgbClr val="FFFFFF"/>
                </a:solidFill>
              </a:rPr>
              <a:t> 분할은 픽셀 클래스만 알려주고 같은 클래스의 다른 객체를 구분하지 않음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Ø"/>
            </a:pPr>
            <a:r>
              <a:rPr kumimoji="1" lang="ko-KR" altLang="en-US" sz="1800" dirty="0">
                <a:solidFill>
                  <a:srgbClr val="FFFFFF"/>
                </a:solidFill>
              </a:rPr>
              <a:t>인스턴스 세분화는 클래스를 여러 인스턴스로 나눔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pPr lvl="1">
              <a:lnSpc>
                <a:spcPct val="110000"/>
              </a:lnSpc>
              <a:buFont typeface="Wingdings" pitchFamily="2" charset="2"/>
              <a:buChar char="Ø"/>
            </a:pPr>
            <a:r>
              <a:rPr kumimoji="1" lang="ko-KR" altLang="en-US" sz="1800" dirty="0">
                <a:solidFill>
                  <a:srgbClr val="FFFFFF"/>
                </a:solidFill>
              </a:rPr>
              <a:t>인스턴스 세분화의 경우 양</a:t>
            </a:r>
            <a:r>
              <a:rPr kumimoji="1" lang="en-US" altLang="ko-KR" sz="1800" dirty="0">
                <a:solidFill>
                  <a:srgbClr val="FFFFFF"/>
                </a:solidFill>
              </a:rPr>
              <a:t>(sheep)</a:t>
            </a:r>
            <a:r>
              <a:rPr kumimoji="1" lang="ko-KR" altLang="en-US" sz="1800" dirty="0">
                <a:solidFill>
                  <a:srgbClr val="FFFFFF"/>
                </a:solidFill>
              </a:rPr>
              <a:t>은 서로 다른 객체이지만 의미적 세분화의 경우 모든 양은 하나의 클래스로 표현</a:t>
            </a:r>
          </a:p>
        </p:txBody>
      </p:sp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B35B50-BC84-56C0-B356-D73E334F0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3085" y="1314627"/>
            <a:ext cx="5629268" cy="4221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625C8E-AC49-8562-A89C-ED81A72E1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4077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54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65" name="Picture 2056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2066" name="Rectangle 2058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7" name="Rectangle 2060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D6B25DD-C584-0605-C716-583C1EDD3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-US" altLang="ko-KR" sz="2400" dirty="0"/>
              <a:t>Segmentation (cont’d)</a:t>
            </a:r>
            <a:endParaRPr kumimoji="1" lang="ko-KR" altLang="en-US" sz="2400" dirty="0"/>
          </a:p>
        </p:txBody>
      </p:sp>
      <p:pic>
        <p:nvPicPr>
          <p:cNvPr id="2063" name="Picture 2062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799E7F-4CBE-B6B6-191D-8A7450134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2336872"/>
            <a:ext cx="4184210" cy="43385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2000" dirty="0"/>
              <a:t>Segmentation</a:t>
            </a:r>
            <a:r>
              <a:rPr kumimoji="1" lang="ko-KR" altLang="en-US" sz="2000" dirty="0"/>
              <a:t>의</a:t>
            </a:r>
            <a:r>
              <a:rPr kumimoji="1" lang="en-US" altLang="ko-KR" sz="2000" dirty="0"/>
              <a:t> neural architecture</a:t>
            </a:r>
            <a:r>
              <a:rPr kumimoji="1" lang="ko-KR" altLang="en-US" sz="2000" dirty="0"/>
              <a:t>는 여러 가지가 있지만 모두 동일한 구조를 가지고 있음</a:t>
            </a:r>
            <a:endParaRPr kumimoji="1" lang="en-US" altLang="ko-KR" sz="2000" dirty="0"/>
          </a:p>
          <a:p>
            <a:pPr lvl="1">
              <a:lnSpc>
                <a:spcPct val="110000"/>
              </a:lnSpc>
              <a:buFont typeface="Wingdings" pitchFamily="2" charset="2"/>
              <a:buChar char="Ø"/>
            </a:pPr>
            <a:r>
              <a:rPr kumimoji="1" lang="ko-KR" altLang="en-US" dirty="0"/>
              <a:t>자동 인코더와 비슷하지만</a:t>
            </a:r>
            <a:r>
              <a:rPr kumimoji="1" lang="en-US" altLang="ko-KR" dirty="0"/>
              <a:t>, </a:t>
            </a:r>
            <a:r>
              <a:rPr kumimoji="1" lang="ko-KR" altLang="en-US" dirty="0"/>
              <a:t>원본 이미지를 분해하는 것이 아니라 마스크를 분해하는 것이 목표</a:t>
            </a:r>
            <a:endParaRPr kumimoji="1" lang="en-US" altLang="ko-KR" dirty="0"/>
          </a:p>
          <a:p>
            <a:pPr lvl="1">
              <a:lnSpc>
                <a:spcPct val="110000"/>
              </a:lnSpc>
              <a:buFont typeface="Wingdings" pitchFamily="2" charset="2"/>
              <a:buChar char="Ø"/>
            </a:pPr>
            <a:r>
              <a:rPr kumimoji="1" lang="ko-KR" altLang="en-US" dirty="0"/>
              <a:t>따라서 분할 네트워크는 다음과 같은 부분으로 구성</a:t>
            </a:r>
            <a:endParaRPr kumimoji="1" lang="en-US" altLang="ko-KR" dirty="0"/>
          </a:p>
          <a:p>
            <a:pPr lvl="2">
              <a:lnSpc>
                <a:spcPct val="110000"/>
              </a:lnSpc>
              <a:buFont typeface="Wingdings" pitchFamily="2" charset="2"/>
              <a:buChar char="ü"/>
            </a:pPr>
            <a:r>
              <a:rPr kumimoji="1" lang="ko-KR" altLang="en-US" sz="2000" dirty="0"/>
              <a:t>인코더는 입력 이미지에서 특징을 추출</a:t>
            </a:r>
            <a:endParaRPr kumimoji="1" lang="en-US" altLang="ko-KR" sz="2000" dirty="0"/>
          </a:p>
          <a:p>
            <a:pPr lvl="2">
              <a:lnSpc>
                <a:spcPct val="110000"/>
              </a:lnSpc>
              <a:buFont typeface="Wingdings" pitchFamily="2" charset="2"/>
              <a:buChar char="ü"/>
            </a:pPr>
            <a:r>
              <a:rPr kumimoji="1" lang="ko-KR" altLang="en-US" sz="2000" dirty="0" err="1"/>
              <a:t>디코더는</a:t>
            </a:r>
            <a:r>
              <a:rPr kumimoji="1" lang="ko-KR" altLang="en-US" sz="2000" dirty="0"/>
              <a:t> 이러한 특징을 클래스 수에 해당하는 동일한 크기와 채널 수로 마스크 이미지로 변환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FA89550-F22D-2465-5430-95B5FC57A8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32205" y="2535599"/>
            <a:ext cx="7292785" cy="2078442"/>
          </a:xfrm>
          <a:prstGeom prst="rect">
            <a:avLst/>
          </a:prstGeo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B555DB-CF96-2B19-74B6-C668C973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945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DD677A2-D82B-B41E-91F7-61952718D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kumimoji="1" lang="en-US" altLang="ko-KR" sz="4400">
                <a:solidFill>
                  <a:srgbClr val="FFFFFF"/>
                </a:solidFill>
              </a:rPr>
              <a:t>Segmentation (cont’d)</a:t>
            </a:r>
            <a:endParaRPr kumimoji="1" lang="ko-KR" altLang="en-US" sz="4400">
              <a:solidFill>
                <a:srgbClr val="FFFFFF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3AC06C-EF53-D2AC-14C7-6E27FD71C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7995" y="661106"/>
            <a:ext cx="6257362" cy="5503101"/>
          </a:xfrm>
        </p:spPr>
        <p:txBody>
          <a:bodyPr anchor="ctr">
            <a:normAutofit/>
          </a:bodyPr>
          <a:lstStyle/>
          <a:p>
            <a:r>
              <a:rPr kumimoji="1" lang="en-US" altLang="ko-KR" sz="2000" dirty="0">
                <a:solidFill>
                  <a:srgbClr val="FFFFFF"/>
                </a:solidFill>
              </a:rPr>
              <a:t>Segmentation</a:t>
            </a:r>
            <a:r>
              <a:rPr kumimoji="1" lang="ko-KR" altLang="en-US" sz="2000" dirty="0" err="1">
                <a:solidFill>
                  <a:srgbClr val="FFFFFF"/>
                </a:solidFill>
              </a:rPr>
              <a:t>에</a:t>
            </a:r>
            <a:r>
              <a:rPr kumimoji="1" lang="ko-KR" altLang="en-US" sz="2000" dirty="0">
                <a:solidFill>
                  <a:srgbClr val="FFFFFF"/>
                </a:solidFill>
              </a:rPr>
              <a:t> 사용되는 손실 함수</a:t>
            </a:r>
            <a:endParaRPr kumimoji="1" lang="en-US" altLang="ko-KR" sz="20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기존 자동 인코더를 사용할 때는 두 이미지 간의 유사성을 측정해야 하며</a:t>
            </a:r>
            <a:r>
              <a:rPr kumimoji="1" lang="en-US" altLang="ko-KR" dirty="0">
                <a:solidFill>
                  <a:srgbClr val="FFFFFF"/>
                </a:solidFill>
              </a:rPr>
              <a:t>, </a:t>
            </a:r>
            <a:r>
              <a:rPr kumimoji="1" lang="ko-KR" altLang="en-US" dirty="0">
                <a:solidFill>
                  <a:srgbClr val="FFFFFF"/>
                </a:solidFill>
              </a:rPr>
              <a:t>이를 위해 </a:t>
            </a:r>
            <a:r>
              <a:rPr kumimoji="1" lang="ko-KR" altLang="en-US" dirty="0" err="1">
                <a:solidFill>
                  <a:srgbClr val="FFFFFF"/>
                </a:solidFill>
              </a:rPr>
              <a:t>평균제곱오차</a:t>
            </a:r>
            <a:r>
              <a:rPr kumimoji="1" lang="en-US" altLang="ko-KR" dirty="0">
                <a:solidFill>
                  <a:srgbClr val="FFFFFF"/>
                </a:solidFill>
              </a:rPr>
              <a:t>(</a:t>
            </a:r>
            <a:r>
              <a:rPr kumimoji="1" lang="en" altLang="ko-KR" dirty="0">
                <a:solidFill>
                  <a:srgbClr val="FFFFFF"/>
                </a:solidFill>
              </a:rPr>
              <a:t>MSE)</a:t>
            </a:r>
            <a:r>
              <a:rPr kumimoji="1" lang="ko-KR" altLang="en-US" dirty="0" err="1">
                <a:solidFill>
                  <a:srgbClr val="FFFFFF"/>
                </a:solidFill>
              </a:rPr>
              <a:t>를</a:t>
            </a:r>
            <a:r>
              <a:rPr kumimoji="1" lang="ko-KR" altLang="en-US" dirty="0">
                <a:solidFill>
                  <a:srgbClr val="FFFFFF"/>
                </a:solidFill>
              </a:rPr>
              <a:t> 사용할 수 있음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en-US" altLang="ko-KR" dirty="0">
                <a:solidFill>
                  <a:srgbClr val="FFFFFF"/>
                </a:solidFill>
              </a:rPr>
              <a:t>segmentation</a:t>
            </a:r>
            <a:r>
              <a:rPr kumimoji="1" lang="ko-KR" altLang="en-US" dirty="0">
                <a:solidFill>
                  <a:srgbClr val="FFFFFF"/>
                </a:solidFill>
              </a:rPr>
              <a:t>에서 대상 마스크 이미지의 각 픽셀은 클래스 번호</a:t>
            </a:r>
            <a:r>
              <a:rPr kumimoji="1" lang="en-US" altLang="ko-KR" dirty="0">
                <a:solidFill>
                  <a:srgbClr val="FFFFFF"/>
                </a:solidFill>
              </a:rPr>
              <a:t>(3</a:t>
            </a:r>
            <a:r>
              <a:rPr kumimoji="1" lang="ko-KR" altLang="en-US" dirty="0">
                <a:solidFill>
                  <a:srgbClr val="FFFFFF"/>
                </a:solidFill>
              </a:rPr>
              <a:t>차원을 따라 </a:t>
            </a:r>
            <a:r>
              <a:rPr kumimoji="1" lang="en-US" altLang="ko-KR" dirty="0">
                <a:solidFill>
                  <a:srgbClr val="FFFFFF"/>
                </a:solidFill>
              </a:rPr>
              <a:t>one hot encoding</a:t>
            </a:r>
            <a:r>
              <a:rPr kumimoji="1" lang="ko-KR" altLang="en-US" dirty="0">
                <a:solidFill>
                  <a:srgbClr val="FFFFFF"/>
                </a:solidFill>
              </a:rPr>
              <a:t>됨</a:t>
            </a:r>
            <a:r>
              <a:rPr kumimoji="1" lang="en-US" altLang="ko-KR" dirty="0">
                <a:solidFill>
                  <a:srgbClr val="FFFFFF"/>
                </a:solidFill>
              </a:rPr>
              <a:t>)</a:t>
            </a:r>
            <a:r>
              <a:rPr kumimoji="1" lang="ko-KR" altLang="en-US" dirty="0" err="1">
                <a:solidFill>
                  <a:srgbClr val="FFFFFF"/>
                </a:solidFill>
              </a:rPr>
              <a:t>를</a:t>
            </a:r>
            <a:r>
              <a:rPr kumimoji="1" lang="ko-KR" altLang="en-US" dirty="0">
                <a:solidFill>
                  <a:srgbClr val="FFFFFF"/>
                </a:solidFill>
              </a:rPr>
              <a:t> 나타내므로 분류에 특화된 손실 함수인 교차 엔트로피 손실</a:t>
            </a:r>
            <a:r>
              <a:rPr kumimoji="1" lang="en-US" altLang="ko-KR" dirty="0">
                <a:solidFill>
                  <a:srgbClr val="FFFFFF"/>
                </a:solidFill>
              </a:rPr>
              <a:t>(</a:t>
            </a:r>
            <a:r>
              <a:rPr kumimoji="1" lang="ko-KR" altLang="en-US" dirty="0">
                <a:solidFill>
                  <a:srgbClr val="FFFFFF"/>
                </a:solidFill>
              </a:rPr>
              <a:t>모든 픽셀에 평균을 낸 값</a:t>
            </a:r>
            <a:r>
              <a:rPr kumimoji="1" lang="en-US" altLang="ko-KR" dirty="0">
                <a:solidFill>
                  <a:srgbClr val="FFFFFF"/>
                </a:solidFill>
              </a:rPr>
              <a:t>)</a:t>
            </a:r>
            <a:r>
              <a:rPr kumimoji="1" lang="ko-KR" altLang="en-US" dirty="0">
                <a:solidFill>
                  <a:srgbClr val="FFFFFF"/>
                </a:solidFill>
              </a:rPr>
              <a:t>을 사용해야</a:t>
            </a:r>
            <a:r>
              <a:rPr kumimoji="1" lang="en-US" altLang="ko-KR" dirty="0">
                <a:solidFill>
                  <a:srgbClr val="FFFFFF"/>
                </a:solidFill>
              </a:rPr>
              <a:t> </a:t>
            </a:r>
            <a:r>
              <a:rPr kumimoji="1" lang="ko-KR" altLang="en-US" dirty="0">
                <a:solidFill>
                  <a:srgbClr val="FFFFFF"/>
                </a:solidFill>
              </a:rPr>
              <a:t>함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dirty="0">
                <a:solidFill>
                  <a:srgbClr val="FFFFFF"/>
                </a:solidFill>
              </a:rPr>
              <a:t>마스크가 이진인 경우 이진 교차 엔트로피 손실</a:t>
            </a:r>
            <a:r>
              <a:rPr kumimoji="1" lang="en-US" altLang="ko-KR" dirty="0">
                <a:solidFill>
                  <a:srgbClr val="FFFFFF"/>
                </a:solidFill>
              </a:rPr>
              <a:t>(</a:t>
            </a:r>
            <a:r>
              <a:rPr kumimoji="1" lang="en" altLang="ko-KR" dirty="0">
                <a:solidFill>
                  <a:srgbClr val="FFFFFF"/>
                </a:solidFill>
              </a:rPr>
              <a:t>BCE)</a:t>
            </a:r>
            <a:r>
              <a:rPr kumimoji="1" lang="ko-KR" altLang="en-US" dirty="0">
                <a:solidFill>
                  <a:srgbClr val="FFFFFF"/>
                </a:solidFill>
              </a:rPr>
              <a:t>이 사용됨</a:t>
            </a:r>
            <a:endParaRPr kumimoji="1" lang="en-US" altLang="ko-KR" dirty="0">
              <a:solidFill>
                <a:srgbClr val="FFFFFF"/>
              </a:solidFill>
            </a:endParaRPr>
          </a:p>
          <a:p>
            <a:endParaRPr kumimoji="1" lang="ko-KR" altLang="en-US" sz="2000" dirty="0">
              <a:solidFill>
                <a:srgbClr val="FFFFFF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C152D2-CF31-A439-1ADB-EFD5D818E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1776" y="6164207"/>
            <a:ext cx="722655" cy="3657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05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403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3078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3081" name="Picture 3080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83" name="Rectangle 3082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DD8A50-760C-465D-C2FB-E726838F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kumimoji="1" lang="en" altLang="ko-KR" sz="2400">
                <a:solidFill>
                  <a:srgbClr val="FFFFFF"/>
                </a:solidFill>
              </a:rPr>
              <a:t>Segmentation for Medical Imaging</a:t>
            </a:r>
            <a:endParaRPr kumimoji="1" lang="ko-KR" altLang="en-US" sz="2400">
              <a:solidFill>
                <a:srgbClr val="FFFFFF"/>
              </a:solidFill>
            </a:endParaRPr>
          </a:p>
        </p:txBody>
      </p:sp>
      <p:pic>
        <p:nvPicPr>
          <p:cNvPr id="3087" name="Picture 3086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5B4193-DD9B-1D86-DE82-6F2218906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15" y="2336873"/>
            <a:ext cx="4195096" cy="4211072"/>
          </a:xfrm>
        </p:spPr>
        <p:txBody>
          <a:bodyPr>
            <a:normAutofit/>
          </a:bodyPr>
          <a:lstStyle/>
          <a:p>
            <a:r>
              <a:rPr kumimoji="1" lang="ko-KR" altLang="en-US" sz="1800" dirty="0">
                <a:solidFill>
                  <a:srgbClr val="FFFFFF"/>
                </a:solidFill>
              </a:rPr>
              <a:t>의료 이미지에서 사람의 모반</a:t>
            </a:r>
            <a:r>
              <a:rPr kumimoji="1" lang="en-US" altLang="ko-KR" sz="1800" dirty="0">
                <a:solidFill>
                  <a:srgbClr val="FFFFFF"/>
                </a:solidFill>
              </a:rPr>
              <a:t>(</a:t>
            </a:r>
            <a:r>
              <a:rPr kumimoji="1" lang="ko-KR" altLang="en-US" sz="1800" dirty="0">
                <a:solidFill>
                  <a:srgbClr val="FFFFFF"/>
                </a:solidFill>
              </a:rPr>
              <a:t>점이라고도 함</a:t>
            </a:r>
            <a:r>
              <a:rPr kumimoji="1" lang="en-US" altLang="ko-KR" sz="1800" dirty="0">
                <a:solidFill>
                  <a:srgbClr val="FFFFFF"/>
                </a:solidFill>
              </a:rPr>
              <a:t>)</a:t>
            </a:r>
            <a:r>
              <a:rPr kumimoji="1" lang="ko-KR" altLang="en-US" sz="1800" dirty="0">
                <a:solidFill>
                  <a:srgbClr val="FFFFFF"/>
                </a:solidFill>
              </a:rPr>
              <a:t>을 인식하도록 네트워크를 훈련시켜 세그먼테이션이 실제로 어떻게 작동하는지 확인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>
                <a:solidFill>
                  <a:srgbClr val="FFFFFF"/>
                </a:solidFill>
              </a:rPr>
              <a:t>이미지 소스로는 피부 촬영술 이미지의 </a:t>
            </a:r>
            <a:r>
              <a:rPr kumimoji="1" lang="en" altLang="ko-KR" sz="1800" dirty="0">
                <a:solidFill>
                  <a:srgbClr val="FFFFFF"/>
                </a:solidFill>
              </a:rPr>
              <a:t>PH</a:t>
            </a:r>
            <a:r>
              <a:rPr kumimoji="1" lang="en" altLang="ko-KR" sz="1800" baseline="30000" dirty="0">
                <a:solidFill>
                  <a:srgbClr val="FFFFFF"/>
                </a:solidFill>
              </a:rPr>
              <a:t>2</a:t>
            </a:r>
            <a:r>
              <a:rPr kumimoji="1" lang="en" altLang="ko-KR" sz="1800" dirty="0">
                <a:solidFill>
                  <a:srgbClr val="FFFFFF"/>
                </a:solidFill>
              </a:rPr>
              <a:t> </a:t>
            </a:r>
            <a:r>
              <a:rPr kumimoji="1" lang="ko-KR" altLang="en-US" sz="1800" dirty="0">
                <a:solidFill>
                  <a:srgbClr val="FFFFFF"/>
                </a:solidFill>
              </a:rPr>
              <a:t>데이터베이스를 사용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>
                <a:solidFill>
                  <a:srgbClr val="FFFFFF"/>
                </a:solidFill>
              </a:rPr>
              <a:t>이 데이터 세트에는 전형적인 모반</a:t>
            </a:r>
            <a:r>
              <a:rPr kumimoji="1" lang="en-US" altLang="ko-KR" sz="1800" dirty="0">
                <a:solidFill>
                  <a:srgbClr val="FFFFFF"/>
                </a:solidFill>
              </a:rPr>
              <a:t>, </a:t>
            </a:r>
            <a:r>
              <a:rPr kumimoji="1" lang="ko-KR" altLang="en-US" sz="1800" dirty="0">
                <a:solidFill>
                  <a:srgbClr val="FFFFFF"/>
                </a:solidFill>
              </a:rPr>
              <a:t>비정형 모반</a:t>
            </a:r>
            <a:r>
              <a:rPr kumimoji="1" lang="en-US" altLang="ko-KR" sz="1800" dirty="0">
                <a:solidFill>
                  <a:srgbClr val="FFFFFF"/>
                </a:solidFill>
              </a:rPr>
              <a:t>, </a:t>
            </a:r>
            <a:r>
              <a:rPr kumimoji="1" lang="ko-KR" altLang="en-US" sz="1800" dirty="0">
                <a:solidFill>
                  <a:srgbClr val="FFFFFF"/>
                </a:solidFill>
              </a:rPr>
              <a:t>흑색종 등 세 가지 종류의 이미지 </a:t>
            </a:r>
            <a:r>
              <a:rPr kumimoji="1" lang="en-US" altLang="ko-KR" sz="1800" dirty="0">
                <a:solidFill>
                  <a:srgbClr val="FFFFFF"/>
                </a:solidFill>
              </a:rPr>
              <a:t>200</a:t>
            </a:r>
            <a:r>
              <a:rPr kumimoji="1" lang="ko-KR" altLang="en-US" sz="1800" dirty="0">
                <a:solidFill>
                  <a:srgbClr val="FFFFFF"/>
                </a:solidFill>
              </a:rPr>
              <a:t>개가 포함되어 있음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>
                <a:solidFill>
                  <a:srgbClr val="FFFFFF"/>
                </a:solidFill>
              </a:rPr>
              <a:t>모든 이미지에는 모반의 윤곽을 나타내는 해당 마스크도 포함되어 있음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pPr lvl="1">
              <a:buFont typeface="Wingdings" pitchFamily="2" charset="2"/>
              <a:buChar char="Ø"/>
            </a:pPr>
            <a:r>
              <a:rPr kumimoji="1" lang="ko-KR" altLang="en-US" sz="1800" dirty="0">
                <a:solidFill>
                  <a:srgbClr val="FFFFFF"/>
                </a:solidFill>
              </a:rPr>
              <a:t>모반을 배경에서 구분할 수 있도록 모델을 학습</a:t>
            </a:r>
            <a:endParaRPr kumimoji="1" lang="en-US" altLang="ko-KR" sz="1800" dirty="0">
              <a:solidFill>
                <a:srgbClr val="FFFFFF"/>
              </a:solidFill>
            </a:endParaRPr>
          </a:p>
          <a:p>
            <a:endParaRPr kumimoji="1" lang="ko-KR" altLang="en-US" sz="1800" dirty="0">
              <a:solidFill>
                <a:srgbClr val="FFFFFF"/>
              </a:solidFill>
            </a:endParaRPr>
          </a:p>
        </p:txBody>
      </p:sp>
      <p:sp useBgFill="1">
        <p:nvSpPr>
          <p:cNvPr id="3089" name="Rectangle 3088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navi">
            <a:extLst>
              <a:ext uri="{FF2B5EF4-FFF2-40B4-BE49-F238E27FC236}">
                <a16:creationId xmlns:a16="http://schemas.microsoft.com/office/drawing/2014/main" id="{20FFC75F-A757-5677-288F-33540013D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3085" y="2249028"/>
            <a:ext cx="5629268" cy="235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1D91A9-6431-2C26-1BFA-664EF63D0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0372" y="6310314"/>
            <a:ext cx="914400" cy="36512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sz="1050">
                <a:solidFill>
                  <a:prstClr val="white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05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078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2E911EF-80F5-4781-A4DF-44EFAF242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0A2A734-17E4-44D5-9630-D54D6AF74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EFFB5C33-24B2-4764-BDBD-4C10A21DB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88808" y="0"/>
            <a:ext cx="340319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EB601E2-EFED-4313-BEE4-9E27B94FC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2852"/>
            <a:ext cx="9110541" cy="24655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425DB5A-CEE1-4EE1-8C4A-689E49D35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590078"/>
            <a:ext cx="9110542" cy="16603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AB6C8C1-5E21-F0C9-5CD3-B807B8058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10" y="2733709"/>
            <a:ext cx="7657792" cy="13730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latinLnBrk="0"/>
            <a:r>
              <a:rPr kumimoji="1" lang="en-US" altLang="ko-KR" sz="3400" dirty="0" err="1">
                <a:solidFill>
                  <a:srgbClr val="FFFFFF"/>
                </a:solidFill>
              </a:rPr>
              <a:t>SemanticSegmentationPytorch.ipynb</a:t>
            </a:r>
            <a:endParaRPr kumimoji="1" lang="en-US" altLang="ko-KR" sz="3400" dirty="0">
              <a:solidFill>
                <a:srgbClr val="FFFFFF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009F3B-3A86-0C3B-5616-2FE5F42A5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8844951-7827-47D4-8276-7DDE1FA7D85A}" type="slidenum"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6</a:t>
            </a:fld>
            <a:endParaRPr lang="en-US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2447589"/>
      </p:ext>
    </p:extLst>
  </p:cSld>
  <p:clrMapOvr>
    <a:masterClrMapping/>
  </p:clrMapOvr>
</p:sld>
</file>

<file path=ppt/theme/theme1.xml><?xml version="1.0" encoding="utf-8"?>
<a:theme xmlns:a="http://schemas.openxmlformats.org/drawingml/2006/main" name="베를린">
  <a:themeElements>
    <a:clrScheme name="베를린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베를린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베를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2387</TotalTime>
  <Words>287</Words>
  <Application>Microsoft Macintosh PowerPoint</Application>
  <PresentationFormat>와이드스크린</PresentationFormat>
  <Paragraphs>33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Trebuchet MS</vt:lpstr>
      <vt:lpstr>Wingdings</vt:lpstr>
      <vt:lpstr>베를린</vt:lpstr>
      <vt:lpstr>Object Segmentation</vt:lpstr>
      <vt:lpstr>Segmentation</vt:lpstr>
      <vt:lpstr>Segmentation (cont’d)</vt:lpstr>
      <vt:lpstr>Segmentation (cont’d)</vt:lpstr>
      <vt:lpstr>Segmentation for Medical Imaging</vt:lpstr>
      <vt:lpstr>SemanticSegmentationPytorch.ipynb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</dc:title>
  <dc:creator>백우진</dc:creator>
  <cp:lastModifiedBy>백우진</cp:lastModifiedBy>
  <cp:revision>89</cp:revision>
  <dcterms:created xsi:type="dcterms:W3CDTF">2024-04-09T10:12:03Z</dcterms:created>
  <dcterms:modified xsi:type="dcterms:W3CDTF">2024-05-20T14:37:48Z</dcterms:modified>
</cp:coreProperties>
</file>
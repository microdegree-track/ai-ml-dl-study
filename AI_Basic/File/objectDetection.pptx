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3"/>
    <p:restoredTop sz="94694"/>
  </p:normalViewPr>
  <p:slideViewPr>
    <p:cSldViewPr snapToGrid="0">
      <p:cViewPr varScale="1">
        <p:scale>
          <a:sx n="117" d="100"/>
          <a:sy n="117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3A346A-7A5B-4F0D-9F6F-2E12016E00D7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BB59D8-6013-4AAB-83BF-AE316848F1BE}">
      <dgm:prSet/>
      <dgm:spPr/>
      <dgm:t>
        <a:bodyPr/>
        <a:lstStyle/>
        <a:p>
          <a:r>
            <a:rPr kumimoji="1" lang="en-US"/>
            <a:t>Regional Proposal Networks (R-CNN, Fast</a:t>
          </a:r>
          <a:r>
            <a:rPr kumimoji="1" lang="ko-KR"/>
            <a:t> </a:t>
          </a:r>
          <a:r>
            <a:rPr kumimoji="1" lang="en-US"/>
            <a:t>R-CNN, Faster R-CNN)</a:t>
          </a:r>
          <a:endParaRPr lang="en-US"/>
        </a:p>
      </dgm:t>
    </dgm:pt>
    <dgm:pt modelId="{AAD73B74-59B3-4FB9-B4D5-FB4BCC013202}" type="parTrans" cxnId="{5FF8A1EF-F2A1-4BCB-93B3-1C1957F5D34A}">
      <dgm:prSet/>
      <dgm:spPr/>
      <dgm:t>
        <a:bodyPr/>
        <a:lstStyle/>
        <a:p>
          <a:endParaRPr lang="en-US"/>
        </a:p>
      </dgm:t>
    </dgm:pt>
    <dgm:pt modelId="{8D6F01E3-BF79-4EF2-AB58-CB267A7E601F}" type="sibTrans" cxnId="{5FF8A1EF-F2A1-4BCB-93B3-1C1957F5D34A}">
      <dgm:prSet/>
      <dgm:spPr/>
      <dgm:t>
        <a:bodyPr/>
        <a:lstStyle/>
        <a:p>
          <a:endParaRPr lang="en-US"/>
        </a:p>
      </dgm:t>
    </dgm:pt>
    <dgm:pt modelId="{2AC38AD9-7733-4D29-B4CD-F6174E4AF844}">
      <dgm:prSet/>
      <dgm:spPr/>
      <dgm:t>
        <a:bodyPr/>
        <a:lstStyle/>
        <a:p>
          <a:r>
            <a:rPr kumimoji="1" lang="en-US"/>
            <a:t>Region of Interest (ROI)</a:t>
          </a:r>
          <a:r>
            <a:rPr kumimoji="1" lang="ko-KR"/>
            <a:t>를 생성하고 그 위에 </a:t>
          </a:r>
          <a:r>
            <a:rPr kumimoji="1" lang="en-US"/>
            <a:t>CNN</a:t>
          </a:r>
          <a:r>
            <a:rPr kumimoji="1" lang="ko-KR"/>
            <a:t>을 실행하여 최대 활성화를 찾음</a:t>
          </a:r>
          <a:endParaRPr lang="en-US"/>
        </a:p>
      </dgm:t>
    </dgm:pt>
    <dgm:pt modelId="{788AA7DF-3571-44A1-815A-BA702C6316E7}" type="parTrans" cxnId="{3FB2B567-0190-4903-9960-198A074D6D0E}">
      <dgm:prSet/>
      <dgm:spPr/>
      <dgm:t>
        <a:bodyPr/>
        <a:lstStyle/>
        <a:p>
          <a:endParaRPr lang="en-US"/>
        </a:p>
      </dgm:t>
    </dgm:pt>
    <dgm:pt modelId="{7538A81F-2773-4E03-B394-F111ACEA65B0}" type="sibTrans" cxnId="{3FB2B567-0190-4903-9960-198A074D6D0E}">
      <dgm:prSet/>
      <dgm:spPr/>
      <dgm:t>
        <a:bodyPr/>
        <a:lstStyle/>
        <a:p>
          <a:endParaRPr lang="en-US"/>
        </a:p>
      </dgm:t>
    </dgm:pt>
    <dgm:pt modelId="{3AB01732-B592-43A7-9BE6-88FE36F0C762}">
      <dgm:prSet/>
      <dgm:spPr/>
      <dgm:t>
        <a:bodyPr/>
        <a:lstStyle/>
        <a:p>
          <a:r>
            <a:rPr kumimoji="1" lang="en-US"/>
            <a:t>ROI</a:t>
          </a:r>
          <a:r>
            <a:rPr kumimoji="1" lang="ko-KR"/>
            <a:t>가 좀 더 영리한 방식으로 생성된다는 점을 제외하면 단순한 접근 방식과 유사</a:t>
          </a:r>
          <a:endParaRPr lang="en-US"/>
        </a:p>
      </dgm:t>
    </dgm:pt>
    <dgm:pt modelId="{B843226F-779C-40EC-A7A9-422FA490EA29}" type="parTrans" cxnId="{9BF195E1-28E4-48A7-AE5E-876EE0D7CFEC}">
      <dgm:prSet/>
      <dgm:spPr/>
      <dgm:t>
        <a:bodyPr/>
        <a:lstStyle/>
        <a:p>
          <a:endParaRPr lang="en-US"/>
        </a:p>
      </dgm:t>
    </dgm:pt>
    <dgm:pt modelId="{D2EABC22-F619-4F96-A6E9-7D03216AC626}" type="sibTrans" cxnId="{9BF195E1-28E4-48A7-AE5E-876EE0D7CFEC}">
      <dgm:prSet/>
      <dgm:spPr/>
      <dgm:t>
        <a:bodyPr/>
        <a:lstStyle/>
        <a:p>
          <a:endParaRPr lang="en-US"/>
        </a:p>
      </dgm:t>
    </dgm:pt>
    <dgm:pt modelId="{8D0B1D0A-5DB4-4A80-A0E1-9E5FA13FD347}">
      <dgm:prSet/>
      <dgm:spPr/>
      <dgm:t>
        <a:bodyPr/>
        <a:lstStyle/>
        <a:p>
          <a:r>
            <a:rPr kumimoji="1" lang="ko-KR"/>
            <a:t>단점</a:t>
          </a:r>
          <a:r>
            <a:rPr kumimoji="1" lang="en-US"/>
            <a:t>:</a:t>
          </a:r>
          <a:r>
            <a:rPr kumimoji="1" lang="ko-KR"/>
            <a:t> 이미지에 대한 </a:t>
          </a:r>
          <a:r>
            <a:rPr kumimoji="1" lang="en-US"/>
            <a:t>CNN </a:t>
          </a:r>
          <a:r>
            <a:rPr kumimoji="1" lang="ko-KR"/>
            <a:t>분류기의 많은 패스가 필요하기 때문에 속도가 느림</a:t>
          </a:r>
          <a:endParaRPr lang="en-US"/>
        </a:p>
      </dgm:t>
    </dgm:pt>
    <dgm:pt modelId="{7FAC596C-A960-4640-87D1-5793A5CE5CD1}" type="parTrans" cxnId="{61DE236E-C6EA-4377-BC40-CE03B144FA76}">
      <dgm:prSet/>
      <dgm:spPr/>
      <dgm:t>
        <a:bodyPr/>
        <a:lstStyle/>
        <a:p>
          <a:endParaRPr lang="en-US"/>
        </a:p>
      </dgm:t>
    </dgm:pt>
    <dgm:pt modelId="{95B73FCE-309A-4579-ACC2-FB22005FB17E}" type="sibTrans" cxnId="{61DE236E-C6EA-4377-BC40-CE03B144FA76}">
      <dgm:prSet/>
      <dgm:spPr/>
      <dgm:t>
        <a:bodyPr/>
        <a:lstStyle/>
        <a:p>
          <a:endParaRPr lang="en-US"/>
        </a:p>
      </dgm:t>
    </dgm:pt>
    <dgm:pt modelId="{B7F8B3D1-653C-4076-B1A1-938E78A38017}">
      <dgm:prSet/>
      <dgm:spPr/>
      <dgm:t>
        <a:bodyPr/>
        <a:lstStyle/>
        <a:p>
          <a:r>
            <a:rPr kumimoji="1" lang="en-US"/>
            <a:t>One-pass (YOLO, SSD, RetinaNet) </a:t>
          </a:r>
          <a:r>
            <a:rPr kumimoji="1" lang="ko-KR"/>
            <a:t>방식</a:t>
          </a:r>
          <a:endParaRPr lang="en-US"/>
        </a:p>
      </dgm:t>
    </dgm:pt>
    <dgm:pt modelId="{60F232B6-70BF-48B8-9BC1-5C2C6BFD2096}" type="parTrans" cxnId="{6E4D456E-9119-4D8E-AB60-7F2D114E123D}">
      <dgm:prSet/>
      <dgm:spPr/>
      <dgm:t>
        <a:bodyPr/>
        <a:lstStyle/>
        <a:p>
          <a:endParaRPr lang="en-US"/>
        </a:p>
      </dgm:t>
    </dgm:pt>
    <dgm:pt modelId="{F7838C75-0933-43D5-8146-94E7324FC2E9}" type="sibTrans" cxnId="{6E4D456E-9119-4D8E-AB60-7F2D114E123D}">
      <dgm:prSet/>
      <dgm:spPr/>
      <dgm:t>
        <a:bodyPr/>
        <a:lstStyle/>
        <a:p>
          <a:endParaRPr lang="en-US"/>
        </a:p>
      </dgm:t>
    </dgm:pt>
    <dgm:pt modelId="{D5D6D144-09DE-4A79-98EB-F7DAAF35875F}">
      <dgm:prSet/>
      <dgm:spPr/>
      <dgm:t>
        <a:bodyPr/>
        <a:lstStyle/>
        <a:p>
          <a:r>
            <a:rPr kumimoji="1" lang="ko-KR"/>
            <a:t>한 번의 패스로 클래스와 </a:t>
          </a:r>
          <a:r>
            <a:rPr kumimoji="1" lang="en-US"/>
            <a:t>ROI</a:t>
          </a:r>
          <a:r>
            <a:rPr kumimoji="1" lang="ko-KR"/>
            <a:t>를 모두 예측하도록 네트워크를 설계합니다</a:t>
          </a:r>
          <a:r>
            <a:rPr kumimoji="1" lang="en-US"/>
            <a:t>.</a:t>
          </a:r>
          <a:endParaRPr lang="en-US"/>
        </a:p>
      </dgm:t>
    </dgm:pt>
    <dgm:pt modelId="{76433F57-0CD9-43E6-868E-1EE9A47A4D54}" type="parTrans" cxnId="{A467001E-F618-4BDE-AAF0-287A17A45DCD}">
      <dgm:prSet/>
      <dgm:spPr/>
      <dgm:t>
        <a:bodyPr/>
        <a:lstStyle/>
        <a:p>
          <a:endParaRPr lang="en-US"/>
        </a:p>
      </dgm:t>
    </dgm:pt>
    <dgm:pt modelId="{3AAF9474-CF7A-45B4-8F92-FF58729927F1}" type="sibTrans" cxnId="{A467001E-F618-4BDE-AAF0-287A17A45DCD}">
      <dgm:prSet/>
      <dgm:spPr/>
      <dgm:t>
        <a:bodyPr/>
        <a:lstStyle/>
        <a:p>
          <a:endParaRPr lang="en-US"/>
        </a:p>
      </dgm:t>
    </dgm:pt>
    <dgm:pt modelId="{862A966B-3C93-A546-B7DF-E51C67FC2D06}" type="pres">
      <dgm:prSet presAssocID="{873A346A-7A5B-4F0D-9F6F-2E12016E00D7}" presName="linear" presStyleCnt="0">
        <dgm:presLayoutVars>
          <dgm:animLvl val="lvl"/>
          <dgm:resizeHandles val="exact"/>
        </dgm:presLayoutVars>
      </dgm:prSet>
      <dgm:spPr/>
    </dgm:pt>
    <dgm:pt modelId="{8CC16602-D0DA-E542-B5E8-7B617BEF030A}" type="pres">
      <dgm:prSet presAssocID="{60BB59D8-6013-4AAB-83BF-AE316848F1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2D7C907-B5DD-FE41-87ED-9B0BBBC7E348}" type="pres">
      <dgm:prSet presAssocID="{60BB59D8-6013-4AAB-83BF-AE316848F1BE}" presName="childText" presStyleLbl="revTx" presStyleIdx="0" presStyleCnt="2">
        <dgm:presLayoutVars>
          <dgm:bulletEnabled val="1"/>
        </dgm:presLayoutVars>
      </dgm:prSet>
      <dgm:spPr/>
    </dgm:pt>
    <dgm:pt modelId="{0A575147-7A05-B749-8057-BD1DA7DF7F96}" type="pres">
      <dgm:prSet presAssocID="{B7F8B3D1-653C-4076-B1A1-938E78A3801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F7FC38E-7D31-BF4E-BF8A-06E2211D8527}" type="pres">
      <dgm:prSet presAssocID="{B7F8B3D1-653C-4076-B1A1-938E78A3801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6EF7307-3452-4A47-8A7B-7D3DF0BDA49B}" type="presOf" srcId="{2AC38AD9-7733-4D29-B4CD-F6174E4AF844}" destId="{E2D7C907-B5DD-FE41-87ED-9B0BBBC7E348}" srcOrd="0" destOrd="0" presId="urn:microsoft.com/office/officeart/2005/8/layout/vList2"/>
    <dgm:cxn modelId="{C54B930E-1CB7-D242-BB1C-ED69A6C0CAF6}" type="presOf" srcId="{3AB01732-B592-43A7-9BE6-88FE36F0C762}" destId="{E2D7C907-B5DD-FE41-87ED-9B0BBBC7E348}" srcOrd="0" destOrd="1" presId="urn:microsoft.com/office/officeart/2005/8/layout/vList2"/>
    <dgm:cxn modelId="{A467001E-F618-4BDE-AAF0-287A17A45DCD}" srcId="{B7F8B3D1-653C-4076-B1A1-938E78A38017}" destId="{D5D6D144-09DE-4A79-98EB-F7DAAF35875F}" srcOrd="0" destOrd="0" parTransId="{76433F57-0CD9-43E6-868E-1EE9A47A4D54}" sibTransId="{3AAF9474-CF7A-45B4-8F92-FF58729927F1}"/>
    <dgm:cxn modelId="{A3AB9620-7ABC-364B-B7A2-D44AFC91EE2E}" type="presOf" srcId="{60BB59D8-6013-4AAB-83BF-AE316848F1BE}" destId="{8CC16602-D0DA-E542-B5E8-7B617BEF030A}" srcOrd="0" destOrd="0" presId="urn:microsoft.com/office/officeart/2005/8/layout/vList2"/>
    <dgm:cxn modelId="{3FB2B567-0190-4903-9960-198A074D6D0E}" srcId="{60BB59D8-6013-4AAB-83BF-AE316848F1BE}" destId="{2AC38AD9-7733-4D29-B4CD-F6174E4AF844}" srcOrd="0" destOrd="0" parTransId="{788AA7DF-3571-44A1-815A-BA702C6316E7}" sibTransId="{7538A81F-2773-4E03-B394-F111ACEA65B0}"/>
    <dgm:cxn modelId="{61DE236E-C6EA-4377-BC40-CE03B144FA76}" srcId="{60BB59D8-6013-4AAB-83BF-AE316848F1BE}" destId="{8D0B1D0A-5DB4-4A80-A0E1-9E5FA13FD347}" srcOrd="2" destOrd="0" parTransId="{7FAC596C-A960-4640-87D1-5793A5CE5CD1}" sibTransId="{95B73FCE-309A-4579-ACC2-FB22005FB17E}"/>
    <dgm:cxn modelId="{6E4D456E-9119-4D8E-AB60-7F2D114E123D}" srcId="{873A346A-7A5B-4F0D-9F6F-2E12016E00D7}" destId="{B7F8B3D1-653C-4076-B1A1-938E78A38017}" srcOrd="1" destOrd="0" parTransId="{60F232B6-70BF-48B8-9BC1-5C2C6BFD2096}" sibTransId="{F7838C75-0933-43D5-8146-94E7324FC2E9}"/>
    <dgm:cxn modelId="{FA9C2995-81D4-1C43-91A7-4338B2F26454}" type="presOf" srcId="{D5D6D144-09DE-4A79-98EB-F7DAAF35875F}" destId="{AF7FC38E-7D31-BF4E-BF8A-06E2211D8527}" srcOrd="0" destOrd="0" presId="urn:microsoft.com/office/officeart/2005/8/layout/vList2"/>
    <dgm:cxn modelId="{DAAC509C-CBF0-D548-9B8D-B8FD630F997C}" type="presOf" srcId="{B7F8B3D1-653C-4076-B1A1-938E78A38017}" destId="{0A575147-7A05-B749-8057-BD1DA7DF7F96}" srcOrd="0" destOrd="0" presId="urn:microsoft.com/office/officeart/2005/8/layout/vList2"/>
    <dgm:cxn modelId="{E7BB6FAA-3B9B-8742-AF8D-7A853E4C22C8}" type="presOf" srcId="{873A346A-7A5B-4F0D-9F6F-2E12016E00D7}" destId="{862A966B-3C93-A546-B7DF-E51C67FC2D06}" srcOrd="0" destOrd="0" presId="urn:microsoft.com/office/officeart/2005/8/layout/vList2"/>
    <dgm:cxn modelId="{F1DA06B0-35E3-5C4C-947F-7A0BBB96B59F}" type="presOf" srcId="{8D0B1D0A-5DB4-4A80-A0E1-9E5FA13FD347}" destId="{E2D7C907-B5DD-FE41-87ED-9B0BBBC7E348}" srcOrd="0" destOrd="2" presId="urn:microsoft.com/office/officeart/2005/8/layout/vList2"/>
    <dgm:cxn modelId="{9BF195E1-28E4-48A7-AE5E-876EE0D7CFEC}" srcId="{60BB59D8-6013-4AAB-83BF-AE316848F1BE}" destId="{3AB01732-B592-43A7-9BE6-88FE36F0C762}" srcOrd="1" destOrd="0" parTransId="{B843226F-779C-40EC-A7A9-422FA490EA29}" sibTransId="{D2EABC22-F619-4F96-A6E9-7D03216AC626}"/>
    <dgm:cxn modelId="{5FF8A1EF-F2A1-4BCB-93B3-1C1957F5D34A}" srcId="{873A346A-7A5B-4F0D-9F6F-2E12016E00D7}" destId="{60BB59D8-6013-4AAB-83BF-AE316848F1BE}" srcOrd="0" destOrd="0" parTransId="{AAD73B74-59B3-4FB9-B4D5-FB4BCC013202}" sibTransId="{8D6F01E3-BF79-4EF2-AB58-CB267A7E601F}"/>
    <dgm:cxn modelId="{1B830103-0E9B-7547-A904-CC3FEAF0DDDA}" type="presParOf" srcId="{862A966B-3C93-A546-B7DF-E51C67FC2D06}" destId="{8CC16602-D0DA-E542-B5E8-7B617BEF030A}" srcOrd="0" destOrd="0" presId="urn:microsoft.com/office/officeart/2005/8/layout/vList2"/>
    <dgm:cxn modelId="{D38D3D32-330D-7440-9FE7-D71F0D864259}" type="presParOf" srcId="{862A966B-3C93-A546-B7DF-E51C67FC2D06}" destId="{E2D7C907-B5DD-FE41-87ED-9B0BBBC7E348}" srcOrd="1" destOrd="0" presId="urn:microsoft.com/office/officeart/2005/8/layout/vList2"/>
    <dgm:cxn modelId="{D4F3F6C1-EC46-DD45-8C77-618CE2BD3978}" type="presParOf" srcId="{862A966B-3C93-A546-B7DF-E51C67FC2D06}" destId="{0A575147-7A05-B749-8057-BD1DA7DF7F96}" srcOrd="2" destOrd="0" presId="urn:microsoft.com/office/officeart/2005/8/layout/vList2"/>
    <dgm:cxn modelId="{FD621370-4FF7-564A-9F70-BAD71023516C}" type="presParOf" srcId="{862A966B-3C93-A546-B7DF-E51C67FC2D06}" destId="{AF7FC38E-7D31-BF4E-BF8A-06E2211D852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16602-D0DA-E542-B5E8-7B617BEF030A}">
      <dsp:nvSpPr>
        <dsp:cNvPr id="0" name=""/>
        <dsp:cNvSpPr/>
      </dsp:nvSpPr>
      <dsp:spPr>
        <a:xfrm>
          <a:off x="0" y="22772"/>
          <a:ext cx="6261100" cy="10038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600" kern="1200"/>
            <a:t>Regional Proposal Networks (R-CNN, Fast</a:t>
          </a:r>
          <a:r>
            <a:rPr kumimoji="1" lang="ko-KR" sz="2600" kern="1200"/>
            <a:t> </a:t>
          </a:r>
          <a:r>
            <a:rPr kumimoji="1" lang="en-US" sz="2600" kern="1200"/>
            <a:t>R-CNN, Faster R-CNN)</a:t>
          </a:r>
          <a:endParaRPr lang="en-US" sz="2600" kern="1200"/>
        </a:p>
      </dsp:txBody>
      <dsp:txXfrm>
        <a:off x="49004" y="71776"/>
        <a:ext cx="6163092" cy="905852"/>
      </dsp:txXfrm>
    </dsp:sp>
    <dsp:sp modelId="{E2D7C907-B5DD-FE41-87ED-9B0BBBC7E348}">
      <dsp:nvSpPr>
        <dsp:cNvPr id="0" name=""/>
        <dsp:cNvSpPr/>
      </dsp:nvSpPr>
      <dsp:spPr>
        <a:xfrm>
          <a:off x="0" y="1026632"/>
          <a:ext cx="6261100" cy="263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2000" kern="1200"/>
            <a:t>Region of Interest (ROI)</a:t>
          </a:r>
          <a:r>
            <a:rPr kumimoji="1" lang="ko-KR" sz="2000" kern="1200"/>
            <a:t>를 생성하고 그 위에 </a:t>
          </a:r>
          <a:r>
            <a:rPr kumimoji="1" lang="en-US" sz="2000" kern="1200"/>
            <a:t>CNN</a:t>
          </a:r>
          <a:r>
            <a:rPr kumimoji="1" lang="ko-KR" sz="2000" kern="1200"/>
            <a:t>을 실행하여 최대 활성화를 찾음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en-US" sz="2000" kern="1200"/>
            <a:t>ROI</a:t>
          </a:r>
          <a:r>
            <a:rPr kumimoji="1" lang="ko-KR" sz="2000" kern="1200"/>
            <a:t>가 좀 더 영리한 방식으로 생성된다는 점을 제외하면 단순한 접근 방식과 유사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2000" kern="1200"/>
            <a:t>단점</a:t>
          </a:r>
          <a:r>
            <a:rPr kumimoji="1" lang="en-US" sz="2000" kern="1200"/>
            <a:t>:</a:t>
          </a:r>
          <a:r>
            <a:rPr kumimoji="1" lang="ko-KR" sz="2000" kern="1200"/>
            <a:t> 이미지에 대한 </a:t>
          </a:r>
          <a:r>
            <a:rPr kumimoji="1" lang="en-US" sz="2000" kern="1200"/>
            <a:t>CNN </a:t>
          </a:r>
          <a:r>
            <a:rPr kumimoji="1" lang="ko-KR" sz="2000" kern="1200"/>
            <a:t>분류기의 많은 패스가 필요하기 때문에 속도가 느림</a:t>
          </a:r>
          <a:endParaRPr lang="en-US" sz="2000" kern="1200"/>
        </a:p>
      </dsp:txBody>
      <dsp:txXfrm>
        <a:off x="0" y="1026632"/>
        <a:ext cx="6261100" cy="2637180"/>
      </dsp:txXfrm>
    </dsp:sp>
    <dsp:sp modelId="{0A575147-7A05-B749-8057-BD1DA7DF7F96}">
      <dsp:nvSpPr>
        <dsp:cNvPr id="0" name=""/>
        <dsp:cNvSpPr/>
      </dsp:nvSpPr>
      <dsp:spPr>
        <a:xfrm>
          <a:off x="0" y="3663812"/>
          <a:ext cx="6261100" cy="100386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600" kern="1200"/>
            <a:t>One-pass (YOLO, SSD, RetinaNet) </a:t>
          </a:r>
          <a:r>
            <a:rPr kumimoji="1" lang="ko-KR" sz="2600" kern="1200"/>
            <a:t>방식</a:t>
          </a:r>
          <a:endParaRPr lang="en-US" sz="2600" kern="1200"/>
        </a:p>
      </dsp:txBody>
      <dsp:txXfrm>
        <a:off x="49004" y="3712816"/>
        <a:ext cx="6163092" cy="905852"/>
      </dsp:txXfrm>
    </dsp:sp>
    <dsp:sp modelId="{AF7FC38E-7D31-BF4E-BF8A-06E2211D8527}">
      <dsp:nvSpPr>
        <dsp:cNvPr id="0" name=""/>
        <dsp:cNvSpPr/>
      </dsp:nvSpPr>
      <dsp:spPr>
        <a:xfrm>
          <a:off x="0" y="4667672"/>
          <a:ext cx="6261100" cy="8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2000" kern="1200"/>
            <a:t>한 번의 패스로 클래스와 </a:t>
          </a:r>
          <a:r>
            <a:rPr kumimoji="1" lang="en-US" sz="2000" kern="1200"/>
            <a:t>ROI</a:t>
          </a:r>
          <a:r>
            <a:rPr kumimoji="1" lang="ko-KR" sz="2000" kern="1200"/>
            <a:t>를 모두 예측하도록 네트워크를 설계합니다</a:t>
          </a:r>
          <a:r>
            <a:rPr kumimoji="1" lang="en-US" sz="2000" kern="1200"/>
            <a:t>.</a:t>
          </a:r>
          <a:endParaRPr lang="en-US" sz="2000" kern="1200"/>
        </a:p>
      </dsp:txBody>
      <dsp:txXfrm>
        <a:off x="0" y="4667672"/>
        <a:ext cx="6261100" cy="8880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D7F90-C814-0C4D-B292-1B52260158C6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6631-B2E8-5949-9E3D-AB029F41E8D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057F4-5739-B746-B898-0F942E5F0EE3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C826B-1F54-584A-852E-391B2B68753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DAE3-FF81-8546-A688-039B0024C8BD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F866-076F-3142-B7C8-09131416A95C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9E19-8DB9-C84C-A36A-6FBA44461F6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80EF-8F9F-1042-B285-DD6EB579542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BBC8A-D7F6-8B4D-928B-18CAAD860692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E16-056D-A045-9C8A-09D8C93D24F6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FE23-DE78-824F-AEB7-9327F603B10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CBE5-BB0D-5749-A754-D64658E0FC2C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042F-DBA4-7A43-B49D-EC395945E9DE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6DEF-5881-0D49-AF84-1D7F97D7A773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F06F-CD6C-0149-AE1C-BC16F411653C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7CBA2-8D22-3840-9729-7D140403E6C2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B250C0B-2BB5-5D47-92EC-F70355769266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F4667-600B-7648-B695-525CBB42900C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Object Detection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32" name="Rectangle 1031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3" name="Picture 1032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1026" name="Picture 2" descr="Object Detection">
            <a:extLst>
              <a:ext uri="{FF2B5EF4-FFF2-40B4-BE49-F238E27FC236}">
                <a16:creationId xmlns:a16="http://schemas.microsoft.com/office/drawing/2014/main" id="{BDEB0FD1-3CC2-2526-9CEC-E6013D48B4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0" b="2"/>
          <a:stretch/>
        </p:blipFill>
        <p:spPr bwMode="auto">
          <a:xfrm>
            <a:off x="4636008" y="10"/>
            <a:ext cx="7552815" cy="6856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47E3ED-5880-69DB-F318-24BD5381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>
            <a:normAutofit/>
          </a:bodyPr>
          <a:lstStyle/>
          <a:p>
            <a:r>
              <a:rPr kumimoji="1" lang="en-US" altLang="ko-KR" sz="3200"/>
              <a:t>Object Detection</a:t>
            </a:r>
            <a:endParaRPr kumimoji="1" lang="ko-KR" altLang="en-US" sz="3200"/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27F0C-7F22-E6C0-246D-1823EFCC5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581635" cy="3599316"/>
          </a:xfrm>
        </p:spPr>
        <p:txBody>
          <a:bodyPr>
            <a:normAutofit/>
          </a:bodyPr>
          <a:lstStyle/>
          <a:p>
            <a:r>
              <a:rPr kumimoji="1" lang="ko-KR" altLang="en-US" sz="1800" dirty="0"/>
              <a:t>많은 경우 우리는 사진에 물체가 있다는 사실만 알고 싶어하는 것이 아니라 객체의 정확한 위치를 파악할 수 있기를 원함</a:t>
            </a:r>
            <a:endParaRPr kumimoji="1" lang="en-US" altLang="ko-KR" sz="1800" dirty="0"/>
          </a:p>
          <a:p>
            <a:r>
              <a:rPr kumimoji="1" lang="ko-KR" altLang="en-US" sz="1800" dirty="0"/>
              <a:t>이것이 객체 감지의 핵심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FA9F2A-30F8-D94C-441D-A69DBE07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843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BCA939-8FA5-799F-FAC3-1A90063CC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/>
              <a:t>A Naive Approach to Object Detection</a:t>
            </a:r>
            <a:endParaRPr kumimoji="1" lang="ko-KR" altLang="en-US" sz="2400"/>
          </a:p>
        </p:txBody>
      </p:sp>
      <p:pic>
        <p:nvPicPr>
          <p:cNvPr id="2063" name="Picture 2062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67D68-4B4F-B278-FABD-EC2937765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29" y="2336872"/>
            <a:ext cx="4319750" cy="4338563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600" dirty="0"/>
              <a:t>사진에서 고양이를 찾고 싶다고 가정할 때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객체 감지에 대한 매우 간단한 접근 방식은 다음과 같음</a:t>
            </a:r>
            <a:endParaRPr kumimoji="1" lang="en-US" altLang="ko-KR" sz="16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kumimoji="1" lang="ko-KR" altLang="en-US" sz="1600" dirty="0"/>
              <a:t>사진을 여러 개의 타일로 나눔</a:t>
            </a:r>
            <a:endParaRPr kumimoji="1" lang="en-US" altLang="ko-KR" sz="16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kumimoji="1" lang="ko-KR" altLang="en-US" sz="1600" dirty="0"/>
              <a:t>각 타일에 대해 이미지 분류를 실행</a:t>
            </a:r>
            <a:endParaRPr kumimoji="1" lang="en-US" altLang="ko-KR" sz="16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kumimoji="1" lang="ko-KR" altLang="en-US" sz="1600" dirty="0"/>
              <a:t>활성화가 충분히 높은 타일은 해당 물체를 포함하는 것으로 간주</a:t>
            </a:r>
            <a:endParaRPr kumimoji="1" lang="en-US" altLang="ko-KR" sz="1600" dirty="0"/>
          </a:p>
          <a:p>
            <a:pPr>
              <a:lnSpc>
                <a:spcPct val="110000"/>
              </a:lnSpc>
            </a:pPr>
            <a:endParaRPr kumimoji="1" lang="en-US" altLang="ko-KR" sz="1600" dirty="0"/>
          </a:p>
          <a:p>
            <a:pPr>
              <a:lnSpc>
                <a:spcPct val="110000"/>
              </a:lnSpc>
            </a:pPr>
            <a:r>
              <a:rPr kumimoji="1" lang="ko-KR" altLang="en-US" sz="1600" dirty="0"/>
              <a:t>그러나 이 접근 방식은 알고리즘이 객체의 경계 상자 </a:t>
            </a:r>
            <a:r>
              <a:rPr kumimoji="1" lang="en-US" altLang="ko-KR" sz="1600" dirty="0"/>
              <a:t>(bounding box)</a:t>
            </a:r>
            <a:r>
              <a:rPr kumimoji="1" lang="ko-KR" altLang="en-US" sz="1600" dirty="0" err="1"/>
              <a:t>를</a:t>
            </a:r>
            <a:r>
              <a:rPr kumimoji="1" lang="ko-KR" altLang="en-US" sz="1600" dirty="0"/>
              <a:t> 부정확하게 찾을 수 있기 때문에 이상적이지 않음</a:t>
            </a:r>
            <a:endParaRPr kumimoji="1" lang="en-US" altLang="ko-KR" sz="1600" dirty="0"/>
          </a:p>
          <a:p>
            <a:pPr>
              <a:lnSpc>
                <a:spcPct val="110000"/>
              </a:lnSpc>
            </a:pPr>
            <a:r>
              <a:rPr kumimoji="1" lang="ko-KR" altLang="en-US" sz="1600" dirty="0"/>
              <a:t>보다 정확한 위치를 찾으려면 회귀 분석을 실행하여 </a:t>
            </a:r>
            <a:r>
              <a:rPr kumimoji="1" lang="ko-KR" altLang="en-US" sz="1600" dirty="0" err="1"/>
              <a:t>바운딩</a:t>
            </a:r>
            <a:r>
              <a:rPr kumimoji="1" lang="ko-KR" altLang="en-US" sz="1600" dirty="0"/>
              <a:t> 박스의 좌표를 예측해야 하며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이를 위해서는 특정 데이터 세트가 필요로 함</a:t>
            </a:r>
            <a:endParaRPr kumimoji="1" lang="en-US" altLang="ko-KR" sz="1600" dirty="0"/>
          </a:p>
          <a:p>
            <a:pPr>
              <a:lnSpc>
                <a:spcPct val="110000"/>
              </a:lnSpc>
            </a:pPr>
            <a:endParaRPr kumimoji="1" lang="ko-KR" altLang="en-US" sz="1600" dirty="0"/>
          </a:p>
        </p:txBody>
      </p:sp>
      <p:pic>
        <p:nvPicPr>
          <p:cNvPr id="2050" name="Picture 2" descr="Naive Object Detection">
            <a:extLst>
              <a:ext uri="{FF2B5EF4-FFF2-40B4-BE49-F238E27FC236}">
                <a16:creationId xmlns:a16="http://schemas.microsoft.com/office/drawing/2014/main" id="{7A15A9AA-3EF3-6DD4-5256-B98C98938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6090" y="2112409"/>
            <a:ext cx="6269479" cy="2633181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D776BE-842E-1D55-2624-26731378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844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1" name="Picture 3080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141389-84A8-F217-5FF2-5210D16E1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/>
              <a:t>Datasets for Object Detection</a:t>
            </a:r>
          </a:p>
        </p:txBody>
      </p:sp>
      <p:pic>
        <p:nvPicPr>
          <p:cNvPr id="3087" name="Picture 3086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46F620-9817-55CB-0262-D367DCCB3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kumimoji="1" lang="en" altLang="ko-KR" sz="1800" dirty="0"/>
              <a:t>PASCAL VOC - 20 classes</a:t>
            </a:r>
          </a:p>
          <a:p>
            <a:r>
              <a:rPr kumimoji="1" lang="en" altLang="ko-KR" sz="1800" dirty="0"/>
              <a:t>COCO - Common Objects in Context. 80 classes, bounding boxes and segmentation masks</a:t>
            </a:r>
            <a:endParaRPr kumimoji="1" lang="ko-KR" altLang="en-US" sz="1800" dirty="0"/>
          </a:p>
        </p:txBody>
      </p:sp>
      <p:pic>
        <p:nvPicPr>
          <p:cNvPr id="3074" name="Picture 2" descr="COCO">
            <a:extLst>
              <a:ext uri="{FF2B5EF4-FFF2-40B4-BE49-F238E27FC236}">
                <a16:creationId xmlns:a16="http://schemas.microsoft.com/office/drawing/2014/main" id="{D2C7543D-9117-3CB3-EF53-CEA4CEA15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6090" y="2472904"/>
            <a:ext cx="6269479" cy="1912191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3054C9-46F5-8AA5-8ECD-B6FD8082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297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5" name="Picture 4104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07" name="Rectangle 4106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C4BFF-4419-E50C-8924-CBFA2179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 dirty="0"/>
              <a:t>Intersection over Union (</a:t>
            </a:r>
            <a:r>
              <a:rPr kumimoji="1" lang="en" altLang="ko-KR" sz="2400" dirty="0" err="1"/>
              <a:t>IoU</a:t>
            </a:r>
            <a:r>
              <a:rPr kumimoji="1" lang="en" altLang="ko-KR" sz="2400" dirty="0"/>
              <a:t>)</a:t>
            </a:r>
          </a:p>
        </p:txBody>
      </p:sp>
      <p:pic>
        <p:nvPicPr>
          <p:cNvPr id="4109" name="Picture 4108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E727C4-2DC6-82BB-C147-039BD0215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136123" cy="4121800"/>
          </a:xfrm>
        </p:spPr>
        <p:txBody>
          <a:bodyPr>
            <a:normAutofit/>
          </a:bodyPr>
          <a:lstStyle/>
          <a:p>
            <a:r>
              <a:rPr kumimoji="1" lang="en-US" altLang="ko-KR" sz="1800" dirty="0"/>
              <a:t>A type of object detection metrics</a:t>
            </a: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/>
              <a:t>이미지 분류의 경우 알고리즘의 성능을 쉽게 측정할 수 있지만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객체 감지의 경우 클래스의 정확성과 유추된 경계 상자 위치의 정밀도를 모두 측정해야 함</a:t>
            </a:r>
            <a:endParaRPr kumimoji="1" lang="en-US" altLang="ko-KR" sz="18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/>
              <a:t>객체 인식에서는</a:t>
            </a:r>
            <a:r>
              <a:rPr kumimoji="1" lang="en-US" altLang="ko-KR" sz="1800" dirty="0"/>
              <a:t> </a:t>
            </a:r>
            <a:r>
              <a:rPr kumimoji="1" lang="ko-KR" altLang="en-US" sz="1800" dirty="0"/>
              <a:t>임의의 두 영역이 얼마나 잘 겹치는지를 측정하는 </a:t>
            </a:r>
            <a:r>
              <a:rPr kumimoji="1" lang="en" altLang="ko-KR" sz="1800" dirty="0" err="1"/>
              <a:t>IoU</a:t>
            </a:r>
            <a:r>
              <a:rPr kumimoji="1" lang="en" altLang="ko-KR" sz="1800" dirty="0"/>
              <a:t>(Intersection over Union)</a:t>
            </a:r>
            <a:r>
              <a:rPr kumimoji="1" lang="ko-KR" altLang="en-US" sz="1800" dirty="0" err="1"/>
              <a:t>를</a:t>
            </a:r>
            <a:r>
              <a:rPr kumimoji="1" lang="ko-KR" altLang="en-US" sz="1800" dirty="0"/>
              <a:t> 사용</a:t>
            </a:r>
            <a:endParaRPr kumimoji="1" lang="en-US" altLang="ko-KR" sz="18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/>
              <a:t>두 도형 사이의 교집합 면적을 합한 면적으로 나눔</a:t>
            </a:r>
            <a:endParaRPr kumimoji="1" lang="en-US" altLang="ko-KR" sz="18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/>
              <a:t>두 개의 동일한 영역의 경우 </a:t>
            </a:r>
            <a:r>
              <a:rPr kumimoji="1" lang="en-US" altLang="ko-KR" sz="1800" dirty="0" err="1"/>
              <a:t>IoU</a:t>
            </a:r>
            <a:r>
              <a:rPr kumimoji="1" lang="ko-KR" altLang="en-US" sz="1800" dirty="0"/>
              <a:t>는 </a:t>
            </a:r>
            <a:r>
              <a:rPr kumimoji="1" lang="en-US" altLang="ko-KR" sz="1800" dirty="0"/>
              <a:t>1</a:t>
            </a:r>
            <a:r>
              <a:rPr kumimoji="1" lang="ko-KR" altLang="en-US" sz="1800" dirty="0"/>
              <a:t>이 되고 완전히 분리된 영역의 경우 </a:t>
            </a:r>
            <a:r>
              <a:rPr kumimoji="1" lang="en-US" altLang="ko-KR" sz="1800" dirty="0"/>
              <a:t>0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10EB80D-E538-96E0-B926-E73FBDA30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6090" y="955538"/>
            <a:ext cx="6303134" cy="4916444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C3EE88-397B-49A7-A816-402168B4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59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9" name="Picture 5128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F56A5E8-76A0-69D9-963D-343EE3E9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-US" altLang="ko-KR" sz="2400" dirty="0"/>
              <a:t>Average Precision (AP)</a:t>
            </a:r>
            <a:endParaRPr kumimoji="1" lang="ko-KR" altLang="en-US" sz="2400" dirty="0"/>
          </a:p>
        </p:txBody>
      </p:sp>
      <p:pic>
        <p:nvPicPr>
          <p:cNvPr id="5133" name="Picture 5132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A1980-593B-1FA3-F941-D9E8635BB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4136123" cy="406392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800" dirty="0"/>
              <a:t>주어진 객체 클래스가 얼마나 잘 인식되는지 측정하기 위해 다음과 같이 계산되는 평균 정확도 </a:t>
            </a:r>
            <a:r>
              <a:rPr kumimoji="1" lang="ko-KR" altLang="en-US" sz="1800" dirty="0" err="1"/>
              <a:t>메트릭을</a:t>
            </a:r>
            <a:r>
              <a:rPr kumimoji="1" lang="ko-KR" altLang="en-US" sz="1800" dirty="0"/>
              <a:t> 사용</a:t>
            </a:r>
            <a:endParaRPr kumimoji="1" lang="en-US" altLang="ko-KR" sz="1800" dirty="0"/>
          </a:p>
          <a:p>
            <a:pPr marL="914400" lvl="1" indent="-457200">
              <a:lnSpc>
                <a:spcPct val="110000"/>
              </a:lnSpc>
              <a:buAutoNum type="arabicPeriod"/>
            </a:pPr>
            <a:r>
              <a:rPr kumimoji="1" lang="ko-KR" altLang="en-US" sz="1800" dirty="0"/>
              <a:t>정밀도</a:t>
            </a:r>
            <a:r>
              <a:rPr kumimoji="1" lang="en-US" altLang="ko-KR" sz="1800" dirty="0"/>
              <a:t>-</a:t>
            </a:r>
            <a:r>
              <a:rPr kumimoji="1" lang="ko-KR" altLang="en-US" sz="1800" dirty="0"/>
              <a:t>리콜 곡선은 탐지 </a:t>
            </a:r>
            <a:r>
              <a:rPr kumimoji="1" lang="ko-KR" altLang="en-US" sz="1800" dirty="0" err="1"/>
              <a:t>임계값</a:t>
            </a:r>
            <a:r>
              <a:rPr kumimoji="1" lang="en-US" altLang="ko-KR" sz="1800" dirty="0"/>
              <a:t>(0</a:t>
            </a:r>
            <a:r>
              <a:rPr kumimoji="1" lang="ko-KR" altLang="en-US" sz="1800" dirty="0"/>
              <a:t>에서 </a:t>
            </a:r>
            <a:r>
              <a:rPr kumimoji="1" lang="en-US" altLang="ko-KR" sz="1800" dirty="0"/>
              <a:t>1 </a:t>
            </a:r>
            <a:r>
              <a:rPr kumimoji="1" lang="ko-KR" altLang="en-US" sz="1800" dirty="0"/>
              <a:t>사이</a:t>
            </a:r>
            <a:r>
              <a:rPr kumimoji="1" lang="en-US" altLang="ko-KR" sz="1800" dirty="0"/>
              <a:t>)</a:t>
            </a:r>
            <a:r>
              <a:rPr kumimoji="1" lang="ko-KR" altLang="en-US" sz="1800" dirty="0" err="1"/>
              <a:t>에</a:t>
            </a:r>
            <a:r>
              <a:rPr kumimoji="1" lang="ko-KR" altLang="en-US" sz="1800" dirty="0"/>
              <a:t> 따른 정확도를 보여줌</a:t>
            </a:r>
            <a:endParaRPr kumimoji="1" lang="en-US" altLang="ko-KR" sz="1800" dirty="0"/>
          </a:p>
          <a:p>
            <a:pPr marL="914400" lvl="1" indent="-457200">
              <a:lnSpc>
                <a:spcPct val="110000"/>
              </a:lnSpc>
              <a:buAutoNum type="arabicPeriod"/>
            </a:pPr>
            <a:r>
              <a:rPr kumimoji="1" lang="ko-KR" altLang="en-US" sz="1800" dirty="0" err="1"/>
              <a:t>임계값에</a:t>
            </a:r>
            <a:r>
              <a:rPr kumimoji="1" lang="ko-KR" altLang="en-US" sz="1800" dirty="0"/>
              <a:t> 따라 이미지에서 감지되는 객체의 개수가 더 많거나 적으며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정밀도와 리콜 값도 달라짐</a:t>
            </a:r>
            <a:endParaRPr kumimoji="1" lang="en-US" altLang="ko-KR" sz="1800" dirty="0"/>
          </a:p>
          <a:p>
            <a:pPr>
              <a:lnSpc>
                <a:spcPct val="110000"/>
              </a:lnSpc>
            </a:pPr>
            <a:r>
              <a:rPr kumimoji="1" lang="ko-KR" altLang="en-US" sz="1800" dirty="0"/>
              <a:t>주어진 클래스의 평균 정확도는 곡선 아래의 영역</a:t>
            </a:r>
            <a:endParaRPr kumimoji="1" lang="en-US" altLang="ko-KR" sz="1800" dirty="0"/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kumimoji="1" lang="ko-KR" altLang="en-US" sz="1800" dirty="0"/>
              <a:t>정확하게 말하면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정확도 축은 일반적으로 </a:t>
            </a:r>
            <a:r>
              <a:rPr kumimoji="1" lang="en-US" altLang="ko-KR" sz="1800" dirty="0"/>
              <a:t>10</a:t>
            </a:r>
            <a:r>
              <a:rPr kumimoji="1" lang="ko-KR" altLang="en-US" sz="1800" dirty="0"/>
              <a:t>개의 부분으로 나뉘며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정확도는 모든 지점에 대한 평균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5BCC0F1-7F4B-71DE-28D4-D75A3618E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51067" y="609600"/>
            <a:ext cx="6303134" cy="4884927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6CC5BB-A575-6D8C-0198-2617AE72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05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515A7E-915C-F47A-570C-E446B533C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066" y="5681045"/>
            <a:ext cx="4712017" cy="87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2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3" name="Picture 6152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6155" name="Rectangle 6154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459EBF5-72C8-8D66-A04B-795E5D80D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/>
              <a:t>AP and IoU</a:t>
            </a:r>
            <a:endParaRPr kumimoji="1" lang="ko-KR" altLang="en-US" sz="2400"/>
          </a:p>
        </p:txBody>
      </p:sp>
      <p:pic>
        <p:nvPicPr>
          <p:cNvPr id="6159" name="Picture 6158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611917-4F01-1DF0-16C6-34A34AEC3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kumimoji="1" lang="en" altLang="ko-KR" sz="1800" dirty="0" err="1"/>
              <a:t>IoU</a:t>
            </a:r>
            <a:r>
              <a:rPr kumimoji="1" lang="ko-KR" altLang="en-US" sz="1800" dirty="0"/>
              <a:t>가 특정 값 이상인 탐지만 고려</a:t>
            </a:r>
            <a:endParaRPr kumimoji="1" lang="en-US" altLang="ko-KR" sz="18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/>
              <a:t>예를 들어</a:t>
            </a:r>
            <a:r>
              <a:rPr kumimoji="1" lang="en-US" altLang="ko-KR" sz="1800" dirty="0"/>
              <a:t>, </a:t>
            </a:r>
            <a:r>
              <a:rPr kumimoji="1" lang="en" altLang="ko-KR" sz="1800" dirty="0"/>
              <a:t>PASCAL VOC </a:t>
            </a:r>
            <a:r>
              <a:rPr kumimoji="1" lang="ko-KR" altLang="en-US" sz="1800" dirty="0"/>
              <a:t>데이터 세트에서는 일반적으로 </a:t>
            </a:r>
            <a:r>
              <a:rPr kumimoji="1" lang="en-US" altLang="ko-KR" sz="1800" dirty="0"/>
              <a:t>IoT Threshold = 0.5</a:t>
            </a:r>
            <a:r>
              <a:rPr kumimoji="1" lang="ko-KR" altLang="en-US" sz="1800" dirty="0" err="1"/>
              <a:t>으로</a:t>
            </a:r>
            <a:r>
              <a:rPr kumimoji="1" lang="ko-KR" altLang="en-US" sz="1800" dirty="0"/>
              <a:t> 가정</a:t>
            </a:r>
            <a:endParaRPr kumimoji="1" lang="en-US" altLang="ko-KR" sz="1800" dirty="0"/>
          </a:p>
          <a:p>
            <a:pPr lvl="1">
              <a:buFont typeface="Wingdings" pitchFamily="2" charset="2"/>
              <a:buChar char="Ø"/>
            </a:pPr>
            <a:r>
              <a:rPr kumimoji="1" lang="en" altLang="ko-KR" sz="1800" dirty="0"/>
              <a:t>COCO</a:t>
            </a:r>
            <a:r>
              <a:rPr kumimoji="1" lang="ko-KR" altLang="en-US" sz="1800" dirty="0"/>
              <a:t>에서는 </a:t>
            </a:r>
            <a:r>
              <a:rPr kumimoji="1" lang="en" altLang="ko-KR" sz="1800" dirty="0"/>
              <a:t>AP</a:t>
            </a:r>
            <a:r>
              <a:rPr kumimoji="1" lang="ko-KR" altLang="en-US" sz="1800" dirty="0"/>
              <a:t>의 다른 값으로 </a:t>
            </a:r>
            <a:r>
              <a:rPr kumimoji="1" lang="en-US" altLang="ko-KR" sz="1800" dirty="0"/>
              <a:t>IoT Threshold</a:t>
            </a:r>
            <a:r>
              <a:rPr kumimoji="1" lang="ko-KR" altLang="en-US" sz="1800" dirty="0" err="1"/>
              <a:t>를</a:t>
            </a:r>
            <a:r>
              <a:rPr kumimoji="1" lang="ko-KR" altLang="en-US" sz="1800" dirty="0"/>
              <a:t> 간주</a:t>
            </a:r>
          </a:p>
        </p:txBody>
      </p:sp>
      <p:pic>
        <p:nvPicPr>
          <p:cNvPr id="6146" name="Picture 2" descr="텍스트, 스크린샷, 그래프, 라인이(가) 표시된 사진&#10;&#10;자동 생성된 설명">
            <a:extLst>
              <a:ext uri="{FF2B5EF4-FFF2-40B4-BE49-F238E27FC236}">
                <a16:creationId xmlns:a16="http://schemas.microsoft.com/office/drawing/2014/main" id="{10907B09-E025-3DD2-7D39-73024A5AC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6090" y="858514"/>
            <a:ext cx="6269479" cy="5140971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A2067B-683E-DDEE-88B6-DF456306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741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7B618D-07FB-1534-8875-D3779588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-US" altLang="ko-KR" sz="2400"/>
              <a:t>Mean Average Precision (mAP)</a:t>
            </a:r>
            <a:endParaRPr kumimoji="1" lang="ko-KR" altLang="en-US" sz="2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151AA-43A8-772B-BD8F-BE2E1A7A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736631" cy="3599316"/>
          </a:xfrm>
        </p:spPr>
        <p:txBody>
          <a:bodyPr>
            <a:normAutofit/>
          </a:bodyPr>
          <a:lstStyle/>
          <a:p>
            <a:r>
              <a:rPr kumimoji="1" lang="ko-KR" altLang="en-US" sz="1800" dirty="0"/>
              <a:t>객체 감지의 주요 </a:t>
            </a:r>
            <a:r>
              <a:rPr kumimoji="1" lang="ko-KR" altLang="en-US" sz="1800" dirty="0" err="1"/>
              <a:t>메트릭은</a:t>
            </a:r>
            <a:r>
              <a:rPr kumimoji="1" lang="ko-KR" altLang="en-US" sz="1800" dirty="0"/>
              <a:t> 평균 정밀도</a:t>
            </a:r>
            <a:r>
              <a:rPr kumimoji="1" lang="en-US" altLang="ko-KR" sz="1800" dirty="0"/>
              <a:t>(</a:t>
            </a:r>
            <a:r>
              <a:rPr kumimoji="1" lang="en" altLang="ko-KR" sz="1800" dirty="0" err="1"/>
              <a:t>mAP</a:t>
            </a:r>
            <a:r>
              <a:rPr kumimoji="1" lang="en" altLang="ko-KR" sz="1800" dirty="0"/>
              <a:t>)</a:t>
            </a:r>
            <a:endParaRPr kumimoji="1" lang="en-US" altLang="ko-KR" sz="18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/>
              <a:t>모든 객체 클래스의 평균값</a:t>
            </a:r>
            <a:endParaRPr kumimoji="1" lang="en-US" altLang="ko-KR" sz="1800" dirty="0"/>
          </a:p>
        </p:txBody>
      </p:sp>
      <p:pic>
        <p:nvPicPr>
          <p:cNvPr id="8" name="Graphic 7" descr="자">
            <a:extLst>
              <a:ext uri="{FF2B5EF4-FFF2-40B4-BE49-F238E27FC236}">
                <a16:creationId xmlns:a16="http://schemas.microsoft.com/office/drawing/2014/main" id="{3F573F79-4341-10B4-64B9-044E06F44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3497" y="609600"/>
            <a:ext cx="5608320" cy="560832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4EAE54-9588-2850-CC31-C60D67EE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033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DC9C8AC-E061-0EF7-B9E2-EE07A2B6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400"/>
              <a:t>Different Object Detection Approaches</a:t>
            </a:r>
            <a:endParaRPr kumimoji="1" lang="ko-KR" altLang="en-US" sz="44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432F7-3F4B-BDFB-F5B2-1439A53B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FAE6E591-6D9D-C763-BC65-043FD256F2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614206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5505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0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D7B1186-CF81-279A-01C4-39DCD197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 dirty="0"/>
              <a:t>R-CNN: Region-Based CNN</a:t>
            </a:r>
            <a:endParaRPr kumimoji="1" lang="ko-KR" altLang="en-US" sz="2400" dirty="0"/>
          </a:p>
        </p:txBody>
      </p:sp>
      <p:pic>
        <p:nvPicPr>
          <p:cNvPr id="1041" name="Picture 1036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872F74-F702-4725-9D42-7F7486F7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136123" cy="3599316"/>
          </a:xfrm>
        </p:spPr>
        <p:txBody>
          <a:bodyPr>
            <a:normAutofit/>
          </a:bodyPr>
          <a:lstStyle/>
          <a:p>
            <a:r>
              <a:rPr kumimoji="1" lang="en" altLang="ko-KR" sz="1800" dirty="0"/>
              <a:t>R-CNN</a:t>
            </a:r>
            <a:r>
              <a:rPr kumimoji="1" lang="ko-KR" altLang="en-US" sz="1800" dirty="0"/>
              <a:t>은 선택적 검색을 사용하여 </a:t>
            </a:r>
            <a:r>
              <a:rPr kumimoji="1" lang="en" altLang="ko-KR" sz="1800" dirty="0"/>
              <a:t>ROI </a:t>
            </a:r>
            <a:r>
              <a:rPr kumimoji="1" lang="ko-KR" altLang="en-US" sz="1800" dirty="0"/>
              <a:t>영역의 계층 구조를 생성한 다음</a:t>
            </a:r>
            <a:r>
              <a:rPr kumimoji="1" lang="en-US" altLang="ko-KR" sz="1800" dirty="0"/>
              <a:t>, </a:t>
            </a:r>
            <a:r>
              <a:rPr kumimoji="1" lang="en" altLang="ko-KR" sz="1800" dirty="0"/>
              <a:t>CNN </a:t>
            </a:r>
            <a:r>
              <a:rPr kumimoji="1" lang="ko-KR" altLang="en-US" sz="1800" dirty="0"/>
              <a:t>특징 추출기와 </a:t>
            </a:r>
            <a:r>
              <a:rPr kumimoji="1" lang="en" altLang="ko-KR" sz="1800" dirty="0"/>
              <a:t>SVM </a:t>
            </a:r>
            <a:r>
              <a:rPr kumimoji="1" lang="ko-KR" altLang="en-US" sz="1800" dirty="0"/>
              <a:t>분류기를 통과시켜 객체 클래스를 결정하고 선형 회귀를 통해 경계 상자 </a:t>
            </a:r>
            <a:r>
              <a:rPr kumimoji="1" lang="en-US" altLang="ko-KR" sz="1800" dirty="0"/>
              <a:t>(bounding box)</a:t>
            </a:r>
            <a:r>
              <a:rPr kumimoji="1" lang="ko-KR" altLang="en-US" sz="1800" dirty="0"/>
              <a:t> 좌표를 결정</a:t>
            </a:r>
          </a:p>
        </p:txBody>
      </p:sp>
      <p:pic>
        <p:nvPicPr>
          <p:cNvPr id="1026" name="Picture 2" descr="RCNN">
            <a:extLst>
              <a:ext uri="{FF2B5EF4-FFF2-40B4-BE49-F238E27FC236}">
                <a16:creationId xmlns:a16="http://schemas.microsoft.com/office/drawing/2014/main" id="{638E71C4-A602-0694-DD34-DA7866697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6090" y="1396757"/>
            <a:ext cx="6303134" cy="4034006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238E81-BBC1-822A-7976-65BC2D60E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67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2054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0146E45C-1450-4186-B501-74F221F8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EEDDA48B-BC04-4915-ADA3-A1A9522EB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8C9D07A-5A22-4E55-B18A-47CF07E50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3D71E629-0739-4A59-972B-A9E9A4500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2065" name="Picture 2064">
            <a:extLst>
              <a:ext uri="{FF2B5EF4-FFF2-40B4-BE49-F238E27FC236}">
                <a16:creationId xmlns:a16="http://schemas.microsoft.com/office/drawing/2014/main" id="{AF9C2BBD-AAF7-4C85-9BE4-E4C2F5235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2067" name="Picture 2066">
            <a:extLst>
              <a:ext uri="{FF2B5EF4-FFF2-40B4-BE49-F238E27FC236}">
                <a16:creationId xmlns:a16="http://schemas.microsoft.com/office/drawing/2014/main" id="{AEEF8B78-E487-4E1A-8945-35B4041B0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69" name="Rectangle 2068">
            <a:extLst>
              <a:ext uri="{FF2B5EF4-FFF2-40B4-BE49-F238E27FC236}">
                <a16:creationId xmlns:a16="http://schemas.microsoft.com/office/drawing/2014/main" id="{B9B4F0B3-5A15-4AAD-B054-8BA92098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1" name="Picture 2070">
            <a:extLst>
              <a:ext uri="{FF2B5EF4-FFF2-40B4-BE49-F238E27FC236}">
                <a16:creationId xmlns:a16="http://schemas.microsoft.com/office/drawing/2014/main" id="{CCA43FE3-BC3A-4163-B2D9-721AA0F6F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2073" name="Rectangle 2072">
            <a:extLst>
              <a:ext uri="{FF2B5EF4-FFF2-40B4-BE49-F238E27FC236}">
                <a16:creationId xmlns:a16="http://schemas.microsoft.com/office/drawing/2014/main" id="{488AAD42-9F71-4F14-AE1E-C05DCFC60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641793-94B0-C728-FB2A-94CF5A16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latinLnBrk="0"/>
            <a:r>
              <a:rPr kumimoji="1" lang="en-US" altLang="ko-KR" sz="5400" dirty="0">
                <a:solidFill>
                  <a:srgbClr val="FFFFFF"/>
                </a:solidFill>
              </a:rPr>
              <a:t>R-CNN: Region-Based CNN</a:t>
            </a:r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61B962C9-BE53-4915-9C0C-B53DCD378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RCNN-1">
            <a:extLst>
              <a:ext uri="{FF2B5EF4-FFF2-40B4-BE49-F238E27FC236}">
                <a16:creationId xmlns:a16="http://schemas.microsoft.com/office/drawing/2014/main" id="{3F1DDC25-DED1-F01C-6E4D-8E51D79A6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567945"/>
            <a:ext cx="5629268" cy="3715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5574C5-AADE-BA3F-CEDE-A589B008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11</a:t>
            </a:fld>
            <a:endParaRPr 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994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3078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3081" name="Picture 3080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BFD37E-6E65-67D1-AAE9-A53BB5E0F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>
                <a:solidFill>
                  <a:srgbClr val="FFFFFF"/>
                </a:solidFill>
              </a:rPr>
              <a:t>F-RCNN - Fast R-CNN</a:t>
            </a:r>
            <a:endParaRPr kumimoji="1" lang="ko-KR" altLang="en-US" sz="2400">
              <a:solidFill>
                <a:srgbClr val="FFFFFF"/>
              </a:solidFill>
            </a:endParaRPr>
          </a:p>
        </p:txBody>
      </p:sp>
      <p:pic>
        <p:nvPicPr>
          <p:cNvPr id="3087" name="Picture 3086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F798D-57C2-9F5C-0894-17DDF0D22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kumimoji="1" lang="en" altLang="ko-KR" sz="2000" dirty="0">
                <a:solidFill>
                  <a:srgbClr val="FFFFFF"/>
                </a:solidFill>
              </a:rPr>
              <a:t>R-CNN</a:t>
            </a:r>
            <a:r>
              <a:rPr kumimoji="1" lang="ko-KR" altLang="en-US" sz="2000" dirty="0">
                <a:solidFill>
                  <a:srgbClr val="FFFFFF"/>
                </a:solidFill>
              </a:rPr>
              <a:t>과 유사하지만 </a:t>
            </a:r>
            <a:r>
              <a:rPr kumimoji="1" lang="ko-KR" altLang="en-US" sz="2000" dirty="0" err="1">
                <a:solidFill>
                  <a:srgbClr val="FFFFFF"/>
                </a:solidFill>
              </a:rPr>
              <a:t>컨볼루션</a:t>
            </a:r>
            <a:r>
              <a:rPr kumimoji="1" lang="ko-KR" altLang="en-US" sz="2000" dirty="0">
                <a:solidFill>
                  <a:srgbClr val="FFFFFF"/>
                </a:solidFill>
              </a:rPr>
              <a:t> 레이어가 적용된 후 영역을 정의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endParaRPr kumimoji="1" lang="ko-KR" altLang="en-US" sz="2000" dirty="0">
              <a:solidFill>
                <a:srgbClr val="FFFFFF"/>
              </a:solidFill>
            </a:endParaRPr>
          </a:p>
        </p:txBody>
      </p:sp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FRCNN">
            <a:extLst>
              <a:ext uri="{FF2B5EF4-FFF2-40B4-BE49-F238E27FC236}">
                <a16:creationId xmlns:a16="http://schemas.microsoft.com/office/drawing/2014/main" id="{C41560E4-1BA1-BB32-94D7-E67E95E0A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731241"/>
            <a:ext cx="5629268" cy="3388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B105E2-8C48-CA62-6B22-9FA5BFF9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597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3" name="Picture 4102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4105" name="Picture 4104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07" name="Rectangle 4106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7F06669-B8A3-73EE-1018-3DCDDE1ED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-US" altLang="ko-KR" sz="2400">
                <a:solidFill>
                  <a:srgbClr val="FFFFFF"/>
                </a:solidFill>
              </a:rPr>
              <a:t>Faster R-CNN</a:t>
            </a:r>
            <a:endParaRPr kumimoji="1" lang="ko-KR" altLang="en-US" sz="2400">
              <a:solidFill>
                <a:srgbClr val="FFFFFF"/>
              </a:solidFill>
            </a:endParaRPr>
          </a:p>
        </p:txBody>
      </p:sp>
      <p:pic>
        <p:nvPicPr>
          <p:cNvPr id="4111" name="Picture 4110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F0E418-4554-C92D-A430-414493BC6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kumimoji="1" lang="ko-KR" altLang="en-US" sz="2000">
                <a:solidFill>
                  <a:srgbClr val="FFFFFF"/>
                </a:solidFill>
              </a:rPr>
              <a:t>신경망을 사용하여 </a:t>
            </a:r>
            <a:r>
              <a:rPr kumimoji="1" lang="en" altLang="ko-KR" sz="2000">
                <a:solidFill>
                  <a:srgbClr val="FFFFFF"/>
                </a:solidFill>
              </a:rPr>
              <a:t>ROI</a:t>
            </a:r>
            <a:r>
              <a:rPr kumimoji="1" lang="ko-KR" altLang="en-US" sz="2000">
                <a:solidFill>
                  <a:srgbClr val="FFFFFF"/>
                </a:solidFill>
              </a:rPr>
              <a:t>를 예측하는 것으로</a:t>
            </a:r>
            <a:r>
              <a:rPr kumimoji="1" lang="en-US" altLang="ko-KR" sz="2000">
                <a:solidFill>
                  <a:srgbClr val="FFFFFF"/>
                </a:solidFill>
              </a:rPr>
              <a:t>, Region Proposal Network</a:t>
            </a:r>
            <a:r>
              <a:rPr kumimoji="1" lang="ko-KR" altLang="en-US" sz="2000">
                <a:solidFill>
                  <a:srgbClr val="FFFFFF"/>
                </a:solidFill>
              </a:rPr>
              <a:t>라고 함</a:t>
            </a:r>
            <a:endParaRPr kumimoji="1" lang="en-US" altLang="ko-KR" sz="2000">
              <a:solidFill>
                <a:srgbClr val="FFFFFF"/>
              </a:solidFill>
            </a:endParaRPr>
          </a:p>
          <a:p>
            <a:pPr marL="0" indent="0">
              <a:buNone/>
            </a:pPr>
            <a:endParaRPr kumimoji="1" lang="ko-KR" altLang="en-US" sz="2000">
              <a:solidFill>
                <a:srgbClr val="FFFFFF"/>
              </a:solidFill>
            </a:endParaRPr>
          </a:p>
        </p:txBody>
      </p:sp>
      <p:sp useBgFill="1">
        <p:nvSpPr>
          <p:cNvPr id="4113" name="Rectangle 4112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FasterRCNN">
            <a:extLst>
              <a:ext uri="{FF2B5EF4-FFF2-40B4-BE49-F238E27FC236}">
                <a16:creationId xmlns:a16="http://schemas.microsoft.com/office/drawing/2014/main" id="{4BE590BD-4131-39CC-9317-D602311CB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997981"/>
            <a:ext cx="5629268" cy="4855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A4CD9-B8CC-9A5B-EC20-3A3686D3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486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F4067A-56B5-1A9B-B09C-3B981AE9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100" dirty="0">
                <a:solidFill>
                  <a:srgbClr val="FFFFFF"/>
                </a:solidFill>
              </a:rPr>
              <a:t>R-FCN: Region-Based Fully Convolutional Network</a:t>
            </a:r>
            <a:endParaRPr kumimoji="1" lang="ko-KR" altLang="en-US" sz="4100" dirty="0">
              <a:solidFill>
                <a:srgbClr val="FFFF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D89DBF-63BB-08F2-7843-FF0A3B869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kumimoji="1" lang="en-US" altLang="ko-KR" sz="2000">
                <a:solidFill>
                  <a:srgbClr val="FFFFFF"/>
                </a:solidFill>
              </a:rPr>
              <a:t>Faster</a:t>
            </a:r>
            <a:r>
              <a:rPr kumimoji="1" lang="ko-KR" altLang="en-US" sz="2000">
                <a:solidFill>
                  <a:srgbClr val="FFFFFF"/>
                </a:solidFill>
              </a:rPr>
              <a:t> </a:t>
            </a:r>
            <a:r>
              <a:rPr kumimoji="1" lang="en" altLang="ko-KR" sz="2000">
                <a:solidFill>
                  <a:srgbClr val="FFFFFF"/>
                </a:solidFill>
              </a:rPr>
              <a:t>R-CNN</a:t>
            </a:r>
            <a:r>
              <a:rPr kumimoji="1" lang="ko-KR" altLang="en-US" sz="2000">
                <a:solidFill>
                  <a:srgbClr val="FFFFFF"/>
                </a:solidFill>
              </a:rPr>
              <a:t>보다 훨씬 빠름</a:t>
            </a:r>
            <a:endParaRPr kumimoji="1" lang="en-US" altLang="ko-KR" sz="2000">
              <a:solidFill>
                <a:srgbClr val="FFFFFF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kumimoji="1" lang="en" altLang="ko-KR">
                <a:solidFill>
                  <a:srgbClr val="FFFFFF"/>
                </a:solidFill>
              </a:rPr>
              <a:t>ResNet-101</a:t>
            </a:r>
            <a:r>
              <a:rPr kumimoji="1" lang="ko-KR" altLang="en-US">
                <a:solidFill>
                  <a:srgbClr val="FFFFFF"/>
                </a:solidFill>
              </a:rPr>
              <a:t>을 사용해 특징을 추출</a:t>
            </a:r>
            <a:endParaRPr kumimoji="1" lang="en-US" altLang="ko-KR">
              <a:solidFill>
                <a:srgbClr val="FFFFFF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ko-KR">
                <a:solidFill>
                  <a:srgbClr val="FFFFFF"/>
                </a:solidFill>
              </a:rPr>
              <a:t>Position-Sensitive Score Map</a:t>
            </a:r>
            <a:r>
              <a:rPr kumimoji="1" lang="ko-KR" altLang="en-US">
                <a:solidFill>
                  <a:srgbClr val="FFFFFF"/>
                </a:solidFill>
              </a:rPr>
              <a:t>으로 특징을 처리</a:t>
            </a:r>
            <a:r>
              <a:rPr kumimoji="1" lang="en-US" altLang="ko-KR">
                <a:solidFill>
                  <a:srgbClr val="FFFFFF"/>
                </a:solidFill>
              </a:rPr>
              <a:t> - </a:t>
            </a:r>
            <a:r>
              <a:rPr kumimoji="1" lang="en" altLang="ko-KR">
                <a:solidFill>
                  <a:srgbClr val="FFFFFF"/>
                </a:solidFill>
              </a:rPr>
              <a:t>C </a:t>
            </a:r>
            <a:r>
              <a:rPr kumimoji="1" lang="ko-KR" altLang="en-US">
                <a:solidFill>
                  <a:srgbClr val="FFFFFF"/>
                </a:solidFill>
              </a:rPr>
              <a:t>클래스의 각 객체를 </a:t>
            </a:r>
            <a:r>
              <a:rPr kumimoji="1" lang="en" altLang="ko-KR">
                <a:solidFill>
                  <a:srgbClr val="FFFFFF"/>
                </a:solidFill>
              </a:rPr>
              <a:t>kxk </a:t>
            </a:r>
            <a:r>
              <a:rPr kumimoji="1" lang="ko-KR" altLang="en-US">
                <a:solidFill>
                  <a:srgbClr val="FFFFFF"/>
                </a:solidFill>
              </a:rPr>
              <a:t>영역으로 나누고 객체의 일부를 예측하도록 학습</a:t>
            </a:r>
            <a:endParaRPr kumimoji="1" lang="en-US" altLang="ko-KR">
              <a:solidFill>
                <a:srgbClr val="FFFFFF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kumimoji="1" lang="en" altLang="ko-KR">
                <a:solidFill>
                  <a:srgbClr val="FFFFFF"/>
                </a:solidFill>
              </a:rPr>
              <a:t>kxk </a:t>
            </a:r>
            <a:r>
              <a:rPr kumimoji="1" lang="ko-KR" altLang="en-US">
                <a:solidFill>
                  <a:srgbClr val="FFFFFF"/>
                </a:solidFill>
              </a:rPr>
              <a:t>영역의 각 부분에 대해 모든 네트워크가 객체 클래스에 투표하고 최대 득표수를 얻은 객체 클래스가 선택됨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BADB60-3384-2508-6D35-634E05EB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7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7" name="Picture 5126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148" name="Picture 5128">
            <a:extLst>
              <a:ext uri="{FF2B5EF4-FFF2-40B4-BE49-F238E27FC236}">
                <a16:creationId xmlns:a16="http://schemas.microsoft.com/office/drawing/2014/main" id="{0146E45C-1450-4186-B501-74F221F8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5149" name="Picture 5130">
            <a:extLst>
              <a:ext uri="{FF2B5EF4-FFF2-40B4-BE49-F238E27FC236}">
                <a16:creationId xmlns:a16="http://schemas.microsoft.com/office/drawing/2014/main" id="{EEDDA48B-BC04-4915-ADA3-A1A9522EB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5150" name="Rectangle 5132">
            <a:extLst>
              <a:ext uri="{FF2B5EF4-FFF2-40B4-BE49-F238E27FC236}">
                <a16:creationId xmlns:a16="http://schemas.microsoft.com/office/drawing/2014/main" id="{78C9D07A-5A22-4E55-B18A-47CF07E50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151" name="Rectangle 5134">
            <a:extLst>
              <a:ext uri="{FF2B5EF4-FFF2-40B4-BE49-F238E27FC236}">
                <a16:creationId xmlns:a16="http://schemas.microsoft.com/office/drawing/2014/main" id="{3D71E629-0739-4A59-972B-A9E9A4500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5152" name="Rectangle 5136">
            <a:extLst>
              <a:ext uri="{FF2B5EF4-FFF2-40B4-BE49-F238E27FC236}">
                <a16:creationId xmlns:a16="http://schemas.microsoft.com/office/drawing/2014/main" id="{02AEAF3C-0CED-4482-86B9-3C180EDC9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r-fcn image">
            <a:extLst>
              <a:ext uri="{FF2B5EF4-FFF2-40B4-BE49-F238E27FC236}">
                <a16:creationId xmlns:a16="http://schemas.microsoft.com/office/drawing/2014/main" id="{1F922499-FE1E-071A-5D81-AE0EDEEAD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7309" y="640080"/>
            <a:ext cx="7772089" cy="3380859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53" name="Rectangle 5138">
            <a:extLst>
              <a:ext uri="{FF2B5EF4-FFF2-40B4-BE49-F238E27FC236}">
                <a16:creationId xmlns:a16="http://schemas.microsoft.com/office/drawing/2014/main" id="{5020BDF5-9C02-46E6-A235-B50ED2AF1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368017"/>
            <a:ext cx="10439400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FF2746-359D-382F-2A69-EFB780C1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158" y="4499572"/>
            <a:ext cx="9619488" cy="9552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3000"/>
              <a:t>R-FCN: Region-Based Fully Convolutional Network</a:t>
            </a:r>
          </a:p>
        </p:txBody>
      </p:sp>
      <p:pic>
        <p:nvPicPr>
          <p:cNvPr id="5154" name="Picture 5140">
            <a:extLst>
              <a:ext uri="{FF2B5EF4-FFF2-40B4-BE49-F238E27FC236}">
                <a16:creationId xmlns:a16="http://schemas.microsoft.com/office/drawing/2014/main" id="{8A9197D8-E05A-4B70-8742-A3FE216E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0" y="6020068"/>
            <a:ext cx="10439399" cy="275942"/>
          </a:xfrm>
          <a:prstGeom prst="rect">
            <a:avLst/>
          </a:prstGeom>
        </p:spPr>
      </p:pic>
      <p:pic>
        <p:nvPicPr>
          <p:cNvPr id="5155" name="Picture 5142">
            <a:extLst>
              <a:ext uri="{FF2B5EF4-FFF2-40B4-BE49-F238E27FC236}">
                <a16:creationId xmlns:a16="http://schemas.microsoft.com/office/drawing/2014/main" id="{6161444F-3323-47B2-B7CA-87E67EE6C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10583333" y="6021062"/>
            <a:ext cx="1605490" cy="276940"/>
          </a:xfrm>
          <a:prstGeom prst="rect">
            <a:avLst/>
          </a:prstGeom>
        </p:spPr>
      </p:pic>
      <p:sp>
        <p:nvSpPr>
          <p:cNvPr id="5156" name="Rectangle 5144">
            <a:extLst>
              <a:ext uri="{FF2B5EF4-FFF2-40B4-BE49-F238E27FC236}">
                <a16:creationId xmlns:a16="http://schemas.microsoft.com/office/drawing/2014/main" id="{9A100E83-CB52-4190-BE11-7D3AE1AE4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0594976" y="4367295"/>
            <a:ext cx="1597024" cy="1660332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451F0E-C0EE-C1C6-E003-8CEC53A3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9409" y="4687846"/>
            <a:ext cx="1173167" cy="7223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4400">
                <a:solidFill>
                  <a:prstClr val="white">
                    <a:tint val="75000"/>
                  </a:prstClr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 sz="440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369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1" name="Picture 6150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6153" name="Picture 6152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55" name="Rectangle 6154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4E1EFF2-A167-B5D5-234F-663DBEEEE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>
                <a:solidFill>
                  <a:srgbClr val="FFFFFF"/>
                </a:solidFill>
              </a:rPr>
              <a:t>YOLO - You Only Look Once</a:t>
            </a:r>
            <a:endParaRPr kumimoji="1" lang="ko-KR" altLang="en-US" sz="2400">
              <a:solidFill>
                <a:srgbClr val="FFFFFF"/>
              </a:solidFill>
            </a:endParaRPr>
          </a:p>
        </p:txBody>
      </p:sp>
      <p:pic>
        <p:nvPicPr>
          <p:cNvPr id="6159" name="Picture 6158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D4CBE9-7B8C-862A-D2B5-85900514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952513" cy="3599316"/>
          </a:xfrm>
        </p:spPr>
        <p:txBody>
          <a:bodyPr>
            <a:normAutofit/>
          </a:bodyPr>
          <a:lstStyle/>
          <a:p>
            <a:r>
              <a:rPr kumimoji="1" lang="en" altLang="ko-KR" sz="1800" dirty="0">
                <a:solidFill>
                  <a:srgbClr val="FFFFFF"/>
                </a:solidFill>
              </a:rPr>
              <a:t>YOLO</a:t>
            </a:r>
            <a:r>
              <a:rPr kumimoji="1" lang="ko-KR" altLang="en-US" sz="1800" dirty="0">
                <a:solidFill>
                  <a:srgbClr val="FFFFFF"/>
                </a:solidFill>
              </a:rPr>
              <a:t>는 실시간 </a:t>
            </a:r>
            <a:r>
              <a:rPr kumimoji="1" lang="ko-KR" altLang="en-US" sz="1800" dirty="0" err="1">
                <a:solidFill>
                  <a:srgbClr val="FFFFFF"/>
                </a:solidFill>
              </a:rPr>
              <a:t>원패스</a:t>
            </a:r>
            <a:r>
              <a:rPr kumimoji="1" lang="ko-KR" altLang="en-US" sz="1800" dirty="0">
                <a:solidFill>
                  <a:srgbClr val="FFFFFF"/>
                </a:solidFill>
              </a:rPr>
              <a:t> 알고리즘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/>
            <a:r>
              <a:rPr kumimoji="1" lang="ko-KR" altLang="en-US" sz="1800" dirty="0">
                <a:solidFill>
                  <a:srgbClr val="FFFFFF"/>
                </a:solidFill>
              </a:rPr>
              <a:t>이미지를 </a:t>
            </a:r>
            <a:r>
              <a:rPr kumimoji="1" lang="en" altLang="ko-KR" sz="1800" dirty="0" err="1">
                <a:solidFill>
                  <a:srgbClr val="FFFFFF"/>
                </a:solidFill>
              </a:rPr>
              <a:t>SxX</a:t>
            </a:r>
            <a:r>
              <a:rPr kumimoji="1" lang="en" altLang="ko-KR" sz="1800" dirty="0">
                <a:solidFill>
                  <a:srgbClr val="FFFFFF"/>
                </a:solidFill>
              </a:rPr>
              <a:t> </a:t>
            </a:r>
            <a:r>
              <a:rPr kumimoji="1" lang="ko-KR" altLang="en-US" sz="1800" dirty="0">
                <a:solidFill>
                  <a:srgbClr val="FFFFFF"/>
                </a:solidFill>
              </a:rPr>
              <a:t>영역으로 나눔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/>
            <a:r>
              <a:rPr kumimoji="1" lang="ko-KR" altLang="en-US" sz="1800" dirty="0">
                <a:solidFill>
                  <a:srgbClr val="FFFFFF"/>
                </a:solidFill>
              </a:rPr>
              <a:t>각 영역에 대해 </a:t>
            </a:r>
            <a:r>
              <a:rPr kumimoji="1" lang="en" altLang="ko-KR" sz="1800" dirty="0">
                <a:solidFill>
                  <a:srgbClr val="FFFFFF"/>
                </a:solidFill>
              </a:rPr>
              <a:t>CNN</a:t>
            </a:r>
            <a:r>
              <a:rPr kumimoji="1" lang="ko-KR" altLang="en-US" sz="1800" dirty="0">
                <a:solidFill>
                  <a:srgbClr val="FFFFFF"/>
                </a:solidFill>
              </a:rPr>
              <a:t>은 가능한 객체</a:t>
            </a:r>
            <a:r>
              <a:rPr kumimoji="1" lang="en-US" altLang="ko-KR" sz="1800" dirty="0">
                <a:solidFill>
                  <a:srgbClr val="FFFFFF"/>
                </a:solidFill>
              </a:rPr>
              <a:t>, </a:t>
            </a:r>
            <a:r>
              <a:rPr kumimoji="1" lang="ko-KR" altLang="en-US" sz="1800" dirty="0">
                <a:solidFill>
                  <a:srgbClr val="FFFFFF"/>
                </a:solidFill>
              </a:rPr>
              <a:t>경계 상자 좌표 및 신뢰도 </a:t>
            </a:r>
            <a:r>
              <a:rPr kumimoji="1" lang="en-US" altLang="ko-KR" sz="1800" dirty="0">
                <a:solidFill>
                  <a:srgbClr val="FFFFFF"/>
                </a:solidFill>
              </a:rPr>
              <a:t>=</a:t>
            </a:r>
            <a:r>
              <a:rPr kumimoji="1" lang="ko-KR" altLang="en-US" sz="1800" dirty="0">
                <a:solidFill>
                  <a:srgbClr val="FFFFFF"/>
                </a:solidFill>
              </a:rPr>
              <a:t> 확률 * </a:t>
            </a:r>
            <a:r>
              <a:rPr kumimoji="1" lang="en" altLang="ko-KR" sz="1800" dirty="0" err="1">
                <a:solidFill>
                  <a:srgbClr val="FFFFFF"/>
                </a:solidFill>
              </a:rPr>
              <a:t>IoU</a:t>
            </a:r>
            <a:r>
              <a:rPr kumimoji="1" lang="ko-KR" altLang="en-US" sz="1800" dirty="0" err="1">
                <a:solidFill>
                  <a:srgbClr val="FFFFFF"/>
                </a:solidFill>
              </a:rPr>
              <a:t>를</a:t>
            </a:r>
            <a:r>
              <a:rPr kumimoji="1" lang="ko-KR" altLang="en-US" sz="1800" dirty="0">
                <a:solidFill>
                  <a:srgbClr val="FFFFFF"/>
                </a:solidFill>
              </a:rPr>
              <a:t> 예측</a:t>
            </a:r>
          </a:p>
        </p:txBody>
      </p:sp>
      <p:sp useBgFill="1">
        <p:nvSpPr>
          <p:cNvPr id="6161" name="Rectangle 6160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YOLO">
            <a:extLst>
              <a:ext uri="{FF2B5EF4-FFF2-40B4-BE49-F238E27FC236}">
                <a16:creationId xmlns:a16="http://schemas.microsoft.com/office/drawing/2014/main" id="{EB84BCC7-023A-21C2-6A79-6892AC583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610165"/>
            <a:ext cx="5629268" cy="363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A99EB0-D0EE-C763-B7EE-C31A98CF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90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2E911EF-80F5-4781-A4DF-44EFAF242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0A2A734-17E4-44D5-9630-D54D6AF7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FFB5C33-24B2-4764-BDBD-4C10A21DB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EB601E2-EFED-4313-BEE4-9E27B94FC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2"/>
            <a:ext cx="9110541" cy="24655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425DB5A-CEE1-4EE1-8C4A-689E49D3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327C1ED-0EF3-02B7-01E1-FA151460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10" y="2733709"/>
            <a:ext cx="7657792" cy="13730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5400">
                <a:solidFill>
                  <a:srgbClr val="FFFFFF"/>
                </a:solidFill>
              </a:rPr>
              <a:t>ObjectDetection.ipynb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32DA1-C258-242D-7AEB-AE8C66CC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17</a:t>
            </a:fld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826797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2365</TotalTime>
  <Words>590</Words>
  <Application>Microsoft Macintosh PowerPoint</Application>
  <PresentationFormat>와이드스크린</PresentationFormat>
  <Paragraphs>77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Trebuchet MS</vt:lpstr>
      <vt:lpstr>Wingdings</vt:lpstr>
      <vt:lpstr>베를린</vt:lpstr>
      <vt:lpstr>Object Detection</vt:lpstr>
      <vt:lpstr>Object Detection</vt:lpstr>
      <vt:lpstr>A Naive Approach to Object Detection</vt:lpstr>
      <vt:lpstr>Datasets for Object Detection</vt:lpstr>
      <vt:lpstr>Intersection over Union (IoU)</vt:lpstr>
      <vt:lpstr>Average Precision (AP)</vt:lpstr>
      <vt:lpstr>AP and IoU</vt:lpstr>
      <vt:lpstr>Mean Average Precision (mAP)</vt:lpstr>
      <vt:lpstr>Different Object Detection Approaches</vt:lpstr>
      <vt:lpstr>R-CNN: Region-Based CNN</vt:lpstr>
      <vt:lpstr>R-CNN: Region-Based CNN</vt:lpstr>
      <vt:lpstr>F-RCNN - Fast R-CNN</vt:lpstr>
      <vt:lpstr>Faster R-CNN</vt:lpstr>
      <vt:lpstr>R-FCN: Region-Based Fully Convolutional Network</vt:lpstr>
      <vt:lpstr>R-FCN: Region-Based Fully Convolutional Network</vt:lpstr>
      <vt:lpstr>YOLO - You Only Look Once</vt:lpstr>
      <vt:lpstr>ObjectDetection.ipynb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백우진</cp:lastModifiedBy>
  <cp:revision>82</cp:revision>
  <dcterms:created xsi:type="dcterms:W3CDTF">2024-04-09T10:12:03Z</dcterms:created>
  <dcterms:modified xsi:type="dcterms:W3CDTF">2024-05-20T12:53:52Z</dcterms:modified>
</cp:coreProperties>
</file>
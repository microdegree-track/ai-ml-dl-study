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1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63"/>
    <p:restoredTop sz="94694"/>
  </p:normalViewPr>
  <p:slideViewPr>
    <p:cSldViewPr snapToGrid="0">
      <p:cViewPr varScale="1">
        <p:scale>
          <a:sx n="121" d="100"/>
          <a:sy n="121" d="100"/>
        </p:scale>
        <p:origin x="9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844495-0D08-4A7B-9982-9AEC5F51ACC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8B9FCD8-11F9-4804-9512-8780FAB8FBFB}">
      <dgm:prSet/>
      <dgm:spPr/>
      <dgm:t>
        <a:bodyPr/>
        <a:lstStyle/>
        <a:p>
          <a:r>
            <a:rPr kumimoji="1" lang="en-US"/>
            <a:t>CNN</a:t>
          </a:r>
          <a:r>
            <a:rPr kumimoji="1" lang="ko-KR"/>
            <a:t>을 훈련하는 데는 많은 시간이 소요될 수 있으며</a:t>
          </a:r>
          <a:r>
            <a:rPr kumimoji="1" lang="en-US"/>
            <a:t>, </a:t>
          </a:r>
          <a:r>
            <a:rPr kumimoji="1" lang="ko-KR"/>
            <a:t>이 작업에는 많은 데이터가 필요</a:t>
          </a:r>
          <a:endParaRPr lang="en-US"/>
        </a:p>
      </dgm:t>
    </dgm:pt>
    <dgm:pt modelId="{4AA7027C-41AD-4B60-A7EA-A2D05DBF8D92}" type="parTrans" cxnId="{618FA1C1-5775-4E0E-B3C5-F15007911A9C}">
      <dgm:prSet/>
      <dgm:spPr/>
      <dgm:t>
        <a:bodyPr/>
        <a:lstStyle/>
        <a:p>
          <a:endParaRPr lang="en-US"/>
        </a:p>
      </dgm:t>
    </dgm:pt>
    <dgm:pt modelId="{47CBCF8F-9CBB-4D01-807C-AF4F81CF32A4}" type="sibTrans" cxnId="{618FA1C1-5775-4E0E-B3C5-F15007911A9C}">
      <dgm:prSet/>
      <dgm:spPr/>
      <dgm:t>
        <a:bodyPr/>
        <a:lstStyle/>
        <a:p>
          <a:endParaRPr lang="en-US"/>
        </a:p>
      </dgm:t>
    </dgm:pt>
    <dgm:pt modelId="{A7317BE5-BE3E-4607-9B5C-FBC8072AE3D0}">
      <dgm:prSet/>
      <dgm:spPr/>
      <dgm:t>
        <a:bodyPr/>
        <a:lstStyle/>
        <a:p>
          <a:r>
            <a:rPr kumimoji="1" lang="ko-KR"/>
            <a:t>대부분의 훈련 시간은 네트워크가 이미지에서 패턴을 추출하는 데 사용할 수 있는 최적의 저</a:t>
          </a:r>
          <a:r>
            <a:rPr kumimoji="1" lang="en-US"/>
            <a:t>-</a:t>
          </a:r>
          <a:r>
            <a:rPr kumimoji="1" lang="ko-KR"/>
            <a:t>수준 필터를 학습하는 데 소여</a:t>
          </a:r>
          <a:endParaRPr lang="en-US"/>
        </a:p>
      </dgm:t>
    </dgm:pt>
    <dgm:pt modelId="{B40FE35A-8538-4452-A6AE-4406EDC1E08F}" type="parTrans" cxnId="{709EC357-172E-41A3-8FB9-A664BEA96938}">
      <dgm:prSet/>
      <dgm:spPr/>
      <dgm:t>
        <a:bodyPr/>
        <a:lstStyle/>
        <a:p>
          <a:endParaRPr lang="en-US"/>
        </a:p>
      </dgm:t>
    </dgm:pt>
    <dgm:pt modelId="{17C3AEF4-8815-45F5-B111-4CB2207435CF}" type="sibTrans" cxnId="{709EC357-172E-41A3-8FB9-A664BEA96938}">
      <dgm:prSet/>
      <dgm:spPr/>
      <dgm:t>
        <a:bodyPr/>
        <a:lstStyle/>
        <a:p>
          <a:endParaRPr lang="en-US"/>
        </a:p>
      </dgm:t>
    </dgm:pt>
    <dgm:pt modelId="{CAD9797D-C57F-42C9-955D-13657A956257}">
      <dgm:prSet/>
      <dgm:spPr/>
      <dgm:t>
        <a:bodyPr/>
        <a:lstStyle/>
        <a:p>
          <a:r>
            <a:rPr kumimoji="1" lang="ko-KR"/>
            <a:t>그렇다면 하나의 데이터 세트에 대해 미리 학습된 신경망을 사용하여 전체 학습 과정 없이도 다른 이미지를 분류하는 데 적용할 수 있을까</a:t>
          </a:r>
          <a:r>
            <a:rPr kumimoji="1" lang="en-US"/>
            <a:t>?</a:t>
          </a:r>
          <a:endParaRPr lang="en-US"/>
        </a:p>
      </dgm:t>
    </dgm:pt>
    <dgm:pt modelId="{BC50EDB3-2BAB-45F5-A676-28E922FA5FCA}" type="parTrans" cxnId="{3D77C097-99E1-4674-AFAF-58C7917773D1}">
      <dgm:prSet/>
      <dgm:spPr/>
      <dgm:t>
        <a:bodyPr/>
        <a:lstStyle/>
        <a:p>
          <a:endParaRPr lang="en-US"/>
        </a:p>
      </dgm:t>
    </dgm:pt>
    <dgm:pt modelId="{029DFEB3-B696-4CB5-839E-2C0E3800B39F}" type="sibTrans" cxnId="{3D77C097-99E1-4674-AFAF-58C7917773D1}">
      <dgm:prSet/>
      <dgm:spPr/>
      <dgm:t>
        <a:bodyPr/>
        <a:lstStyle/>
        <a:p>
          <a:endParaRPr lang="en-US"/>
        </a:p>
      </dgm:t>
    </dgm:pt>
    <dgm:pt modelId="{38758520-FE8A-B846-A531-B7998ED43932}" type="pres">
      <dgm:prSet presAssocID="{44844495-0D08-4A7B-9982-9AEC5F51ACC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F438FE9-E65C-DE40-B82E-0D6D58899BE0}" type="pres">
      <dgm:prSet presAssocID="{A8B9FCD8-11F9-4804-9512-8780FAB8FBFB}" presName="hierRoot1" presStyleCnt="0"/>
      <dgm:spPr/>
    </dgm:pt>
    <dgm:pt modelId="{F92C121E-38C2-2E4F-AC35-AE7FE26BD7BE}" type="pres">
      <dgm:prSet presAssocID="{A8B9FCD8-11F9-4804-9512-8780FAB8FBFB}" presName="composite" presStyleCnt="0"/>
      <dgm:spPr/>
    </dgm:pt>
    <dgm:pt modelId="{B61D9B48-41DA-EA4F-B9B5-AC3C88A1EEB9}" type="pres">
      <dgm:prSet presAssocID="{A8B9FCD8-11F9-4804-9512-8780FAB8FBFB}" presName="background" presStyleLbl="node0" presStyleIdx="0" presStyleCnt="3"/>
      <dgm:spPr/>
    </dgm:pt>
    <dgm:pt modelId="{5C0AA8BF-9ED0-2749-9E4B-88622B51C54F}" type="pres">
      <dgm:prSet presAssocID="{A8B9FCD8-11F9-4804-9512-8780FAB8FBFB}" presName="text" presStyleLbl="fgAcc0" presStyleIdx="0" presStyleCnt="3">
        <dgm:presLayoutVars>
          <dgm:chPref val="3"/>
        </dgm:presLayoutVars>
      </dgm:prSet>
      <dgm:spPr/>
    </dgm:pt>
    <dgm:pt modelId="{44E1DB07-692B-7A48-8C9D-FABFFF812EA0}" type="pres">
      <dgm:prSet presAssocID="{A8B9FCD8-11F9-4804-9512-8780FAB8FBFB}" presName="hierChild2" presStyleCnt="0"/>
      <dgm:spPr/>
    </dgm:pt>
    <dgm:pt modelId="{C4A76446-174E-1B4C-BE9C-12D5CFC74F49}" type="pres">
      <dgm:prSet presAssocID="{A7317BE5-BE3E-4607-9B5C-FBC8072AE3D0}" presName="hierRoot1" presStyleCnt="0"/>
      <dgm:spPr/>
    </dgm:pt>
    <dgm:pt modelId="{4B1BC633-4DE6-6A40-8571-0FE955C9B347}" type="pres">
      <dgm:prSet presAssocID="{A7317BE5-BE3E-4607-9B5C-FBC8072AE3D0}" presName="composite" presStyleCnt="0"/>
      <dgm:spPr/>
    </dgm:pt>
    <dgm:pt modelId="{C2A13695-4A11-6B4B-9689-099ED27F1944}" type="pres">
      <dgm:prSet presAssocID="{A7317BE5-BE3E-4607-9B5C-FBC8072AE3D0}" presName="background" presStyleLbl="node0" presStyleIdx="1" presStyleCnt="3"/>
      <dgm:spPr/>
    </dgm:pt>
    <dgm:pt modelId="{0AD9BCF3-B343-6E4B-929E-0D9C9273461D}" type="pres">
      <dgm:prSet presAssocID="{A7317BE5-BE3E-4607-9B5C-FBC8072AE3D0}" presName="text" presStyleLbl="fgAcc0" presStyleIdx="1" presStyleCnt="3">
        <dgm:presLayoutVars>
          <dgm:chPref val="3"/>
        </dgm:presLayoutVars>
      </dgm:prSet>
      <dgm:spPr/>
    </dgm:pt>
    <dgm:pt modelId="{9FBE61C4-D49F-C643-90D1-D1D2883DFE8A}" type="pres">
      <dgm:prSet presAssocID="{A7317BE5-BE3E-4607-9B5C-FBC8072AE3D0}" presName="hierChild2" presStyleCnt="0"/>
      <dgm:spPr/>
    </dgm:pt>
    <dgm:pt modelId="{8713BC92-BA07-0748-A250-B7E16B24EDF7}" type="pres">
      <dgm:prSet presAssocID="{CAD9797D-C57F-42C9-955D-13657A956257}" presName="hierRoot1" presStyleCnt="0"/>
      <dgm:spPr/>
    </dgm:pt>
    <dgm:pt modelId="{01627F04-936A-1F40-ACEE-69ED44766EA2}" type="pres">
      <dgm:prSet presAssocID="{CAD9797D-C57F-42C9-955D-13657A956257}" presName="composite" presStyleCnt="0"/>
      <dgm:spPr/>
    </dgm:pt>
    <dgm:pt modelId="{338882BB-74D0-AC45-B759-BF2185F61444}" type="pres">
      <dgm:prSet presAssocID="{CAD9797D-C57F-42C9-955D-13657A956257}" presName="background" presStyleLbl="node0" presStyleIdx="2" presStyleCnt="3"/>
      <dgm:spPr/>
    </dgm:pt>
    <dgm:pt modelId="{24CF7643-F4BF-B146-A8EA-55D43D41BAE0}" type="pres">
      <dgm:prSet presAssocID="{CAD9797D-C57F-42C9-955D-13657A956257}" presName="text" presStyleLbl="fgAcc0" presStyleIdx="2" presStyleCnt="3">
        <dgm:presLayoutVars>
          <dgm:chPref val="3"/>
        </dgm:presLayoutVars>
      </dgm:prSet>
      <dgm:spPr/>
    </dgm:pt>
    <dgm:pt modelId="{D891273E-72F5-CB49-9A6E-8023A64B7B14}" type="pres">
      <dgm:prSet presAssocID="{CAD9797D-C57F-42C9-955D-13657A956257}" presName="hierChild2" presStyleCnt="0"/>
      <dgm:spPr/>
    </dgm:pt>
  </dgm:ptLst>
  <dgm:cxnLst>
    <dgm:cxn modelId="{709EC357-172E-41A3-8FB9-A664BEA96938}" srcId="{44844495-0D08-4A7B-9982-9AEC5F51ACC1}" destId="{A7317BE5-BE3E-4607-9B5C-FBC8072AE3D0}" srcOrd="1" destOrd="0" parTransId="{B40FE35A-8538-4452-A6AE-4406EDC1E08F}" sibTransId="{17C3AEF4-8815-45F5-B111-4CB2207435CF}"/>
    <dgm:cxn modelId="{5BB37B6C-04D2-354C-AC5C-6B0AAF3E1A09}" type="presOf" srcId="{A7317BE5-BE3E-4607-9B5C-FBC8072AE3D0}" destId="{0AD9BCF3-B343-6E4B-929E-0D9C9273461D}" srcOrd="0" destOrd="0" presId="urn:microsoft.com/office/officeart/2005/8/layout/hierarchy1"/>
    <dgm:cxn modelId="{3D77C097-99E1-4674-AFAF-58C7917773D1}" srcId="{44844495-0D08-4A7B-9982-9AEC5F51ACC1}" destId="{CAD9797D-C57F-42C9-955D-13657A956257}" srcOrd="2" destOrd="0" parTransId="{BC50EDB3-2BAB-45F5-A676-28E922FA5FCA}" sibTransId="{029DFEB3-B696-4CB5-839E-2C0E3800B39F}"/>
    <dgm:cxn modelId="{7A343EBF-58F6-3943-9A73-7912E08D4490}" type="presOf" srcId="{44844495-0D08-4A7B-9982-9AEC5F51ACC1}" destId="{38758520-FE8A-B846-A531-B7998ED43932}" srcOrd="0" destOrd="0" presId="urn:microsoft.com/office/officeart/2005/8/layout/hierarchy1"/>
    <dgm:cxn modelId="{618FA1C1-5775-4E0E-B3C5-F15007911A9C}" srcId="{44844495-0D08-4A7B-9982-9AEC5F51ACC1}" destId="{A8B9FCD8-11F9-4804-9512-8780FAB8FBFB}" srcOrd="0" destOrd="0" parTransId="{4AA7027C-41AD-4B60-A7EA-A2D05DBF8D92}" sibTransId="{47CBCF8F-9CBB-4D01-807C-AF4F81CF32A4}"/>
    <dgm:cxn modelId="{9A7A65E8-071F-5C43-BEC4-46E3E2A1ABCC}" type="presOf" srcId="{A8B9FCD8-11F9-4804-9512-8780FAB8FBFB}" destId="{5C0AA8BF-9ED0-2749-9E4B-88622B51C54F}" srcOrd="0" destOrd="0" presId="urn:microsoft.com/office/officeart/2005/8/layout/hierarchy1"/>
    <dgm:cxn modelId="{AF297BF5-CB85-C34B-801E-C5B2BF280952}" type="presOf" srcId="{CAD9797D-C57F-42C9-955D-13657A956257}" destId="{24CF7643-F4BF-B146-A8EA-55D43D41BAE0}" srcOrd="0" destOrd="0" presId="urn:microsoft.com/office/officeart/2005/8/layout/hierarchy1"/>
    <dgm:cxn modelId="{66D947CE-1D76-5243-9F63-B17B32A82270}" type="presParOf" srcId="{38758520-FE8A-B846-A531-B7998ED43932}" destId="{CF438FE9-E65C-DE40-B82E-0D6D58899BE0}" srcOrd="0" destOrd="0" presId="urn:microsoft.com/office/officeart/2005/8/layout/hierarchy1"/>
    <dgm:cxn modelId="{028282C6-8BB9-2946-AFAA-12E5788179A1}" type="presParOf" srcId="{CF438FE9-E65C-DE40-B82E-0D6D58899BE0}" destId="{F92C121E-38C2-2E4F-AC35-AE7FE26BD7BE}" srcOrd="0" destOrd="0" presId="urn:microsoft.com/office/officeart/2005/8/layout/hierarchy1"/>
    <dgm:cxn modelId="{5ED6D60E-DAFC-C140-A73F-D639C1528505}" type="presParOf" srcId="{F92C121E-38C2-2E4F-AC35-AE7FE26BD7BE}" destId="{B61D9B48-41DA-EA4F-B9B5-AC3C88A1EEB9}" srcOrd="0" destOrd="0" presId="urn:microsoft.com/office/officeart/2005/8/layout/hierarchy1"/>
    <dgm:cxn modelId="{8C40CD99-A525-004A-B066-CEB81815B8B3}" type="presParOf" srcId="{F92C121E-38C2-2E4F-AC35-AE7FE26BD7BE}" destId="{5C0AA8BF-9ED0-2749-9E4B-88622B51C54F}" srcOrd="1" destOrd="0" presId="urn:microsoft.com/office/officeart/2005/8/layout/hierarchy1"/>
    <dgm:cxn modelId="{1CFD089B-4F65-3642-B8D2-DCA0D9A7BC95}" type="presParOf" srcId="{CF438FE9-E65C-DE40-B82E-0D6D58899BE0}" destId="{44E1DB07-692B-7A48-8C9D-FABFFF812EA0}" srcOrd="1" destOrd="0" presId="urn:microsoft.com/office/officeart/2005/8/layout/hierarchy1"/>
    <dgm:cxn modelId="{D79FD4EE-1011-DD41-88B1-E241EF5661FC}" type="presParOf" srcId="{38758520-FE8A-B846-A531-B7998ED43932}" destId="{C4A76446-174E-1B4C-BE9C-12D5CFC74F49}" srcOrd="1" destOrd="0" presId="urn:microsoft.com/office/officeart/2005/8/layout/hierarchy1"/>
    <dgm:cxn modelId="{B710A377-3CCA-B043-8083-6D1710E4BADF}" type="presParOf" srcId="{C4A76446-174E-1B4C-BE9C-12D5CFC74F49}" destId="{4B1BC633-4DE6-6A40-8571-0FE955C9B347}" srcOrd="0" destOrd="0" presId="urn:microsoft.com/office/officeart/2005/8/layout/hierarchy1"/>
    <dgm:cxn modelId="{996BE119-C238-D249-A8C9-FFEC7DF01143}" type="presParOf" srcId="{4B1BC633-4DE6-6A40-8571-0FE955C9B347}" destId="{C2A13695-4A11-6B4B-9689-099ED27F1944}" srcOrd="0" destOrd="0" presId="urn:microsoft.com/office/officeart/2005/8/layout/hierarchy1"/>
    <dgm:cxn modelId="{723C2606-257E-994F-976B-8DFD33A93F69}" type="presParOf" srcId="{4B1BC633-4DE6-6A40-8571-0FE955C9B347}" destId="{0AD9BCF3-B343-6E4B-929E-0D9C9273461D}" srcOrd="1" destOrd="0" presId="urn:microsoft.com/office/officeart/2005/8/layout/hierarchy1"/>
    <dgm:cxn modelId="{7A28DD95-CAD0-F744-9310-4543F6533F57}" type="presParOf" srcId="{C4A76446-174E-1B4C-BE9C-12D5CFC74F49}" destId="{9FBE61C4-D49F-C643-90D1-D1D2883DFE8A}" srcOrd="1" destOrd="0" presId="urn:microsoft.com/office/officeart/2005/8/layout/hierarchy1"/>
    <dgm:cxn modelId="{9A6FFAB9-4098-A649-876C-892D7B53EF69}" type="presParOf" srcId="{38758520-FE8A-B846-A531-B7998ED43932}" destId="{8713BC92-BA07-0748-A250-B7E16B24EDF7}" srcOrd="2" destOrd="0" presId="urn:microsoft.com/office/officeart/2005/8/layout/hierarchy1"/>
    <dgm:cxn modelId="{B79F19CE-786B-5643-885B-61BA149B3106}" type="presParOf" srcId="{8713BC92-BA07-0748-A250-B7E16B24EDF7}" destId="{01627F04-936A-1F40-ACEE-69ED44766EA2}" srcOrd="0" destOrd="0" presId="urn:microsoft.com/office/officeart/2005/8/layout/hierarchy1"/>
    <dgm:cxn modelId="{58C400DD-F1BF-8D42-ACE7-D9722F71B6DC}" type="presParOf" srcId="{01627F04-936A-1F40-ACEE-69ED44766EA2}" destId="{338882BB-74D0-AC45-B759-BF2185F61444}" srcOrd="0" destOrd="0" presId="urn:microsoft.com/office/officeart/2005/8/layout/hierarchy1"/>
    <dgm:cxn modelId="{F14D4D19-C7CF-254C-B6B5-74626B8B0713}" type="presParOf" srcId="{01627F04-936A-1F40-ACEE-69ED44766EA2}" destId="{24CF7643-F4BF-B146-A8EA-55D43D41BAE0}" srcOrd="1" destOrd="0" presId="urn:microsoft.com/office/officeart/2005/8/layout/hierarchy1"/>
    <dgm:cxn modelId="{2A7C71E7-8E46-7E43-A66F-80AD8EC791C4}" type="presParOf" srcId="{8713BC92-BA07-0748-A250-B7E16B24EDF7}" destId="{D891273E-72F5-CB49-9A6E-8023A64B7B1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5FFD5F6-D84C-43A7-90A4-E9997BAF26E3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ED52DF4-3002-4963-B683-2EC5B680053F}">
      <dgm:prSet/>
      <dgm:spPr/>
      <dgm:t>
        <a:bodyPr/>
        <a:lstStyle/>
        <a:p>
          <a:r>
            <a:rPr kumimoji="1" lang="ko-KR"/>
            <a:t>전이 학습은 한 신경망 모델에서 다른 신경망 모델로 일부 지식을 이전</a:t>
          </a:r>
          <a:endParaRPr lang="en-US"/>
        </a:p>
      </dgm:t>
    </dgm:pt>
    <dgm:pt modelId="{EC02C824-70E7-470D-BB27-003ADD0F47F3}" type="parTrans" cxnId="{459EAC5F-9416-46EF-823B-709C673F1551}">
      <dgm:prSet/>
      <dgm:spPr/>
      <dgm:t>
        <a:bodyPr/>
        <a:lstStyle/>
        <a:p>
          <a:endParaRPr lang="en-US"/>
        </a:p>
      </dgm:t>
    </dgm:pt>
    <dgm:pt modelId="{51211AE2-177F-4BBD-9AE1-7A6E8BF8A731}" type="sibTrans" cxnId="{459EAC5F-9416-46EF-823B-709C673F1551}">
      <dgm:prSet/>
      <dgm:spPr/>
      <dgm:t>
        <a:bodyPr/>
        <a:lstStyle/>
        <a:p>
          <a:endParaRPr lang="en-US"/>
        </a:p>
      </dgm:t>
    </dgm:pt>
    <dgm:pt modelId="{50E2BBA6-6B54-4F00-954D-A3CB6453E29A}">
      <dgm:prSet/>
      <dgm:spPr/>
      <dgm:t>
        <a:bodyPr/>
        <a:lstStyle/>
        <a:p>
          <a:r>
            <a:rPr kumimoji="1" lang="ko-KR"/>
            <a:t>전이 학습에서는 일반적으로 이미지넷과 같은 대규모 이미지 데이터 세트에서 훈련된 사전 훈련된 모델로 시작</a:t>
          </a:r>
          <a:endParaRPr lang="en-US"/>
        </a:p>
      </dgm:t>
    </dgm:pt>
    <dgm:pt modelId="{D27AD114-6CAB-4B2E-83A4-74D922829ED6}" type="parTrans" cxnId="{0BF77A09-9968-428C-A6A4-D44D0A74D915}">
      <dgm:prSet/>
      <dgm:spPr/>
      <dgm:t>
        <a:bodyPr/>
        <a:lstStyle/>
        <a:p>
          <a:endParaRPr lang="en-US"/>
        </a:p>
      </dgm:t>
    </dgm:pt>
    <dgm:pt modelId="{E852EF56-1BD8-4CB9-B919-A05E1C5CE420}" type="sibTrans" cxnId="{0BF77A09-9968-428C-A6A4-D44D0A74D915}">
      <dgm:prSet/>
      <dgm:spPr/>
      <dgm:t>
        <a:bodyPr/>
        <a:lstStyle/>
        <a:p>
          <a:endParaRPr lang="en-US"/>
        </a:p>
      </dgm:t>
    </dgm:pt>
    <dgm:pt modelId="{26FF325A-F257-47F5-ADDF-AEE97011EC52}">
      <dgm:prSet/>
      <dgm:spPr/>
      <dgm:t>
        <a:bodyPr/>
        <a:lstStyle/>
        <a:p>
          <a:r>
            <a:rPr kumimoji="1" lang="ko-KR"/>
            <a:t>이러한 모델은 이미 일반 이미지에서 다양한 특징을 잘 추출할 수 있으며</a:t>
          </a:r>
          <a:r>
            <a:rPr kumimoji="1" lang="en-US"/>
            <a:t>, </a:t>
          </a:r>
          <a:r>
            <a:rPr kumimoji="1" lang="ko-KR"/>
            <a:t>많은 경우 추출된 특징을 기반으로 분류기를 구축하는 것만으로도 좋은 결과를 얻을 수 있음</a:t>
          </a:r>
          <a:endParaRPr lang="en-US"/>
        </a:p>
      </dgm:t>
    </dgm:pt>
    <dgm:pt modelId="{99EBA1B2-2104-4020-8471-8E4DA88B739A}" type="parTrans" cxnId="{E1729B24-A8DF-47DA-9A45-53137A5AD533}">
      <dgm:prSet/>
      <dgm:spPr/>
      <dgm:t>
        <a:bodyPr/>
        <a:lstStyle/>
        <a:p>
          <a:endParaRPr lang="en-US"/>
        </a:p>
      </dgm:t>
    </dgm:pt>
    <dgm:pt modelId="{BC286E17-62CC-4C54-88A8-BC0F909035F6}" type="sibTrans" cxnId="{E1729B24-A8DF-47DA-9A45-53137A5AD533}">
      <dgm:prSet/>
      <dgm:spPr/>
      <dgm:t>
        <a:bodyPr/>
        <a:lstStyle/>
        <a:p>
          <a:endParaRPr lang="en-US"/>
        </a:p>
      </dgm:t>
    </dgm:pt>
    <dgm:pt modelId="{DEECD432-E00C-044F-8EF6-1C34C985253E}" type="pres">
      <dgm:prSet presAssocID="{45FFD5F6-D84C-43A7-90A4-E9997BAF26E3}" presName="Name0" presStyleCnt="0">
        <dgm:presLayoutVars>
          <dgm:dir/>
          <dgm:animLvl val="lvl"/>
          <dgm:resizeHandles val="exact"/>
        </dgm:presLayoutVars>
      </dgm:prSet>
      <dgm:spPr/>
    </dgm:pt>
    <dgm:pt modelId="{E278939B-B6D8-4047-9A03-5664D31FFF28}" type="pres">
      <dgm:prSet presAssocID="{FED52DF4-3002-4963-B683-2EC5B680053F}" presName="composite" presStyleCnt="0"/>
      <dgm:spPr/>
    </dgm:pt>
    <dgm:pt modelId="{9B88FC43-FED7-D741-A1F2-A4A2C2915FC8}" type="pres">
      <dgm:prSet presAssocID="{FED52DF4-3002-4963-B683-2EC5B680053F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8E3F902B-E00D-C341-B772-328E1CD8CABE}" type="pres">
      <dgm:prSet presAssocID="{FED52DF4-3002-4963-B683-2EC5B680053F}" presName="desTx" presStyleLbl="alignAccFollowNode1" presStyleIdx="0" presStyleCnt="2">
        <dgm:presLayoutVars>
          <dgm:bulletEnabled val="1"/>
        </dgm:presLayoutVars>
      </dgm:prSet>
      <dgm:spPr/>
    </dgm:pt>
    <dgm:pt modelId="{DB19AC27-5145-9B4D-BE96-63694301DC54}" type="pres">
      <dgm:prSet presAssocID="{51211AE2-177F-4BBD-9AE1-7A6E8BF8A731}" presName="space" presStyleCnt="0"/>
      <dgm:spPr/>
    </dgm:pt>
    <dgm:pt modelId="{1F787F64-5979-EA4F-8956-0325E83621CB}" type="pres">
      <dgm:prSet presAssocID="{50E2BBA6-6B54-4F00-954D-A3CB6453E29A}" presName="composite" presStyleCnt="0"/>
      <dgm:spPr/>
    </dgm:pt>
    <dgm:pt modelId="{53FDD003-C645-9641-B1A4-5C7B07D923F7}" type="pres">
      <dgm:prSet presAssocID="{50E2BBA6-6B54-4F00-954D-A3CB6453E29A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2533FB52-E35E-4A4F-8DCE-C26C77A50084}" type="pres">
      <dgm:prSet presAssocID="{50E2BBA6-6B54-4F00-954D-A3CB6453E29A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0BF77A09-9968-428C-A6A4-D44D0A74D915}" srcId="{45FFD5F6-D84C-43A7-90A4-E9997BAF26E3}" destId="{50E2BBA6-6B54-4F00-954D-A3CB6453E29A}" srcOrd="1" destOrd="0" parTransId="{D27AD114-6CAB-4B2E-83A4-74D922829ED6}" sibTransId="{E852EF56-1BD8-4CB9-B919-A05E1C5CE420}"/>
    <dgm:cxn modelId="{3363CE09-E8F6-0F4B-B70A-96851E339B77}" type="presOf" srcId="{50E2BBA6-6B54-4F00-954D-A3CB6453E29A}" destId="{53FDD003-C645-9641-B1A4-5C7B07D923F7}" srcOrd="0" destOrd="0" presId="urn:microsoft.com/office/officeart/2005/8/layout/hList1"/>
    <dgm:cxn modelId="{E1729B24-A8DF-47DA-9A45-53137A5AD533}" srcId="{50E2BBA6-6B54-4F00-954D-A3CB6453E29A}" destId="{26FF325A-F257-47F5-ADDF-AEE97011EC52}" srcOrd="0" destOrd="0" parTransId="{99EBA1B2-2104-4020-8471-8E4DA88B739A}" sibTransId="{BC286E17-62CC-4C54-88A8-BC0F909035F6}"/>
    <dgm:cxn modelId="{BB565227-5D54-BA46-B386-6DE65C6CDA17}" type="presOf" srcId="{45FFD5F6-D84C-43A7-90A4-E9997BAF26E3}" destId="{DEECD432-E00C-044F-8EF6-1C34C985253E}" srcOrd="0" destOrd="0" presId="urn:microsoft.com/office/officeart/2005/8/layout/hList1"/>
    <dgm:cxn modelId="{CC579B2B-77D0-1B46-BA52-6F12E3F1E158}" type="presOf" srcId="{26FF325A-F257-47F5-ADDF-AEE97011EC52}" destId="{2533FB52-E35E-4A4F-8DCE-C26C77A50084}" srcOrd="0" destOrd="0" presId="urn:microsoft.com/office/officeart/2005/8/layout/hList1"/>
    <dgm:cxn modelId="{459EAC5F-9416-46EF-823B-709C673F1551}" srcId="{45FFD5F6-D84C-43A7-90A4-E9997BAF26E3}" destId="{FED52DF4-3002-4963-B683-2EC5B680053F}" srcOrd="0" destOrd="0" parTransId="{EC02C824-70E7-470D-BB27-003ADD0F47F3}" sibTransId="{51211AE2-177F-4BBD-9AE1-7A6E8BF8A731}"/>
    <dgm:cxn modelId="{F36C21A8-58A1-644E-90B8-62ECEC0F0D3F}" type="presOf" srcId="{FED52DF4-3002-4963-B683-2EC5B680053F}" destId="{9B88FC43-FED7-D741-A1F2-A4A2C2915FC8}" srcOrd="0" destOrd="0" presId="urn:microsoft.com/office/officeart/2005/8/layout/hList1"/>
    <dgm:cxn modelId="{19C6171F-4505-1B4F-B48A-A5327A1E94A2}" type="presParOf" srcId="{DEECD432-E00C-044F-8EF6-1C34C985253E}" destId="{E278939B-B6D8-4047-9A03-5664D31FFF28}" srcOrd="0" destOrd="0" presId="urn:microsoft.com/office/officeart/2005/8/layout/hList1"/>
    <dgm:cxn modelId="{B63C361B-011E-2146-A654-216644530C6F}" type="presParOf" srcId="{E278939B-B6D8-4047-9A03-5664D31FFF28}" destId="{9B88FC43-FED7-D741-A1F2-A4A2C2915FC8}" srcOrd="0" destOrd="0" presId="urn:microsoft.com/office/officeart/2005/8/layout/hList1"/>
    <dgm:cxn modelId="{F5671497-2C15-8149-8035-79F8D5FBC76C}" type="presParOf" srcId="{E278939B-B6D8-4047-9A03-5664D31FFF28}" destId="{8E3F902B-E00D-C341-B772-328E1CD8CABE}" srcOrd="1" destOrd="0" presId="urn:microsoft.com/office/officeart/2005/8/layout/hList1"/>
    <dgm:cxn modelId="{ADCECAAE-B0FE-DE46-BD1A-C1AA4C761967}" type="presParOf" srcId="{DEECD432-E00C-044F-8EF6-1C34C985253E}" destId="{DB19AC27-5145-9B4D-BE96-63694301DC54}" srcOrd="1" destOrd="0" presId="urn:microsoft.com/office/officeart/2005/8/layout/hList1"/>
    <dgm:cxn modelId="{45936B50-276B-CF4E-9EAA-11CF9A77F088}" type="presParOf" srcId="{DEECD432-E00C-044F-8EF6-1C34C985253E}" destId="{1F787F64-5979-EA4F-8956-0325E83621CB}" srcOrd="2" destOrd="0" presId="urn:microsoft.com/office/officeart/2005/8/layout/hList1"/>
    <dgm:cxn modelId="{FA9A5918-C17B-984B-BFFF-F0868716914D}" type="presParOf" srcId="{1F787F64-5979-EA4F-8956-0325E83621CB}" destId="{53FDD003-C645-9641-B1A4-5C7B07D923F7}" srcOrd="0" destOrd="0" presId="urn:microsoft.com/office/officeart/2005/8/layout/hList1"/>
    <dgm:cxn modelId="{8B73A9A6-15E6-164E-BD3F-C06B5FC28E69}" type="presParOf" srcId="{1F787F64-5979-EA4F-8956-0325E83621CB}" destId="{2533FB52-E35E-4A4F-8DCE-C26C77A5008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A579494-E918-4F5B-83DC-5586B3CD753A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03FF9C7-E51C-4096-A704-7AFCE2706A03}">
      <dgm:prSet/>
      <dgm:spPr/>
      <dgm:t>
        <a:bodyPr/>
        <a:lstStyle/>
        <a:p>
          <a:r>
            <a:rPr kumimoji="1" lang="ko-KR"/>
            <a:t>전에 설명한 컨볼루션 네트워크에는 수평</a:t>
          </a:r>
          <a:r>
            <a:rPr kumimoji="1" lang="en-US"/>
            <a:t>/</a:t>
          </a:r>
          <a:r>
            <a:rPr kumimoji="1" lang="ko-KR"/>
            <a:t>수직선 또는 획과 같은 낮은 수준의 픽셀 조합부터 불꽃의 눈과 같은 높은 수준의 특징 조합까지 이미지에서 일부 특징을 추출하는 여러 계층이 포함되어 있음</a:t>
          </a:r>
          <a:endParaRPr lang="en-US"/>
        </a:p>
      </dgm:t>
    </dgm:pt>
    <dgm:pt modelId="{3CE8BF81-E5EF-4D00-A777-CC9B63F97A9E}" type="parTrans" cxnId="{4550A2F7-0039-4E10-83D2-F1BC2EC8CAC0}">
      <dgm:prSet/>
      <dgm:spPr/>
      <dgm:t>
        <a:bodyPr/>
        <a:lstStyle/>
        <a:p>
          <a:endParaRPr lang="en-US"/>
        </a:p>
      </dgm:t>
    </dgm:pt>
    <dgm:pt modelId="{45AD8DF0-9900-410C-A647-8BFADCE48B59}" type="sibTrans" cxnId="{4550A2F7-0039-4E10-83D2-F1BC2EC8CAC0}">
      <dgm:prSet/>
      <dgm:spPr/>
      <dgm:t>
        <a:bodyPr/>
        <a:lstStyle/>
        <a:p>
          <a:endParaRPr lang="en-US"/>
        </a:p>
      </dgm:t>
    </dgm:pt>
    <dgm:pt modelId="{039B62BA-B1E0-4B15-81C6-17B088C42090}">
      <dgm:prSet/>
      <dgm:spPr/>
      <dgm:t>
        <a:bodyPr/>
        <a:lstStyle/>
        <a:p>
          <a:r>
            <a:rPr kumimoji="1" lang="ko-KR"/>
            <a:t>일반적이고 다양한 이미지로 구성된 충분히 큰 데이터 세트로 </a:t>
          </a:r>
          <a:r>
            <a:rPr kumimoji="1" lang="en-US"/>
            <a:t>CNN</a:t>
          </a:r>
          <a:r>
            <a:rPr kumimoji="1" lang="ko-KR"/>
            <a:t>을 훈련시키면 네트워크는 이러한 공통된 특징을 추출하는 방법을 학습</a:t>
          </a:r>
          <a:endParaRPr lang="en-US"/>
        </a:p>
      </dgm:t>
    </dgm:pt>
    <dgm:pt modelId="{23AB35EF-810D-43DD-A184-20E07CADDEAB}" type="parTrans" cxnId="{93942974-7B88-4B67-99CF-63581FB736CC}">
      <dgm:prSet/>
      <dgm:spPr/>
      <dgm:t>
        <a:bodyPr/>
        <a:lstStyle/>
        <a:p>
          <a:endParaRPr lang="en-US"/>
        </a:p>
      </dgm:t>
    </dgm:pt>
    <dgm:pt modelId="{B6B8C6E3-1565-4E9C-8580-2B89F257E8EE}" type="sibTrans" cxnId="{93942974-7B88-4B67-99CF-63581FB736CC}">
      <dgm:prSet/>
      <dgm:spPr/>
      <dgm:t>
        <a:bodyPr/>
        <a:lstStyle/>
        <a:p>
          <a:endParaRPr lang="en-US"/>
        </a:p>
      </dgm:t>
    </dgm:pt>
    <dgm:pt modelId="{CCE40F1D-A0EB-1145-8047-4BCB452453EE}" type="pres">
      <dgm:prSet presAssocID="{2A579494-E918-4F5B-83DC-5586B3CD753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44D9C88-03E5-7945-AFBF-A9E7EFBA8FF9}" type="pres">
      <dgm:prSet presAssocID="{003FF9C7-E51C-4096-A704-7AFCE2706A03}" presName="hierRoot1" presStyleCnt="0"/>
      <dgm:spPr/>
    </dgm:pt>
    <dgm:pt modelId="{1FCA7B95-FAAB-DD43-AAFF-D7EF809027ED}" type="pres">
      <dgm:prSet presAssocID="{003FF9C7-E51C-4096-A704-7AFCE2706A03}" presName="composite" presStyleCnt="0"/>
      <dgm:spPr/>
    </dgm:pt>
    <dgm:pt modelId="{5E12CB0E-CFDD-6647-B3CF-57C233457BFE}" type="pres">
      <dgm:prSet presAssocID="{003FF9C7-E51C-4096-A704-7AFCE2706A03}" presName="background" presStyleLbl="node0" presStyleIdx="0" presStyleCnt="2"/>
      <dgm:spPr/>
    </dgm:pt>
    <dgm:pt modelId="{C6694125-2D5F-E142-AA0A-75AE4013ABF9}" type="pres">
      <dgm:prSet presAssocID="{003FF9C7-E51C-4096-A704-7AFCE2706A03}" presName="text" presStyleLbl="fgAcc0" presStyleIdx="0" presStyleCnt="2">
        <dgm:presLayoutVars>
          <dgm:chPref val="3"/>
        </dgm:presLayoutVars>
      </dgm:prSet>
      <dgm:spPr/>
    </dgm:pt>
    <dgm:pt modelId="{D5A7FA22-4498-3946-930E-7631C96ADEEF}" type="pres">
      <dgm:prSet presAssocID="{003FF9C7-E51C-4096-A704-7AFCE2706A03}" presName="hierChild2" presStyleCnt="0"/>
      <dgm:spPr/>
    </dgm:pt>
    <dgm:pt modelId="{5825EF05-C057-BC4A-8100-D2D26FF92AAF}" type="pres">
      <dgm:prSet presAssocID="{039B62BA-B1E0-4B15-81C6-17B088C42090}" presName="hierRoot1" presStyleCnt="0"/>
      <dgm:spPr/>
    </dgm:pt>
    <dgm:pt modelId="{624FC9A2-9FFB-7D43-9FD6-92B98D9BFFF3}" type="pres">
      <dgm:prSet presAssocID="{039B62BA-B1E0-4B15-81C6-17B088C42090}" presName="composite" presStyleCnt="0"/>
      <dgm:spPr/>
    </dgm:pt>
    <dgm:pt modelId="{DC33837C-E711-714F-80FD-11A72D205B91}" type="pres">
      <dgm:prSet presAssocID="{039B62BA-B1E0-4B15-81C6-17B088C42090}" presName="background" presStyleLbl="node0" presStyleIdx="1" presStyleCnt="2"/>
      <dgm:spPr/>
    </dgm:pt>
    <dgm:pt modelId="{EC5229B7-B070-2144-AF5B-9C421CE7D283}" type="pres">
      <dgm:prSet presAssocID="{039B62BA-B1E0-4B15-81C6-17B088C42090}" presName="text" presStyleLbl="fgAcc0" presStyleIdx="1" presStyleCnt="2">
        <dgm:presLayoutVars>
          <dgm:chPref val="3"/>
        </dgm:presLayoutVars>
      </dgm:prSet>
      <dgm:spPr/>
    </dgm:pt>
    <dgm:pt modelId="{777D45F0-A0B9-E742-87F8-5427476250D5}" type="pres">
      <dgm:prSet presAssocID="{039B62BA-B1E0-4B15-81C6-17B088C42090}" presName="hierChild2" presStyleCnt="0"/>
      <dgm:spPr/>
    </dgm:pt>
  </dgm:ptLst>
  <dgm:cxnLst>
    <dgm:cxn modelId="{93942974-7B88-4B67-99CF-63581FB736CC}" srcId="{2A579494-E918-4F5B-83DC-5586B3CD753A}" destId="{039B62BA-B1E0-4B15-81C6-17B088C42090}" srcOrd="1" destOrd="0" parTransId="{23AB35EF-810D-43DD-A184-20E07CADDEAB}" sibTransId="{B6B8C6E3-1565-4E9C-8580-2B89F257E8EE}"/>
    <dgm:cxn modelId="{EC419584-DB88-8C4C-9DB1-DDE7A9EFE8A0}" type="presOf" srcId="{039B62BA-B1E0-4B15-81C6-17B088C42090}" destId="{EC5229B7-B070-2144-AF5B-9C421CE7D283}" srcOrd="0" destOrd="0" presId="urn:microsoft.com/office/officeart/2005/8/layout/hierarchy1"/>
    <dgm:cxn modelId="{EE9EAA9B-66E8-704B-9BAB-2E75A8CB08DB}" type="presOf" srcId="{2A579494-E918-4F5B-83DC-5586B3CD753A}" destId="{CCE40F1D-A0EB-1145-8047-4BCB452453EE}" srcOrd="0" destOrd="0" presId="urn:microsoft.com/office/officeart/2005/8/layout/hierarchy1"/>
    <dgm:cxn modelId="{4550A2F7-0039-4E10-83D2-F1BC2EC8CAC0}" srcId="{2A579494-E918-4F5B-83DC-5586B3CD753A}" destId="{003FF9C7-E51C-4096-A704-7AFCE2706A03}" srcOrd="0" destOrd="0" parTransId="{3CE8BF81-E5EF-4D00-A777-CC9B63F97A9E}" sibTransId="{45AD8DF0-9900-410C-A647-8BFADCE48B59}"/>
    <dgm:cxn modelId="{241BDDFE-0C00-314E-AD78-C915E196FDB2}" type="presOf" srcId="{003FF9C7-E51C-4096-A704-7AFCE2706A03}" destId="{C6694125-2D5F-E142-AA0A-75AE4013ABF9}" srcOrd="0" destOrd="0" presId="urn:microsoft.com/office/officeart/2005/8/layout/hierarchy1"/>
    <dgm:cxn modelId="{3207DA2B-830D-6B4B-BFF9-83FAD5624B23}" type="presParOf" srcId="{CCE40F1D-A0EB-1145-8047-4BCB452453EE}" destId="{B44D9C88-03E5-7945-AFBF-A9E7EFBA8FF9}" srcOrd="0" destOrd="0" presId="urn:microsoft.com/office/officeart/2005/8/layout/hierarchy1"/>
    <dgm:cxn modelId="{633308FA-E39C-BA4B-AA5A-FFD354394D82}" type="presParOf" srcId="{B44D9C88-03E5-7945-AFBF-A9E7EFBA8FF9}" destId="{1FCA7B95-FAAB-DD43-AAFF-D7EF809027ED}" srcOrd="0" destOrd="0" presId="urn:microsoft.com/office/officeart/2005/8/layout/hierarchy1"/>
    <dgm:cxn modelId="{4269F168-0BDF-0C4D-9AB0-1BE8FC999628}" type="presParOf" srcId="{1FCA7B95-FAAB-DD43-AAFF-D7EF809027ED}" destId="{5E12CB0E-CFDD-6647-B3CF-57C233457BFE}" srcOrd="0" destOrd="0" presId="urn:microsoft.com/office/officeart/2005/8/layout/hierarchy1"/>
    <dgm:cxn modelId="{2BB48C30-294A-F547-8E31-FC14B831831B}" type="presParOf" srcId="{1FCA7B95-FAAB-DD43-AAFF-D7EF809027ED}" destId="{C6694125-2D5F-E142-AA0A-75AE4013ABF9}" srcOrd="1" destOrd="0" presId="urn:microsoft.com/office/officeart/2005/8/layout/hierarchy1"/>
    <dgm:cxn modelId="{F2D50A4D-2205-C643-A6F4-469E566209B5}" type="presParOf" srcId="{B44D9C88-03E5-7945-AFBF-A9E7EFBA8FF9}" destId="{D5A7FA22-4498-3946-930E-7631C96ADEEF}" srcOrd="1" destOrd="0" presId="urn:microsoft.com/office/officeart/2005/8/layout/hierarchy1"/>
    <dgm:cxn modelId="{0325BA65-CBC2-DB4A-9FF6-540830661EA2}" type="presParOf" srcId="{CCE40F1D-A0EB-1145-8047-4BCB452453EE}" destId="{5825EF05-C057-BC4A-8100-D2D26FF92AAF}" srcOrd="1" destOrd="0" presId="urn:microsoft.com/office/officeart/2005/8/layout/hierarchy1"/>
    <dgm:cxn modelId="{2D57CD4A-C362-134D-8F09-CA09C81C3920}" type="presParOf" srcId="{5825EF05-C057-BC4A-8100-D2D26FF92AAF}" destId="{624FC9A2-9FFB-7D43-9FD6-92B98D9BFFF3}" srcOrd="0" destOrd="0" presId="urn:microsoft.com/office/officeart/2005/8/layout/hierarchy1"/>
    <dgm:cxn modelId="{A032465C-8F24-4A46-B756-DE5F976E2730}" type="presParOf" srcId="{624FC9A2-9FFB-7D43-9FD6-92B98D9BFFF3}" destId="{DC33837C-E711-714F-80FD-11A72D205B91}" srcOrd="0" destOrd="0" presId="urn:microsoft.com/office/officeart/2005/8/layout/hierarchy1"/>
    <dgm:cxn modelId="{32261D2C-0BBE-3B4B-8E3B-CD715B3F6A60}" type="presParOf" srcId="{624FC9A2-9FFB-7D43-9FD6-92B98D9BFFF3}" destId="{EC5229B7-B070-2144-AF5B-9C421CE7D283}" srcOrd="1" destOrd="0" presId="urn:microsoft.com/office/officeart/2005/8/layout/hierarchy1"/>
    <dgm:cxn modelId="{4F59C55F-DC81-994F-8AE3-90EC0A986353}" type="presParOf" srcId="{5825EF05-C057-BC4A-8100-D2D26FF92AAF}" destId="{777D45F0-A0B9-E742-87F8-5427476250D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352537D-19B6-4EAD-97C0-2FCA3BFE6ADA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C4B2C91-7808-45D5-A35F-A1EC299DB593}">
      <dgm:prSet/>
      <dgm:spPr/>
      <dgm:t>
        <a:bodyPr/>
        <a:lstStyle/>
        <a:p>
          <a:r>
            <a:rPr kumimoji="1" lang="en-US"/>
            <a:t>Keras</a:t>
          </a:r>
          <a:r>
            <a:rPr kumimoji="1" lang="ko-KR"/>
            <a:t>와 </a:t>
          </a:r>
          <a:r>
            <a:rPr kumimoji="1" lang="en-US"/>
            <a:t>PyTorch</a:t>
          </a:r>
          <a:r>
            <a:rPr kumimoji="1" lang="ko-KR"/>
            <a:t>에는 몇 가지 일반적인 아키텍처에 대해 미리 훈련된 신경망 가중치를 쉽게 로드할 수 있는 함수가 포함되어 있으며</a:t>
          </a:r>
          <a:r>
            <a:rPr kumimoji="1" lang="en-US"/>
            <a:t>, </a:t>
          </a:r>
          <a:r>
            <a:rPr kumimoji="1" lang="ko-KR"/>
            <a:t>대부분은 이미지넷 이미지에서 훈련되었음</a:t>
          </a:r>
          <a:endParaRPr lang="en-US"/>
        </a:p>
      </dgm:t>
    </dgm:pt>
    <dgm:pt modelId="{38CE8CED-08D0-480F-93A0-A1A55EC69E6D}" type="parTrans" cxnId="{2ED4AA32-07A1-4A63-9D87-7C625AB8BEE0}">
      <dgm:prSet/>
      <dgm:spPr/>
      <dgm:t>
        <a:bodyPr/>
        <a:lstStyle/>
        <a:p>
          <a:endParaRPr lang="en-US"/>
        </a:p>
      </dgm:t>
    </dgm:pt>
    <dgm:pt modelId="{7C74C013-D6D1-4017-8F26-63524BC5114F}" type="sibTrans" cxnId="{2ED4AA32-07A1-4A63-9D87-7C625AB8BEE0}">
      <dgm:prSet/>
      <dgm:spPr/>
      <dgm:t>
        <a:bodyPr/>
        <a:lstStyle/>
        <a:p>
          <a:endParaRPr lang="en-US"/>
        </a:p>
      </dgm:t>
    </dgm:pt>
    <dgm:pt modelId="{A0258C76-05F6-425C-B410-6BDA0BDE1A25}">
      <dgm:prSet/>
      <dgm:spPr/>
      <dgm:t>
        <a:bodyPr/>
        <a:lstStyle/>
        <a:p>
          <a:r>
            <a:rPr kumimoji="1" lang="ko-KR"/>
            <a:t>가장 자주 사용되는 함수는 다음과 같음</a:t>
          </a:r>
          <a:endParaRPr lang="en-US"/>
        </a:p>
      </dgm:t>
    </dgm:pt>
    <dgm:pt modelId="{72D07B22-CC3E-476A-8D4E-8F3CCBBCA725}" type="parTrans" cxnId="{8ECFDE20-368A-43B6-A201-296D298715C6}">
      <dgm:prSet/>
      <dgm:spPr/>
      <dgm:t>
        <a:bodyPr/>
        <a:lstStyle/>
        <a:p>
          <a:endParaRPr lang="en-US"/>
        </a:p>
      </dgm:t>
    </dgm:pt>
    <dgm:pt modelId="{A46D1AD3-BD5C-46FE-A6E9-14BBD9C40030}" type="sibTrans" cxnId="{8ECFDE20-368A-43B6-A201-296D298715C6}">
      <dgm:prSet/>
      <dgm:spPr/>
      <dgm:t>
        <a:bodyPr/>
        <a:lstStyle/>
        <a:p>
          <a:endParaRPr lang="en-US"/>
        </a:p>
      </dgm:t>
    </dgm:pt>
    <dgm:pt modelId="{2A28FABD-3FAB-4E98-A03B-2DAFA9E2B2F3}">
      <dgm:prSet/>
      <dgm:spPr/>
      <dgm:t>
        <a:bodyPr/>
        <a:lstStyle/>
        <a:p>
          <a:r>
            <a:rPr kumimoji="1" lang="ko-KR"/>
            <a:t>비교적 간단한 모델이지만 좋은 정확도를 제공하는 </a:t>
          </a:r>
          <a:r>
            <a:rPr kumimoji="1" lang="en-US"/>
            <a:t>VGG-16/VGG-19</a:t>
          </a:r>
          <a:r>
            <a:rPr kumimoji="1" lang="ko-KR"/>
            <a:t>는 전이 학습이 어떻게 작동하는지 확인하기 위해 첫 번째 시도로 하기 좋은 선택</a:t>
          </a:r>
          <a:endParaRPr lang="en-US"/>
        </a:p>
      </dgm:t>
    </dgm:pt>
    <dgm:pt modelId="{B5F27D8D-E736-4DEC-A9A8-D3BA8CE289F8}" type="parTrans" cxnId="{0F1DCDB5-0DD5-4A65-A0FE-6E8CA2F69331}">
      <dgm:prSet/>
      <dgm:spPr/>
      <dgm:t>
        <a:bodyPr/>
        <a:lstStyle/>
        <a:p>
          <a:endParaRPr lang="en-US"/>
        </a:p>
      </dgm:t>
    </dgm:pt>
    <dgm:pt modelId="{8C27CB3D-3DEC-44B0-8E30-CFEC3B57F216}" type="sibTrans" cxnId="{0F1DCDB5-0DD5-4A65-A0FE-6E8CA2F69331}">
      <dgm:prSet/>
      <dgm:spPr/>
      <dgm:t>
        <a:bodyPr/>
        <a:lstStyle/>
        <a:p>
          <a:endParaRPr lang="en-US"/>
        </a:p>
      </dgm:t>
    </dgm:pt>
    <dgm:pt modelId="{87D1D540-6D48-4AD5-B855-12E316562EAE}">
      <dgm:prSet/>
      <dgm:spPr/>
      <dgm:t>
        <a:bodyPr/>
        <a:lstStyle/>
        <a:p>
          <a:r>
            <a:rPr kumimoji="1" lang="en-US"/>
            <a:t>ResNet</a:t>
          </a:r>
          <a:r>
            <a:rPr kumimoji="1" lang="ko-KR"/>
            <a:t>은 </a:t>
          </a:r>
          <a:r>
            <a:rPr kumimoji="1" lang="en-US"/>
            <a:t>2015</a:t>
          </a:r>
          <a:r>
            <a:rPr kumimoji="1" lang="ko-KR"/>
            <a:t>년에 </a:t>
          </a:r>
          <a:r>
            <a:rPr kumimoji="1" lang="en-US"/>
            <a:t>Microsoft Research</a:t>
          </a:r>
          <a:r>
            <a:rPr kumimoji="1" lang="ko-KR"/>
            <a:t>에서 제안한 모델인데</a:t>
          </a:r>
          <a:r>
            <a:rPr kumimoji="1" lang="en-US"/>
            <a:t> </a:t>
          </a:r>
          <a:r>
            <a:rPr kumimoji="1" lang="ko-KR"/>
            <a:t>레이어가 상대적으로 많기 때문에 더 많은 리소스를 필요로 함</a:t>
          </a:r>
          <a:endParaRPr lang="en-US"/>
        </a:p>
      </dgm:t>
    </dgm:pt>
    <dgm:pt modelId="{8E4BCB84-E461-4063-8531-08098CC9ECDF}" type="parTrans" cxnId="{0927AF3B-BA44-4DB6-BE4A-392F652F016F}">
      <dgm:prSet/>
      <dgm:spPr/>
      <dgm:t>
        <a:bodyPr/>
        <a:lstStyle/>
        <a:p>
          <a:endParaRPr lang="en-US"/>
        </a:p>
      </dgm:t>
    </dgm:pt>
    <dgm:pt modelId="{18484A6F-E3A9-4FCE-A574-C83EA74B4671}" type="sibTrans" cxnId="{0927AF3B-BA44-4DB6-BE4A-392F652F016F}">
      <dgm:prSet/>
      <dgm:spPr/>
      <dgm:t>
        <a:bodyPr/>
        <a:lstStyle/>
        <a:p>
          <a:endParaRPr lang="en-US"/>
        </a:p>
      </dgm:t>
    </dgm:pt>
    <dgm:pt modelId="{F689700D-061C-4BD6-AFCA-9608B0D16235}">
      <dgm:prSet/>
      <dgm:spPr/>
      <dgm:t>
        <a:bodyPr/>
        <a:lstStyle/>
        <a:p>
          <a:r>
            <a:rPr kumimoji="1" lang="en-US"/>
            <a:t>MobileNet</a:t>
          </a:r>
          <a:r>
            <a:rPr kumimoji="1" lang="ko-KR"/>
            <a:t>은 모바일 기기에 적합하도록 크기를 줄인 모델인데</a:t>
          </a:r>
          <a:r>
            <a:rPr kumimoji="1" lang="en-US"/>
            <a:t> </a:t>
          </a:r>
          <a:r>
            <a:rPr kumimoji="1" lang="ko-KR"/>
            <a:t>리소스가 부족하고 정확도를 약간 희생할 수 있는 경우에 사용</a:t>
          </a:r>
          <a:endParaRPr lang="en-US"/>
        </a:p>
      </dgm:t>
    </dgm:pt>
    <dgm:pt modelId="{B2A1310B-88B6-402D-A93D-B3F126B4E582}" type="parTrans" cxnId="{CBEFACF4-AA55-4C3A-AC01-71D1D189B5C9}">
      <dgm:prSet/>
      <dgm:spPr/>
      <dgm:t>
        <a:bodyPr/>
        <a:lstStyle/>
        <a:p>
          <a:endParaRPr lang="en-US"/>
        </a:p>
      </dgm:t>
    </dgm:pt>
    <dgm:pt modelId="{933FD70E-42F9-46D8-9166-8C3C18DF9598}" type="sibTrans" cxnId="{CBEFACF4-AA55-4C3A-AC01-71D1D189B5C9}">
      <dgm:prSet/>
      <dgm:spPr/>
      <dgm:t>
        <a:bodyPr/>
        <a:lstStyle/>
        <a:p>
          <a:endParaRPr lang="en-US"/>
        </a:p>
      </dgm:t>
    </dgm:pt>
    <dgm:pt modelId="{DF3739C0-4C4D-8541-9DE7-4C1940CCF0AF}" type="pres">
      <dgm:prSet presAssocID="{A352537D-19B6-4EAD-97C0-2FCA3BFE6ADA}" presName="Name0" presStyleCnt="0">
        <dgm:presLayoutVars>
          <dgm:dir/>
          <dgm:animLvl val="lvl"/>
          <dgm:resizeHandles val="exact"/>
        </dgm:presLayoutVars>
      </dgm:prSet>
      <dgm:spPr/>
    </dgm:pt>
    <dgm:pt modelId="{A8270BB8-073E-C043-B173-F027BFAEEFB9}" type="pres">
      <dgm:prSet presAssocID="{2C4B2C91-7808-45D5-A35F-A1EC299DB593}" presName="composite" presStyleCnt="0"/>
      <dgm:spPr/>
    </dgm:pt>
    <dgm:pt modelId="{35DA21EB-9E75-A045-8BBF-7A4A31622842}" type="pres">
      <dgm:prSet presAssocID="{2C4B2C91-7808-45D5-A35F-A1EC299DB593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24302508-3D08-5D49-A6A5-4B3FE47B7F71}" type="pres">
      <dgm:prSet presAssocID="{2C4B2C91-7808-45D5-A35F-A1EC299DB593}" presName="desTx" presStyleLbl="alignAccFollowNode1" presStyleIdx="0" presStyleCnt="2">
        <dgm:presLayoutVars>
          <dgm:bulletEnabled val="1"/>
        </dgm:presLayoutVars>
      </dgm:prSet>
      <dgm:spPr/>
    </dgm:pt>
    <dgm:pt modelId="{B950C026-AA7A-5044-AA76-9067DB365AC3}" type="pres">
      <dgm:prSet presAssocID="{7C74C013-D6D1-4017-8F26-63524BC5114F}" presName="space" presStyleCnt="0"/>
      <dgm:spPr/>
    </dgm:pt>
    <dgm:pt modelId="{095CE27C-6C8E-4746-82B7-F521B6D8B153}" type="pres">
      <dgm:prSet presAssocID="{A0258C76-05F6-425C-B410-6BDA0BDE1A25}" presName="composite" presStyleCnt="0"/>
      <dgm:spPr/>
    </dgm:pt>
    <dgm:pt modelId="{4D427D52-E6F5-EE4A-A607-247350471465}" type="pres">
      <dgm:prSet presAssocID="{A0258C76-05F6-425C-B410-6BDA0BDE1A25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629D0DC2-3B53-164A-8EEF-0EF934E032B1}" type="pres">
      <dgm:prSet presAssocID="{A0258C76-05F6-425C-B410-6BDA0BDE1A25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8ECFDE20-368A-43B6-A201-296D298715C6}" srcId="{A352537D-19B6-4EAD-97C0-2FCA3BFE6ADA}" destId="{A0258C76-05F6-425C-B410-6BDA0BDE1A25}" srcOrd="1" destOrd="0" parTransId="{72D07B22-CC3E-476A-8D4E-8F3CCBBCA725}" sibTransId="{A46D1AD3-BD5C-46FE-A6E9-14BBD9C40030}"/>
    <dgm:cxn modelId="{D9C14D24-434E-2B42-80D1-969A83937C71}" type="presOf" srcId="{A0258C76-05F6-425C-B410-6BDA0BDE1A25}" destId="{4D427D52-E6F5-EE4A-A607-247350471465}" srcOrd="0" destOrd="0" presId="urn:microsoft.com/office/officeart/2005/8/layout/hList1"/>
    <dgm:cxn modelId="{B85C992D-5E87-0C4B-B2F6-57E60B3802D0}" type="presOf" srcId="{A352537D-19B6-4EAD-97C0-2FCA3BFE6ADA}" destId="{DF3739C0-4C4D-8541-9DE7-4C1940CCF0AF}" srcOrd="0" destOrd="0" presId="urn:microsoft.com/office/officeart/2005/8/layout/hList1"/>
    <dgm:cxn modelId="{2ED4AA32-07A1-4A63-9D87-7C625AB8BEE0}" srcId="{A352537D-19B6-4EAD-97C0-2FCA3BFE6ADA}" destId="{2C4B2C91-7808-45D5-A35F-A1EC299DB593}" srcOrd="0" destOrd="0" parTransId="{38CE8CED-08D0-480F-93A0-A1A55EC69E6D}" sibTransId="{7C74C013-D6D1-4017-8F26-63524BC5114F}"/>
    <dgm:cxn modelId="{0927AF3B-BA44-4DB6-BE4A-392F652F016F}" srcId="{A0258C76-05F6-425C-B410-6BDA0BDE1A25}" destId="{87D1D540-6D48-4AD5-B855-12E316562EAE}" srcOrd="1" destOrd="0" parTransId="{8E4BCB84-E461-4063-8531-08098CC9ECDF}" sibTransId="{18484A6F-E3A9-4FCE-A574-C83EA74B4671}"/>
    <dgm:cxn modelId="{D61ACF3B-B9C9-4844-9F9E-536A657C4945}" type="presOf" srcId="{87D1D540-6D48-4AD5-B855-12E316562EAE}" destId="{629D0DC2-3B53-164A-8EEF-0EF934E032B1}" srcOrd="0" destOrd="1" presId="urn:microsoft.com/office/officeart/2005/8/layout/hList1"/>
    <dgm:cxn modelId="{1804B173-7D34-2E42-A9EE-4A134270E2C9}" type="presOf" srcId="{F689700D-061C-4BD6-AFCA-9608B0D16235}" destId="{629D0DC2-3B53-164A-8EEF-0EF934E032B1}" srcOrd="0" destOrd="2" presId="urn:microsoft.com/office/officeart/2005/8/layout/hList1"/>
    <dgm:cxn modelId="{6E63BAA4-731F-1D43-8A3F-1F156ED83AF5}" type="presOf" srcId="{2A28FABD-3FAB-4E98-A03B-2DAFA9E2B2F3}" destId="{629D0DC2-3B53-164A-8EEF-0EF934E032B1}" srcOrd="0" destOrd="0" presId="urn:microsoft.com/office/officeart/2005/8/layout/hList1"/>
    <dgm:cxn modelId="{D8C526AF-FE5E-5B4A-9C52-FE9463289BC0}" type="presOf" srcId="{2C4B2C91-7808-45D5-A35F-A1EC299DB593}" destId="{35DA21EB-9E75-A045-8BBF-7A4A31622842}" srcOrd="0" destOrd="0" presId="urn:microsoft.com/office/officeart/2005/8/layout/hList1"/>
    <dgm:cxn modelId="{0F1DCDB5-0DD5-4A65-A0FE-6E8CA2F69331}" srcId="{A0258C76-05F6-425C-B410-6BDA0BDE1A25}" destId="{2A28FABD-3FAB-4E98-A03B-2DAFA9E2B2F3}" srcOrd="0" destOrd="0" parTransId="{B5F27D8D-E736-4DEC-A9A8-D3BA8CE289F8}" sibTransId="{8C27CB3D-3DEC-44B0-8E30-CFEC3B57F216}"/>
    <dgm:cxn modelId="{CBEFACF4-AA55-4C3A-AC01-71D1D189B5C9}" srcId="{A0258C76-05F6-425C-B410-6BDA0BDE1A25}" destId="{F689700D-061C-4BD6-AFCA-9608B0D16235}" srcOrd="2" destOrd="0" parTransId="{B2A1310B-88B6-402D-A93D-B3F126B4E582}" sibTransId="{933FD70E-42F9-46D8-9166-8C3C18DF9598}"/>
    <dgm:cxn modelId="{7FEED940-A213-9345-A24C-6DA7C40CC98F}" type="presParOf" srcId="{DF3739C0-4C4D-8541-9DE7-4C1940CCF0AF}" destId="{A8270BB8-073E-C043-B173-F027BFAEEFB9}" srcOrd="0" destOrd="0" presId="urn:microsoft.com/office/officeart/2005/8/layout/hList1"/>
    <dgm:cxn modelId="{E733CBA6-3A71-E044-A724-4D22E088D8A9}" type="presParOf" srcId="{A8270BB8-073E-C043-B173-F027BFAEEFB9}" destId="{35DA21EB-9E75-A045-8BBF-7A4A31622842}" srcOrd="0" destOrd="0" presId="urn:microsoft.com/office/officeart/2005/8/layout/hList1"/>
    <dgm:cxn modelId="{261975AC-C2FA-F24A-B7FD-283986494254}" type="presParOf" srcId="{A8270BB8-073E-C043-B173-F027BFAEEFB9}" destId="{24302508-3D08-5D49-A6A5-4B3FE47B7F71}" srcOrd="1" destOrd="0" presId="urn:microsoft.com/office/officeart/2005/8/layout/hList1"/>
    <dgm:cxn modelId="{8DA73F9A-8D8C-4343-B388-2E24BD33ACE3}" type="presParOf" srcId="{DF3739C0-4C4D-8541-9DE7-4C1940CCF0AF}" destId="{B950C026-AA7A-5044-AA76-9067DB365AC3}" srcOrd="1" destOrd="0" presId="urn:microsoft.com/office/officeart/2005/8/layout/hList1"/>
    <dgm:cxn modelId="{DEAB2A25-D9A1-224D-99DD-0085F4BBD64E}" type="presParOf" srcId="{DF3739C0-4C4D-8541-9DE7-4C1940CCF0AF}" destId="{095CE27C-6C8E-4746-82B7-F521B6D8B153}" srcOrd="2" destOrd="0" presId="urn:microsoft.com/office/officeart/2005/8/layout/hList1"/>
    <dgm:cxn modelId="{651CAC2E-427D-714F-BE35-2EEDC7BC056A}" type="presParOf" srcId="{095CE27C-6C8E-4746-82B7-F521B6D8B153}" destId="{4D427D52-E6F5-EE4A-A607-247350471465}" srcOrd="0" destOrd="0" presId="urn:microsoft.com/office/officeart/2005/8/layout/hList1"/>
    <dgm:cxn modelId="{1C38F732-1627-1A4E-A769-F39FC1C4762D}" type="presParOf" srcId="{095CE27C-6C8E-4746-82B7-F521B6D8B153}" destId="{629D0DC2-3B53-164A-8EEF-0EF934E032B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1D9B48-41DA-EA4F-B9B5-AC3C88A1EEB9}">
      <dsp:nvSpPr>
        <dsp:cNvPr id="0" name=""/>
        <dsp:cNvSpPr/>
      </dsp:nvSpPr>
      <dsp:spPr>
        <a:xfrm>
          <a:off x="0" y="671521"/>
          <a:ext cx="3046117" cy="19342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0AA8BF-9ED0-2749-9E4B-88622B51C54F}">
      <dsp:nvSpPr>
        <dsp:cNvPr id="0" name=""/>
        <dsp:cNvSpPr/>
      </dsp:nvSpPr>
      <dsp:spPr>
        <a:xfrm>
          <a:off x="338457" y="993056"/>
          <a:ext cx="3046117" cy="1934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600" kern="1200"/>
            <a:t>CNN</a:t>
          </a:r>
          <a:r>
            <a:rPr kumimoji="1" lang="ko-KR" sz="1600" kern="1200"/>
            <a:t>을 훈련하는 데는 많은 시간이 소요될 수 있으며</a:t>
          </a:r>
          <a:r>
            <a:rPr kumimoji="1" lang="en-US" sz="1600" kern="1200"/>
            <a:t>, </a:t>
          </a:r>
          <a:r>
            <a:rPr kumimoji="1" lang="ko-KR" sz="1600" kern="1200"/>
            <a:t>이 작업에는 많은 데이터가 필요</a:t>
          </a:r>
          <a:endParaRPr lang="en-US" sz="1600" kern="1200"/>
        </a:p>
      </dsp:txBody>
      <dsp:txXfrm>
        <a:off x="395110" y="1049709"/>
        <a:ext cx="2932811" cy="1820978"/>
      </dsp:txXfrm>
    </dsp:sp>
    <dsp:sp modelId="{C2A13695-4A11-6B4B-9689-099ED27F1944}">
      <dsp:nvSpPr>
        <dsp:cNvPr id="0" name=""/>
        <dsp:cNvSpPr/>
      </dsp:nvSpPr>
      <dsp:spPr>
        <a:xfrm>
          <a:off x="3723032" y="671521"/>
          <a:ext cx="3046117" cy="19342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D9BCF3-B343-6E4B-929E-0D9C9273461D}">
      <dsp:nvSpPr>
        <dsp:cNvPr id="0" name=""/>
        <dsp:cNvSpPr/>
      </dsp:nvSpPr>
      <dsp:spPr>
        <a:xfrm>
          <a:off x="4061490" y="993056"/>
          <a:ext cx="3046117" cy="1934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600" kern="1200"/>
            <a:t>대부분의 훈련 시간은 네트워크가 이미지에서 패턴을 추출하는 데 사용할 수 있는 최적의 저</a:t>
          </a:r>
          <a:r>
            <a:rPr kumimoji="1" lang="en-US" sz="1600" kern="1200"/>
            <a:t>-</a:t>
          </a:r>
          <a:r>
            <a:rPr kumimoji="1" lang="ko-KR" sz="1600" kern="1200"/>
            <a:t>수준 필터를 학습하는 데 소여</a:t>
          </a:r>
          <a:endParaRPr lang="en-US" sz="1600" kern="1200"/>
        </a:p>
      </dsp:txBody>
      <dsp:txXfrm>
        <a:off x="4118143" y="1049709"/>
        <a:ext cx="2932811" cy="1820978"/>
      </dsp:txXfrm>
    </dsp:sp>
    <dsp:sp modelId="{338882BB-74D0-AC45-B759-BF2185F61444}">
      <dsp:nvSpPr>
        <dsp:cNvPr id="0" name=""/>
        <dsp:cNvSpPr/>
      </dsp:nvSpPr>
      <dsp:spPr>
        <a:xfrm>
          <a:off x="7446065" y="671521"/>
          <a:ext cx="3046117" cy="19342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CF7643-F4BF-B146-A8EA-55D43D41BAE0}">
      <dsp:nvSpPr>
        <dsp:cNvPr id="0" name=""/>
        <dsp:cNvSpPr/>
      </dsp:nvSpPr>
      <dsp:spPr>
        <a:xfrm>
          <a:off x="7784523" y="993056"/>
          <a:ext cx="3046117" cy="1934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600" kern="1200"/>
            <a:t>그렇다면 하나의 데이터 세트에 대해 미리 학습된 신경망을 사용하여 전체 학습 과정 없이도 다른 이미지를 분류하는 데 적용할 수 있을까</a:t>
          </a:r>
          <a:r>
            <a:rPr kumimoji="1" lang="en-US" sz="1600" kern="1200"/>
            <a:t>?</a:t>
          </a:r>
          <a:endParaRPr lang="en-US" sz="1600" kern="1200"/>
        </a:p>
      </dsp:txBody>
      <dsp:txXfrm>
        <a:off x="7841176" y="1049709"/>
        <a:ext cx="2932811" cy="18209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88FC43-FED7-D741-A1F2-A4A2C2915FC8}">
      <dsp:nvSpPr>
        <dsp:cNvPr id="0" name=""/>
        <dsp:cNvSpPr/>
      </dsp:nvSpPr>
      <dsp:spPr>
        <a:xfrm>
          <a:off x="52" y="55506"/>
          <a:ext cx="5060997" cy="129734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900" kern="1200"/>
            <a:t>전이 학습은 한 신경망 모델에서 다른 신경망 모델로 일부 지식을 이전</a:t>
          </a:r>
          <a:endParaRPr lang="en-US" sz="1900" kern="1200"/>
        </a:p>
      </dsp:txBody>
      <dsp:txXfrm>
        <a:off x="52" y="55506"/>
        <a:ext cx="5060997" cy="1297340"/>
      </dsp:txXfrm>
    </dsp:sp>
    <dsp:sp modelId="{8E3F902B-E00D-C341-B772-328E1CD8CABE}">
      <dsp:nvSpPr>
        <dsp:cNvPr id="0" name=""/>
        <dsp:cNvSpPr/>
      </dsp:nvSpPr>
      <dsp:spPr>
        <a:xfrm>
          <a:off x="52" y="1352846"/>
          <a:ext cx="5060997" cy="219050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FDD003-C645-9641-B1A4-5C7B07D923F7}">
      <dsp:nvSpPr>
        <dsp:cNvPr id="0" name=""/>
        <dsp:cNvSpPr/>
      </dsp:nvSpPr>
      <dsp:spPr>
        <a:xfrm>
          <a:off x="5769590" y="55506"/>
          <a:ext cx="5060997" cy="1297340"/>
        </a:xfrm>
        <a:prstGeom prst="rect">
          <a:avLst/>
        </a:prstGeom>
        <a:solidFill>
          <a:schemeClr val="accent2">
            <a:hueOff val="5542319"/>
            <a:satOff val="-953"/>
            <a:lumOff val="-9804"/>
            <a:alphaOff val="0"/>
          </a:schemeClr>
        </a:solidFill>
        <a:ln w="12700" cap="flat" cmpd="sng" algn="ctr">
          <a:solidFill>
            <a:schemeClr val="accent2">
              <a:hueOff val="5542319"/>
              <a:satOff val="-953"/>
              <a:lumOff val="-98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900" kern="1200"/>
            <a:t>전이 학습에서는 일반적으로 이미지넷과 같은 대규모 이미지 데이터 세트에서 훈련된 사전 훈련된 모델로 시작</a:t>
          </a:r>
          <a:endParaRPr lang="en-US" sz="1900" kern="1200"/>
        </a:p>
      </dsp:txBody>
      <dsp:txXfrm>
        <a:off x="5769590" y="55506"/>
        <a:ext cx="5060997" cy="1297340"/>
      </dsp:txXfrm>
    </dsp:sp>
    <dsp:sp modelId="{2533FB52-E35E-4A4F-8DCE-C26C77A50084}">
      <dsp:nvSpPr>
        <dsp:cNvPr id="0" name=""/>
        <dsp:cNvSpPr/>
      </dsp:nvSpPr>
      <dsp:spPr>
        <a:xfrm>
          <a:off x="5769590" y="1352846"/>
          <a:ext cx="5060997" cy="2190509"/>
        </a:xfrm>
        <a:prstGeom prst="rect">
          <a:avLst/>
        </a:prstGeom>
        <a:solidFill>
          <a:schemeClr val="accent2">
            <a:tint val="40000"/>
            <a:alpha val="90000"/>
            <a:hueOff val="5291884"/>
            <a:satOff val="-5406"/>
            <a:lumOff val="-192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5291884"/>
              <a:satOff val="-5406"/>
              <a:lumOff val="-192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900" kern="1200"/>
            <a:t>이러한 모델은 이미 일반 이미지에서 다양한 특징을 잘 추출할 수 있으며</a:t>
          </a:r>
          <a:r>
            <a:rPr kumimoji="1" lang="en-US" sz="1900" kern="1200"/>
            <a:t>, </a:t>
          </a:r>
          <a:r>
            <a:rPr kumimoji="1" lang="ko-KR" sz="1900" kern="1200"/>
            <a:t>많은 경우 추출된 특징을 기반으로 분류기를 구축하는 것만으로도 좋은 결과를 얻을 수 있음</a:t>
          </a:r>
          <a:endParaRPr lang="en-US" sz="1900" kern="1200"/>
        </a:p>
      </dsp:txBody>
      <dsp:txXfrm>
        <a:off x="5769590" y="1352846"/>
        <a:ext cx="5060997" cy="219050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12CB0E-CFDD-6647-B3CF-57C233457BFE}">
      <dsp:nvSpPr>
        <dsp:cNvPr id="0" name=""/>
        <dsp:cNvSpPr/>
      </dsp:nvSpPr>
      <dsp:spPr>
        <a:xfrm>
          <a:off x="1322" y="81131"/>
          <a:ext cx="4640570" cy="29467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694125-2D5F-E142-AA0A-75AE4013ABF9}">
      <dsp:nvSpPr>
        <dsp:cNvPr id="0" name=""/>
        <dsp:cNvSpPr/>
      </dsp:nvSpPr>
      <dsp:spPr>
        <a:xfrm>
          <a:off x="516940" y="570969"/>
          <a:ext cx="4640570" cy="29467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2100" kern="1200"/>
            <a:t>전에 설명한 컨볼루션 네트워크에는 수평</a:t>
          </a:r>
          <a:r>
            <a:rPr kumimoji="1" lang="en-US" sz="2100" kern="1200"/>
            <a:t>/</a:t>
          </a:r>
          <a:r>
            <a:rPr kumimoji="1" lang="ko-KR" sz="2100" kern="1200"/>
            <a:t>수직선 또는 획과 같은 낮은 수준의 픽셀 조합부터 불꽃의 눈과 같은 높은 수준의 특징 조합까지 이미지에서 일부 특징을 추출하는 여러 계층이 포함되어 있음</a:t>
          </a:r>
          <a:endParaRPr lang="en-US" sz="2100" kern="1200"/>
        </a:p>
      </dsp:txBody>
      <dsp:txXfrm>
        <a:off x="603248" y="657277"/>
        <a:ext cx="4467954" cy="2774145"/>
      </dsp:txXfrm>
    </dsp:sp>
    <dsp:sp modelId="{DC33837C-E711-714F-80FD-11A72D205B91}">
      <dsp:nvSpPr>
        <dsp:cNvPr id="0" name=""/>
        <dsp:cNvSpPr/>
      </dsp:nvSpPr>
      <dsp:spPr>
        <a:xfrm>
          <a:off x="5673129" y="81131"/>
          <a:ext cx="4640570" cy="29467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5229B7-B070-2144-AF5B-9C421CE7D283}">
      <dsp:nvSpPr>
        <dsp:cNvPr id="0" name=""/>
        <dsp:cNvSpPr/>
      </dsp:nvSpPr>
      <dsp:spPr>
        <a:xfrm>
          <a:off x="6188748" y="570969"/>
          <a:ext cx="4640570" cy="29467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2100" kern="1200"/>
            <a:t>일반적이고 다양한 이미지로 구성된 충분히 큰 데이터 세트로 </a:t>
          </a:r>
          <a:r>
            <a:rPr kumimoji="1" lang="en-US" sz="2100" kern="1200"/>
            <a:t>CNN</a:t>
          </a:r>
          <a:r>
            <a:rPr kumimoji="1" lang="ko-KR" sz="2100" kern="1200"/>
            <a:t>을 훈련시키면 네트워크는 이러한 공통된 특징을 추출하는 방법을 학습</a:t>
          </a:r>
          <a:endParaRPr lang="en-US" sz="2100" kern="1200"/>
        </a:p>
      </dsp:txBody>
      <dsp:txXfrm>
        <a:off x="6275056" y="657277"/>
        <a:ext cx="4467954" cy="27741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DA21EB-9E75-A045-8BBF-7A4A31622842}">
      <dsp:nvSpPr>
        <dsp:cNvPr id="0" name=""/>
        <dsp:cNvSpPr/>
      </dsp:nvSpPr>
      <dsp:spPr>
        <a:xfrm>
          <a:off x="46" y="105037"/>
          <a:ext cx="4492414" cy="12307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400" kern="1200"/>
            <a:t>Keras</a:t>
          </a:r>
          <a:r>
            <a:rPr kumimoji="1" lang="ko-KR" sz="1400" kern="1200"/>
            <a:t>와 </a:t>
          </a:r>
          <a:r>
            <a:rPr kumimoji="1" lang="en-US" sz="1400" kern="1200"/>
            <a:t>PyTorch</a:t>
          </a:r>
          <a:r>
            <a:rPr kumimoji="1" lang="ko-KR" sz="1400" kern="1200"/>
            <a:t>에는 몇 가지 일반적인 아키텍처에 대해 미리 훈련된 신경망 가중치를 쉽게 로드할 수 있는 함수가 포함되어 있으며</a:t>
          </a:r>
          <a:r>
            <a:rPr kumimoji="1" lang="en-US" sz="1400" kern="1200"/>
            <a:t>, </a:t>
          </a:r>
          <a:r>
            <a:rPr kumimoji="1" lang="ko-KR" sz="1400" kern="1200"/>
            <a:t>대부분은 이미지넷 이미지에서 훈련되었음</a:t>
          </a:r>
          <a:endParaRPr lang="en-US" sz="1400" kern="1200"/>
        </a:p>
      </dsp:txBody>
      <dsp:txXfrm>
        <a:off x="46" y="105037"/>
        <a:ext cx="4492414" cy="1230748"/>
      </dsp:txXfrm>
    </dsp:sp>
    <dsp:sp modelId="{24302508-3D08-5D49-A6A5-4B3FE47B7F71}">
      <dsp:nvSpPr>
        <dsp:cNvPr id="0" name=""/>
        <dsp:cNvSpPr/>
      </dsp:nvSpPr>
      <dsp:spPr>
        <a:xfrm>
          <a:off x="46" y="1335786"/>
          <a:ext cx="4492414" cy="284381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427D52-E6F5-EE4A-A607-247350471465}">
      <dsp:nvSpPr>
        <dsp:cNvPr id="0" name=""/>
        <dsp:cNvSpPr/>
      </dsp:nvSpPr>
      <dsp:spPr>
        <a:xfrm>
          <a:off x="5121399" y="105037"/>
          <a:ext cx="4492414" cy="12307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400" kern="1200"/>
            <a:t>가장 자주 사용되는 함수는 다음과 같음</a:t>
          </a:r>
          <a:endParaRPr lang="en-US" sz="1400" kern="1200"/>
        </a:p>
      </dsp:txBody>
      <dsp:txXfrm>
        <a:off x="5121399" y="105037"/>
        <a:ext cx="4492414" cy="1230748"/>
      </dsp:txXfrm>
    </dsp:sp>
    <dsp:sp modelId="{629D0DC2-3B53-164A-8EEF-0EF934E032B1}">
      <dsp:nvSpPr>
        <dsp:cNvPr id="0" name=""/>
        <dsp:cNvSpPr/>
      </dsp:nvSpPr>
      <dsp:spPr>
        <a:xfrm>
          <a:off x="5121399" y="1335786"/>
          <a:ext cx="4492414" cy="284381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400" kern="1200"/>
            <a:t>비교적 간단한 모델이지만 좋은 정확도를 제공하는 </a:t>
          </a:r>
          <a:r>
            <a:rPr kumimoji="1" lang="en-US" sz="1400" kern="1200"/>
            <a:t>VGG-16/VGG-19</a:t>
          </a:r>
          <a:r>
            <a:rPr kumimoji="1" lang="ko-KR" sz="1400" kern="1200"/>
            <a:t>는 전이 학습이 어떻게 작동하는지 확인하기 위해 첫 번째 시도로 하기 좋은 선택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sz="1400" kern="1200"/>
            <a:t>ResNet</a:t>
          </a:r>
          <a:r>
            <a:rPr kumimoji="1" lang="ko-KR" sz="1400" kern="1200"/>
            <a:t>은 </a:t>
          </a:r>
          <a:r>
            <a:rPr kumimoji="1" lang="en-US" sz="1400" kern="1200"/>
            <a:t>2015</a:t>
          </a:r>
          <a:r>
            <a:rPr kumimoji="1" lang="ko-KR" sz="1400" kern="1200"/>
            <a:t>년에 </a:t>
          </a:r>
          <a:r>
            <a:rPr kumimoji="1" lang="en-US" sz="1400" kern="1200"/>
            <a:t>Microsoft Research</a:t>
          </a:r>
          <a:r>
            <a:rPr kumimoji="1" lang="ko-KR" sz="1400" kern="1200"/>
            <a:t>에서 제안한 모델인데</a:t>
          </a:r>
          <a:r>
            <a:rPr kumimoji="1" lang="en-US" sz="1400" kern="1200"/>
            <a:t> </a:t>
          </a:r>
          <a:r>
            <a:rPr kumimoji="1" lang="ko-KR" sz="1400" kern="1200"/>
            <a:t>레이어가 상대적으로 많기 때문에 더 많은 리소스를 필요로 함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sz="1400" kern="1200"/>
            <a:t>MobileNet</a:t>
          </a:r>
          <a:r>
            <a:rPr kumimoji="1" lang="ko-KR" sz="1400" kern="1200"/>
            <a:t>은 모바일 기기에 적합하도록 크기를 줄인 모델인데</a:t>
          </a:r>
          <a:r>
            <a:rPr kumimoji="1" lang="en-US" sz="1400" kern="1200"/>
            <a:t> </a:t>
          </a:r>
          <a:r>
            <a:rPr kumimoji="1" lang="ko-KR" sz="1400" kern="1200"/>
            <a:t>리소스가 부족하고 정확도를 약간 희생할 수 있는 경우에 사용</a:t>
          </a:r>
          <a:endParaRPr lang="en-US" sz="1400" kern="1200"/>
        </a:p>
      </dsp:txBody>
      <dsp:txXfrm>
        <a:off x="5121399" y="1335786"/>
        <a:ext cx="4492414" cy="2843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736BBE-BFAE-9F43-B166-13FEFD314CB3}" type="datetimeFigureOut">
              <a:rPr kumimoji="1" lang="ko-KR" altLang="en-US" smtClean="0"/>
              <a:t>2024. 4. 27.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465AF-F441-2346-A316-A9FE97FE20D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34037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2024. 4. 27.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83249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2024. 4. 27.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6672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2024. 4. 27.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5535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2024. 4. 27.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67293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2024. 4. 27.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8214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2024. 4. 27.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99008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2024. 4. 27.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9590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2024. 4. 27.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09764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2024. 4. 27.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0256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2024. 4. 27.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60194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2024. 4. 27.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4415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2024. 4. 27.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838619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2024. 4. 27.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006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2024. 4. 27.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0680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2024. 4. 27.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67304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2024. 4. 27.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549707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4B4401D8-5128-A44A-8319-D6A9E9B7B21D}" type="datetime1">
              <a:rPr lang="ko-KR" altLang="en-US" smtClean="0"/>
              <a:t>2024. 4. 27.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6830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4401D8-5128-A44A-8319-D6A9E9B7B21D}" type="datetime1">
              <a:rPr lang="ko-KR" altLang="en-US" smtClean="0"/>
              <a:t>2024. 4. 27.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6579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  <p:sldLayoutId id="2147483873" r:id="rId12"/>
    <p:sldLayoutId id="2147483874" r:id="rId13"/>
    <p:sldLayoutId id="2147483875" r:id="rId14"/>
    <p:sldLayoutId id="2147483876" r:id="rId15"/>
    <p:sldLayoutId id="2147483877" r:id="rId16"/>
    <p:sldLayoutId id="2147483878" r:id="rId1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D3E715-BBCA-5C4B-2692-46B8628A25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652585"/>
            <a:ext cx="4800600" cy="3766268"/>
          </a:xfrm>
        </p:spPr>
        <p:txBody>
          <a:bodyPr anchor="t">
            <a:normAutofit/>
          </a:bodyPr>
          <a:lstStyle/>
          <a:p>
            <a:pPr algn="l"/>
            <a:r>
              <a:rPr kumimoji="1" lang="en-US" altLang="ko-KR" dirty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Pre-trained Networks and Transfer Learning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E3CA5E-7C02-301E-B4E8-D028991509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762000"/>
            <a:ext cx="4800600" cy="1066800"/>
          </a:xfrm>
        </p:spPr>
        <p:txBody>
          <a:bodyPr>
            <a:normAutofit/>
          </a:bodyPr>
          <a:lstStyle/>
          <a:p>
            <a:pPr algn="l"/>
            <a:r>
              <a:rPr kumimoji="1" lang="en-US" altLang="ko-KR" sz="2200">
                <a:solidFill>
                  <a:schemeClr val="tx2">
                    <a:alpha val="60000"/>
                  </a:schemeClr>
                </a:solidFill>
              </a:rPr>
              <a:t>Foundation of AI</a:t>
            </a:r>
            <a:endParaRPr kumimoji="1" lang="ko-KR" altLang="en-US" sz="2200">
              <a:solidFill>
                <a:schemeClr val="tx2">
                  <a:alpha val="60000"/>
                </a:scheme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9B2E7E-708C-5264-7062-592780F0B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E0BB23-952E-CE3A-6D69-51F800C8F8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l="15523" r="21935"/>
          <a:stretch/>
        </p:blipFill>
        <p:spPr>
          <a:xfrm>
            <a:off x="6096000" y="10"/>
            <a:ext cx="6083807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714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D827E-5908-962E-6349-194437762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kumimoji="1" lang="ko-KR" altLang="en-US" dirty="0"/>
              <a:t>질문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7479D0-7E3C-E4D2-C384-6603BD8C5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A09FF45A-D3F8-E3C8-C7B4-2DAE2449F8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7548161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2031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EBC956-AB5A-74D4-A934-C1B17B698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Transfer Learning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34A0B9-109A-C322-5153-F7A0273C9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E2055EEE-6751-F954-6664-820B43CA81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0004870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0885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87BAF8-9194-8EDB-95B5-C6398AFBB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kumimoji="1" lang="en" altLang="ko-KR" dirty="0"/>
              <a:t>Pre-Trained Models as Feature Extractors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401DD-2D0C-F9BA-D9BD-A7292CBDD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CAB74001-E74C-DAB6-72C2-66F36D92E8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0381976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0758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56B29A-162D-9C58-5A68-5C42DFA75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ko-KR"/>
              <a:t>Pre-Trained Models as Feature Extractors</a:t>
            </a:r>
            <a:r>
              <a:rPr kumimoji="1" lang="ko-KR" altLang="en-US"/>
              <a:t> </a:t>
            </a:r>
            <a:r>
              <a:rPr kumimoji="1" lang="en-US" altLang="ko-KR"/>
              <a:t>(cont’d)</a:t>
            </a:r>
            <a:endParaRPr kumimoji="1" lang="ko-KR" altLang="en-US" dirty="0"/>
          </a:p>
        </p:txBody>
      </p:sp>
      <p:graphicFrame>
        <p:nvGraphicFramePr>
          <p:cNvPr id="8" name="내용 개체 틀 2">
            <a:extLst>
              <a:ext uri="{FF2B5EF4-FFF2-40B4-BE49-F238E27FC236}">
                <a16:creationId xmlns:a16="http://schemas.microsoft.com/office/drawing/2014/main" id="{2E3C197C-DC79-FB4A-3681-0A9599713A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0321" y="2336873"/>
          <a:ext cx="9613861" cy="42846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CD06FA-D964-98A5-EBB4-035B630F1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48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8">
            <a:extLst>
              <a:ext uri="{FF2B5EF4-FFF2-40B4-BE49-F238E27FC236}">
                <a16:creationId xmlns:a16="http://schemas.microsoft.com/office/drawing/2014/main" id="{AC3E6C53-102E-4ACA-BCBB-3CC973B9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6" name="Picture 10">
            <a:extLst>
              <a:ext uri="{FF2B5EF4-FFF2-40B4-BE49-F238E27FC236}">
                <a16:creationId xmlns:a16="http://schemas.microsoft.com/office/drawing/2014/main" id="{17B2B42C-0777-4D6E-9432-535281803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28" name="Picture 12">
            <a:extLst>
              <a:ext uri="{FF2B5EF4-FFF2-40B4-BE49-F238E27FC236}">
                <a16:creationId xmlns:a16="http://schemas.microsoft.com/office/drawing/2014/main" id="{EFEAAB60-93E2-4DC6-99AC-939637BC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29" name="Rectangle 14">
            <a:extLst>
              <a:ext uri="{FF2B5EF4-FFF2-40B4-BE49-F238E27FC236}">
                <a16:creationId xmlns:a16="http://schemas.microsoft.com/office/drawing/2014/main" id="{7EF5ECB8-D49C-48FB-A93E-88EB2FFDF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0" name="Rectangle 16">
            <a:extLst>
              <a:ext uri="{FF2B5EF4-FFF2-40B4-BE49-F238E27FC236}">
                <a16:creationId xmlns:a16="http://schemas.microsoft.com/office/drawing/2014/main" id="{411B77A2-BD5C-432D-B52E-C12612C74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 useBgFill="1">
        <p:nvSpPr>
          <p:cNvPr id="31" name="Rectangle 18">
            <a:extLst>
              <a:ext uri="{FF2B5EF4-FFF2-40B4-BE49-F238E27FC236}">
                <a16:creationId xmlns:a16="http://schemas.microsoft.com/office/drawing/2014/main" id="{B2E911EF-80F5-4781-A4DF-44EFAF242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20">
            <a:extLst>
              <a:ext uri="{FF2B5EF4-FFF2-40B4-BE49-F238E27FC236}">
                <a16:creationId xmlns:a16="http://schemas.microsoft.com/office/drawing/2014/main" id="{B0A2A734-17E4-44D5-9630-D54D6AF74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FFB5C33-24B2-4764-BDBD-4C10A21DB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88808" y="0"/>
            <a:ext cx="340319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EB601E2-EFED-4313-BEE4-9E27B94FC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42852"/>
            <a:ext cx="9110541" cy="246557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425DB5A-CEE1-4EE1-8C4A-689E49D354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590078"/>
            <a:ext cx="9110542" cy="16603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598C3D6-1E2E-8D1F-BB4D-D4AA0F2B2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510" y="2733709"/>
            <a:ext cx="7657792" cy="13730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latinLnBrk="0"/>
            <a:r>
              <a:rPr kumimoji="1" lang="ko-KR" altLang="en-US" sz="5400">
                <a:solidFill>
                  <a:srgbClr val="FFFFFF"/>
                </a:solidFill>
              </a:rPr>
              <a:t>실습</a:t>
            </a:r>
            <a:r>
              <a:rPr kumimoji="1" lang="en-US" altLang="ko-KR" sz="5400">
                <a:solidFill>
                  <a:srgbClr val="FFFFFF"/>
                </a:solidFill>
              </a:rPr>
              <a:t>: transfer learning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AF46A2-ACFE-BA8F-FCFB-C0C907DA4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6</a:t>
            </a:fld>
            <a:endParaRPr lang="en-US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8520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C7FBD6-4258-037A-2C3F-D52252E55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ko-KR" dirty="0"/>
              <a:t>Visualizing Adversarial Cat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7DDC78-3CAC-FE04-365C-EDB050032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/>
              <a:t>사전 훈련된 신경망은 이상적인 고양이</a:t>
            </a:r>
            <a:r>
              <a:rPr kumimoji="1" lang="en-US" altLang="ko-KR" dirty="0"/>
              <a:t>(</a:t>
            </a:r>
            <a:r>
              <a:rPr kumimoji="1" lang="ko-KR" altLang="en-US" dirty="0"/>
              <a:t>이상적인 개</a:t>
            </a:r>
            <a:r>
              <a:rPr kumimoji="1" lang="en-US" altLang="ko-KR" dirty="0"/>
              <a:t>, </a:t>
            </a:r>
            <a:r>
              <a:rPr kumimoji="1" lang="ko-KR" altLang="en-US" dirty="0"/>
              <a:t>이상적인 얼룩말 등</a:t>
            </a:r>
            <a:r>
              <a:rPr kumimoji="1" lang="en-US" altLang="ko-KR" dirty="0"/>
              <a:t>)</a:t>
            </a:r>
            <a:r>
              <a:rPr kumimoji="1" lang="ko-KR" altLang="en-US" dirty="0"/>
              <a:t>에 대한 개념을 포함하여 뇌 내부에 다양한 패턴을 포함하고 있음</a:t>
            </a:r>
            <a:endParaRPr kumimoji="1" lang="en-US" altLang="ko-KR" dirty="0"/>
          </a:p>
          <a:p>
            <a:r>
              <a:rPr kumimoji="1" lang="ko-KR" altLang="en-US" dirty="0"/>
              <a:t>이 이미지를 </a:t>
            </a:r>
            <a:r>
              <a:rPr kumimoji="1" lang="ko-KR" altLang="en-US" dirty="0" err="1"/>
              <a:t>시각화하면</a:t>
            </a:r>
            <a:r>
              <a:rPr kumimoji="1" lang="ko-KR" altLang="en-US" dirty="0"/>
              <a:t> 흥미로울 것이지만 패턴이 네트워크 가중치 전체에 퍼져 있고 계층적 구조로 구성되어 있기 때문에 간단하지 않음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2F4A90-7656-0C8D-4D55-34923F972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282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610D2AE-07EF-436A-9755-AA8DF4B93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3" name="Picture 1032">
            <a:extLst>
              <a:ext uri="{FF2B5EF4-FFF2-40B4-BE49-F238E27FC236}">
                <a16:creationId xmlns:a16="http://schemas.microsoft.com/office/drawing/2014/main" id="{6CACDD17-9043-46DF-882D-420365B79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35" name="Rectangle 1034">
            <a:extLst>
              <a:ext uri="{FF2B5EF4-FFF2-40B4-BE49-F238E27FC236}">
                <a16:creationId xmlns:a16="http://schemas.microsoft.com/office/drawing/2014/main" id="{CF2D8AD5-434A-4C0E-9F5B-C1AFD645F3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0779250-F4E6-903D-B677-D2B515A4C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kumimoji="1" lang="en" altLang="ko-KR" sz="2400" dirty="0"/>
              <a:t>Visualizing Adversarial Cat</a:t>
            </a:r>
            <a:endParaRPr kumimoji="1" lang="ko-KR" altLang="en-US" sz="2400" dirty="0"/>
          </a:p>
        </p:txBody>
      </p:sp>
      <p:pic>
        <p:nvPicPr>
          <p:cNvPr id="1037" name="Picture 1036">
            <a:extLst>
              <a:ext uri="{FF2B5EF4-FFF2-40B4-BE49-F238E27FC236}">
                <a16:creationId xmlns:a16="http://schemas.microsoft.com/office/drawing/2014/main" id="{E92B246D-47CC-40F8-8DE7-B65D409E9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529B91-C84E-BF3F-4C3E-D4A9C7420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4136123" cy="4105968"/>
          </a:xfrm>
        </p:spPr>
        <p:txBody>
          <a:bodyPr>
            <a:normAutofit/>
          </a:bodyPr>
          <a:lstStyle/>
          <a:p>
            <a:r>
              <a:rPr kumimoji="1" lang="ko-KR" altLang="en-US" sz="1800" dirty="0"/>
              <a:t>적용 가능한 한 방법은 임의의 이미지로 시작한 다음 </a:t>
            </a:r>
            <a:r>
              <a:rPr kumimoji="1" lang="ko-KR" altLang="en-US" sz="1800" dirty="0" err="1"/>
              <a:t>그라데이션</a:t>
            </a:r>
            <a:r>
              <a:rPr kumimoji="1" lang="ko-KR" altLang="en-US" sz="1800" dirty="0"/>
              <a:t> 하강 최적화 기술을 사용하여 네트워크가 고양이로 인식하도록 이미지를 조정하는 것</a:t>
            </a:r>
            <a:endParaRPr kumimoji="1" lang="en-US" altLang="ko-KR" sz="1800" dirty="0"/>
          </a:p>
          <a:p>
            <a:r>
              <a:rPr kumimoji="1" lang="ko-KR" altLang="en-US" sz="1800" dirty="0"/>
              <a:t>그러나 이렇게 하면 무작위 노이즈와 매우 유사한 것이 발생하는데 이는 네트워크가 입력 이미지를 고양이로 인식하게 만드는 방법에는 시각적으로 이해되지 않는 방법을 포함해 여러 가지가 있기 </a:t>
            </a:r>
            <a:r>
              <a:rPr kumimoji="1" lang="ko-KR" altLang="en-US" sz="1800" dirty="0" err="1"/>
              <a:t>때문이고이러한</a:t>
            </a:r>
            <a:r>
              <a:rPr kumimoji="1" lang="ko-KR" altLang="en-US" sz="1800" dirty="0"/>
              <a:t> 이미지에는 고양이의 전형적인 패턴이 많이 포함되어 있지만</a:t>
            </a:r>
            <a:r>
              <a:rPr kumimoji="1" lang="en-US" altLang="ko-KR" sz="1800" dirty="0"/>
              <a:t>, </a:t>
            </a:r>
            <a:r>
              <a:rPr kumimoji="1" lang="ko-KR" altLang="en-US" sz="1800" dirty="0"/>
              <a:t>시각적으로 구별할 수 있도록 제한할 수 있는 방법은 없음</a:t>
            </a:r>
            <a:endParaRPr kumimoji="1" lang="en-US" altLang="ko-KR" sz="1800" dirty="0"/>
          </a:p>
          <a:p>
            <a:endParaRPr kumimoji="1" lang="en-US" altLang="ko-KR" sz="1800" dirty="0"/>
          </a:p>
          <a:p>
            <a:endParaRPr kumimoji="1" lang="ko-KR" altLang="en-US" sz="1800" dirty="0"/>
          </a:p>
        </p:txBody>
      </p:sp>
      <p:pic>
        <p:nvPicPr>
          <p:cNvPr id="1026" name="Picture 2" descr="Image Optimization Loop">
            <a:extLst>
              <a:ext uri="{FF2B5EF4-FFF2-40B4-BE49-F238E27FC236}">
                <a16:creationId xmlns:a16="http://schemas.microsoft.com/office/drawing/2014/main" id="{4E658492-78A2-31A8-C246-94FCD1F4F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76090" y="1774945"/>
            <a:ext cx="6303134" cy="3277629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786466-643B-B307-7E00-36458F087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0372" y="6310314"/>
            <a:ext cx="914400" cy="36512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 sz="10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5043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7" name="Group 2056">
            <a:extLst>
              <a:ext uri="{FF2B5EF4-FFF2-40B4-BE49-F238E27FC236}">
                <a16:creationId xmlns:a16="http://schemas.microsoft.com/office/drawing/2014/main" id="{7D0669C1-CDCE-41C7-A9AB-65D9119F8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2058" name="Rectangle 2057">
              <a:extLst>
                <a:ext uri="{FF2B5EF4-FFF2-40B4-BE49-F238E27FC236}">
                  <a16:creationId xmlns:a16="http://schemas.microsoft.com/office/drawing/2014/main" id="{1F80B4EE-271C-45C6-9338-555D3B0C4A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59" name="Picture 2058">
              <a:extLst>
                <a:ext uri="{FF2B5EF4-FFF2-40B4-BE49-F238E27FC236}">
                  <a16:creationId xmlns:a16="http://schemas.microsoft.com/office/drawing/2014/main" id="{6FCF3DCC-E585-4F88-8F8B-4EABFEF06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F1AACF4D-AF22-463C-97CE-C34F0783C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6499753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E241DB3-25BF-8215-06DF-06FF9ADDD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5632247" cy="1080938"/>
          </a:xfrm>
        </p:spPr>
        <p:txBody>
          <a:bodyPr>
            <a:normAutofit/>
          </a:bodyPr>
          <a:lstStyle/>
          <a:p>
            <a:r>
              <a:rPr kumimoji="1" lang="en" altLang="ko-KR" dirty="0"/>
              <a:t>Visualizing Adversarial Cat</a:t>
            </a:r>
            <a:endParaRPr kumimoji="1" lang="ko-KR" altLang="en-US" b="1" dirty="0"/>
          </a:p>
        </p:txBody>
      </p:sp>
      <p:pic>
        <p:nvPicPr>
          <p:cNvPr id="2063" name="Picture 2062">
            <a:extLst>
              <a:ext uri="{FF2B5EF4-FFF2-40B4-BE49-F238E27FC236}">
                <a16:creationId xmlns:a16="http://schemas.microsoft.com/office/drawing/2014/main" id="{6524329A-37E7-4025-B6E9-A97D40536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6492240" cy="261714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18D757-871C-E0F6-EAB2-6AC3AF8EC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336873"/>
            <a:ext cx="5632246" cy="3599316"/>
          </a:xfrm>
        </p:spPr>
        <p:txBody>
          <a:bodyPr>
            <a:normAutofit/>
          </a:bodyPr>
          <a:lstStyle/>
          <a:p>
            <a:r>
              <a:rPr kumimoji="1" lang="ko-KR" altLang="en-US" sz="2000"/>
              <a:t>결과를 개선하기 위해 손실 함수에 변형 손실을 추가할 수 있음</a:t>
            </a:r>
            <a:endParaRPr kumimoji="1" lang="en-US" altLang="ko-KR" sz="2000"/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/>
              <a:t>이는 이미지의 인접 픽셀이 얼마나 유사한지를 보여주는 지표</a:t>
            </a:r>
            <a:endParaRPr kumimoji="1" lang="en-US" altLang="ko-KR" dirty="0"/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/>
              <a:t>변형 손실을 최소화하면 이미지가 더 부드러워지고 노이즈가 제거되어 시각적으로 더 매력적인 패턴이 드러남</a:t>
            </a:r>
            <a:endParaRPr kumimoji="1" lang="en-US" altLang="ko-KR" dirty="0"/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/>
              <a:t>높은 확률로 고양이와 얼룩말로 분류되는 “이상적인” 이미지의 예</a:t>
            </a:r>
            <a:endParaRPr kumimoji="1" lang="en-US" altLang="ko-KR" dirty="0"/>
          </a:p>
          <a:p>
            <a:endParaRPr kumimoji="1" lang="en-US" altLang="ko-KR" sz="2000"/>
          </a:p>
          <a:p>
            <a:endParaRPr kumimoji="1" lang="ko-KR" altLang="en-US" sz="2000"/>
          </a:p>
        </p:txBody>
      </p:sp>
      <p:pic>
        <p:nvPicPr>
          <p:cNvPr id="2050" name="Picture 2" descr="Ideal Cat">
            <a:extLst>
              <a:ext uri="{FF2B5EF4-FFF2-40B4-BE49-F238E27FC236}">
                <a16:creationId xmlns:a16="http://schemas.microsoft.com/office/drawing/2014/main" id="{1A0C81BC-EA6A-96C0-CDE5-0A81E6759E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34" r="-1" b="20594"/>
          <a:stretch/>
        </p:blipFill>
        <p:spPr bwMode="auto">
          <a:xfrm>
            <a:off x="6984387" y="484632"/>
            <a:ext cx="4719805" cy="2836084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deal Zebra">
            <a:extLst>
              <a:ext uri="{FF2B5EF4-FFF2-40B4-BE49-F238E27FC236}">
                <a16:creationId xmlns:a16="http://schemas.microsoft.com/office/drawing/2014/main" id="{F2663898-007A-168C-68A0-C5A8182B3E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34" r="-1" b="14208"/>
          <a:stretch/>
        </p:blipFill>
        <p:spPr bwMode="auto">
          <a:xfrm>
            <a:off x="6984386" y="3632401"/>
            <a:ext cx="4719805" cy="2743530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30D8AE-3748-506D-363E-1356D499F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0372" y="5936189"/>
            <a:ext cx="738175" cy="36512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prstClr val="white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 sz="105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469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1" name="Group 3080">
            <a:extLst>
              <a:ext uri="{FF2B5EF4-FFF2-40B4-BE49-F238E27FC236}">
                <a16:creationId xmlns:a16="http://schemas.microsoft.com/office/drawing/2014/main" id="{7D0669C1-CDCE-41C7-A9AB-65D9119F8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3082" name="Rectangle 3081">
              <a:extLst>
                <a:ext uri="{FF2B5EF4-FFF2-40B4-BE49-F238E27FC236}">
                  <a16:creationId xmlns:a16="http://schemas.microsoft.com/office/drawing/2014/main" id="{1F80B4EE-271C-45C6-9338-555D3B0C4A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83" name="Picture 3082">
              <a:extLst>
                <a:ext uri="{FF2B5EF4-FFF2-40B4-BE49-F238E27FC236}">
                  <a16:creationId xmlns:a16="http://schemas.microsoft.com/office/drawing/2014/main" id="{6FCF3DCC-E585-4F88-8F8B-4EABFEF06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F1AACF4D-AF22-463C-97CE-C34F0783C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6499753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DACA62B-8280-59F4-0046-4CD2E19D1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5632247" cy="1080938"/>
          </a:xfrm>
        </p:spPr>
        <p:txBody>
          <a:bodyPr>
            <a:normAutofit/>
          </a:bodyPr>
          <a:lstStyle/>
          <a:p>
            <a:r>
              <a:rPr kumimoji="1" lang="en" altLang="ko-KR" dirty="0"/>
              <a:t>Visualizing Adversarial Cat</a:t>
            </a:r>
            <a:endParaRPr kumimoji="1" lang="ko-KR" altLang="en-US" dirty="0"/>
          </a:p>
        </p:txBody>
      </p:sp>
      <p:pic>
        <p:nvPicPr>
          <p:cNvPr id="3087" name="Picture 3086">
            <a:extLst>
              <a:ext uri="{FF2B5EF4-FFF2-40B4-BE49-F238E27FC236}">
                <a16:creationId xmlns:a16="http://schemas.microsoft.com/office/drawing/2014/main" id="{6524329A-37E7-4025-B6E9-A97D40536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6492240" cy="261714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A0469E-889E-5F54-7C11-1F9772318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336873"/>
            <a:ext cx="5632246" cy="3599316"/>
          </a:xfrm>
        </p:spPr>
        <p:txBody>
          <a:bodyPr>
            <a:normAutofit/>
          </a:bodyPr>
          <a:lstStyle/>
          <a:p>
            <a:r>
              <a:rPr kumimoji="1" lang="ko-KR" altLang="en-US" sz="2000"/>
              <a:t>유사한 방법으로 신경망에 대한 적대적 공격을 수행할 수 있음</a:t>
            </a:r>
            <a:endParaRPr kumimoji="1" lang="en-US" altLang="ko-KR" sz="2000"/>
          </a:p>
          <a:p>
            <a:pPr lvl="1"/>
            <a:r>
              <a:rPr kumimoji="1" lang="ko-KR" altLang="en-US" dirty="0"/>
              <a:t>신경망을 속여 개를 고양이처럼 보이게 만들고 싶다고 가정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네트워크가 개로 인식하는 개의 이미지를 가져와서 경사 하강 최적화를 사용하여 네트워크가 고양이로 분류하기 시작할 때까지 약간씩 조정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오리지널 개의 사진과 고양이로 인식되는 변형된 개의 사진의 예</a:t>
            </a:r>
            <a:endParaRPr kumimoji="1" lang="en-US" altLang="ko-KR" dirty="0"/>
          </a:p>
        </p:txBody>
      </p:sp>
      <p:pic>
        <p:nvPicPr>
          <p:cNvPr id="3074" name="Picture 2" descr="Picture of a Dog">
            <a:extLst>
              <a:ext uri="{FF2B5EF4-FFF2-40B4-BE49-F238E27FC236}">
                <a16:creationId xmlns:a16="http://schemas.microsoft.com/office/drawing/2014/main" id="{7EC91000-22EC-9BF2-2096-78393077BE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13" r="-1" b="22777"/>
          <a:stretch/>
        </p:blipFill>
        <p:spPr bwMode="auto">
          <a:xfrm>
            <a:off x="6984387" y="484632"/>
            <a:ext cx="4719805" cy="2836084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icture of a dog classified as a cat">
            <a:extLst>
              <a:ext uri="{FF2B5EF4-FFF2-40B4-BE49-F238E27FC236}">
                <a16:creationId xmlns:a16="http://schemas.microsoft.com/office/drawing/2014/main" id="{9D74B6C6-712D-DFDE-4274-8B917892EE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09" r="2" b="24792"/>
          <a:stretch/>
        </p:blipFill>
        <p:spPr bwMode="auto">
          <a:xfrm>
            <a:off x="6984386" y="3632401"/>
            <a:ext cx="4719805" cy="2743530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8C9C9E-6A19-5125-C6A2-FAD288281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0372" y="5936189"/>
            <a:ext cx="738175" cy="36512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prstClr val="white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 sz="105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4726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C55354-736D-2A20-B219-730BF7CFB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Conclusion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5232CE-8984-3D81-1C8A-22265DD0A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/>
              <a:t>전이 학습을 사용하면 사용자 지정 객체 분류 작업을 위한 분류기를 빠르게 구성하고 높은 정확도를 달성할 수 있음</a:t>
            </a:r>
            <a:endParaRPr kumimoji="1" lang="en-US" altLang="ko-KR" dirty="0"/>
          </a:p>
          <a:p>
            <a:r>
              <a:rPr kumimoji="1" lang="ko-KR" altLang="en-US" dirty="0"/>
              <a:t>지금 우리가 해결하고 있는 더 복잡한 작업은 더 높은 연산 능력이 필요하며 </a:t>
            </a:r>
            <a:r>
              <a:rPr kumimoji="1" lang="en" altLang="ko-KR" dirty="0"/>
              <a:t>CPU</a:t>
            </a:r>
            <a:r>
              <a:rPr kumimoji="1" lang="ko-KR" altLang="en-US" dirty="0"/>
              <a:t>로는 쉽게 해결할 수 없다는 것을 알 수 있음</a:t>
            </a:r>
            <a:endParaRPr kumimoji="1" lang="en-US" altLang="ko-KR" dirty="0"/>
          </a:p>
          <a:p>
            <a:r>
              <a:rPr kumimoji="1" lang="ko-KR" altLang="en-US" dirty="0"/>
              <a:t>다음에 더 가벼운 구현을 사용하여 더 낮은 컴퓨팅 리소스를 사용하여 동일한 모델을 훈련하여 정확도를 약간 낮추는 방법을 시도</a:t>
            </a: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2FCD6-DA9D-529B-B40E-18E51547E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144785"/>
      </p:ext>
    </p:extLst>
  </p:cSld>
  <p:clrMapOvr>
    <a:masterClrMapping/>
  </p:clrMapOvr>
</p:sld>
</file>

<file path=ppt/theme/theme1.xml><?xml version="1.0" encoding="utf-8"?>
<a:theme xmlns:a="http://schemas.openxmlformats.org/drawingml/2006/main" name="베를린">
  <a:themeElements>
    <a:clrScheme name="베를린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베를린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베를린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1312</TotalTime>
  <Words>536</Words>
  <Application>Microsoft Macintosh PowerPoint</Application>
  <PresentationFormat>와이드스크린</PresentationFormat>
  <Paragraphs>51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Trebuchet MS</vt:lpstr>
      <vt:lpstr>Wingdings</vt:lpstr>
      <vt:lpstr>베를린</vt:lpstr>
      <vt:lpstr>Pre-trained Networks and Transfer Learning</vt:lpstr>
      <vt:lpstr>질문</vt:lpstr>
      <vt:lpstr>Transfer Learning</vt:lpstr>
      <vt:lpstr>Pre-Trained Models as Feature Extractors</vt:lpstr>
      <vt:lpstr>Pre-Trained Models as Feature Extractors (cont’d)</vt:lpstr>
      <vt:lpstr>실습: transfer learning</vt:lpstr>
      <vt:lpstr>Visualizing Adversarial Cat</vt:lpstr>
      <vt:lpstr>Visualizing Adversarial Cat</vt:lpstr>
      <vt:lpstr>Visualizing Adversarial Cat</vt:lpstr>
      <vt:lpstr>Visualizing Adversarial Cat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</dc:title>
  <dc:creator>백우진</dc:creator>
  <cp:lastModifiedBy>백우진</cp:lastModifiedBy>
  <cp:revision>31</cp:revision>
  <dcterms:created xsi:type="dcterms:W3CDTF">2024-04-09T10:12:03Z</dcterms:created>
  <dcterms:modified xsi:type="dcterms:W3CDTF">2024-04-28T04:26:49Z</dcterms:modified>
</cp:coreProperties>
</file>
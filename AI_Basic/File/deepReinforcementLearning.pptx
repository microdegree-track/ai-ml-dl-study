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8"/>
  </p:notesMasterIdLst>
  <p:sldIdLst>
    <p:sldId id="256" r:id="rId2"/>
    <p:sldId id="264" r:id="rId3"/>
    <p:sldId id="257" r:id="rId4"/>
    <p:sldId id="258" r:id="rId5"/>
    <p:sldId id="259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60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22"/>
    <p:restoredTop sz="94694"/>
  </p:normalViewPr>
  <p:slideViewPr>
    <p:cSldViewPr snapToGrid="0">
      <p:cViewPr>
        <p:scale>
          <a:sx n="127" d="100"/>
          <a:sy n="127" d="100"/>
        </p:scale>
        <p:origin x="144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3E41FA-4C82-4D4D-A350-B44A9DF19E6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6BB516-0A15-405A-9ABB-00772E3467D0}">
      <dgm:prSet/>
      <dgm:spPr/>
      <dgm:t>
        <a:bodyPr/>
        <a:lstStyle/>
        <a:p>
          <a:r>
            <a:rPr kumimoji="1" lang="ko-KR"/>
            <a:t>강화 학습</a:t>
          </a:r>
          <a:r>
            <a:rPr kumimoji="1" lang="en-US"/>
            <a:t>(RL)</a:t>
          </a:r>
          <a:r>
            <a:rPr kumimoji="1" lang="ko-KR"/>
            <a:t>은 지도 학습과 비지도 학습에 이어 기본적인 머신 러닝 패러다임 중 하나로 간주</a:t>
          </a:r>
          <a:endParaRPr lang="en-US"/>
        </a:p>
      </dgm:t>
    </dgm:pt>
    <dgm:pt modelId="{59F4BD87-806C-4619-BEAC-A47F6A488E6A}" type="parTrans" cxnId="{CE31DDFD-F9E6-4E17-B84B-1949BC52F1A9}">
      <dgm:prSet/>
      <dgm:spPr/>
      <dgm:t>
        <a:bodyPr/>
        <a:lstStyle/>
        <a:p>
          <a:endParaRPr lang="en-US"/>
        </a:p>
      </dgm:t>
    </dgm:pt>
    <dgm:pt modelId="{7C4AC500-F5CA-4654-9F98-0D5A551BA2AC}" type="sibTrans" cxnId="{CE31DDFD-F9E6-4E17-B84B-1949BC52F1A9}">
      <dgm:prSet/>
      <dgm:spPr/>
      <dgm:t>
        <a:bodyPr/>
        <a:lstStyle/>
        <a:p>
          <a:endParaRPr lang="en-US"/>
        </a:p>
      </dgm:t>
    </dgm:pt>
    <dgm:pt modelId="{7747C41C-B723-49AF-ABFA-2CA005926320}">
      <dgm:prSet/>
      <dgm:spPr/>
      <dgm:t>
        <a:bodyPr/>
        <a:lstStyle/>
        <a:p>
          <a:r>
            <a:rPr kumimoji="1" lang="ko-KR"/>
            <a:t>지도 학습에서는 결과가 알려진 데이터 세트에 의존하는 반면</a:t>
          </a:r>
          <a:r>
            <a:rPr kumimoji="1" lang="en-US"/>
            <a:t>, RL</a:t>
          </a:r>
          <a:r>
            <a:rPr kumimoji="1" lang="ko-KR"/>
            <a:t>은 수행을 통한 학습을 기반으로 함</a:t>
          </a:r>
          <a:endParaRPr lang="en-US"/>
        </a:p>
      </dgm:t>
    </dgm:pt>
    <dgm:pt modelId="{86566C7D-9343-467F-A3C3-A7F378F2F2BA}" type="parTrans" cxnId="{E73E00E2-0045-4077-AD39-68E0F1E1F3B8}">
      <dgm:prSet/>
      <dgm:spPr/>
      <dgm:t>
        <a:bodyPr/>
        <a:lstStyle/>
        <a:p>
          <a:endParaRPr lang="en-US"/>
        </a:p>
      </dgm:t>
    </dgm:pt>
    <dgm:pt modelId="{4FB816FB-A588-44AC-8E16-E1635DD29A97}" type="sibTrans" cxnId="{E73E00E2-0045-4077-AD39-68E0F1E1F3B8}">
      <dgm:prSet/>
      <dgm:spPr/>
      <dgm:t>
        <a:bodyPr/>
        <a:lstStyle/>
        <a:p>
          <a:endParaRPr lang="en-US"/>
        </a:p>
      </dgm:t>
    </dgm:pt>
    <dgm:pt modelId="{BE22DEBB-1275-449F-AC98-4485648DD4EC}">
      <dgm:prSet/>
      <dgm:spPr/>
      <dgm:t>
        <a:bodyPr/>
        <a:lstStyle/>
        <a:p>
          <a:r>
            <a:rPr kumimoji="1" lang="ko-KR"/>
            <a:t>예를 들어</a:t>
          </a:r>
          <a:r>
            <a:rPr kumimoji="1" lang="en-US"/>
            <a:t>, </a:t>
          </a:r>
          <a:r>
            <a:rPr kumimoji="1" lang="ko-KR"/>
            <a:t>컴퓨터 게임을 처음 접하면 규칙을 몰라도 게임을 시작하고</a:t>
          </a:r>
          <a:r>
            <a:rPr kumimoji="1" lang="en-US"/>
            <a:t>, </a:t>
          </a:r>
          <a:r>
            <a:rPr kumimoji="1" lang="ko-KR"/>
            <a:t>곧 게임을 플레이하고 행동을 조정하는 과정만으로도 실력을 향상시킬 수 있음</a:t>
          </a:r>
          <a:endParaRPr lang="en-US"/>
        </a:p>
      </dgm:t>
    </dgm:pt>
    <dgm:pt modelId="{5D395D3F-CCC8-4246-9488-8C8CD7428277}" type="parTrans" cxnId="{C924ADB0-3609-4367-B056-DF2E8D1D9831}">
      <dgm:prSet/>
      <dgm:spPr/>
      <dgm:t>
        <a:bodyPr/>
        <a:lstStyle/>
        <a:p>
          <a:endParaRPr lang="en-US"/>
        </a:p>
      </dgm:t>
    </dgm:pt>
    <dgm:pt modelId="{CCA6A1C7-DAE7-4607-96DE-8AF4E7D5E5A6}" type="sibTrans" cxnId="{C924ADB0-3609-4367-B056-DF2E8D1D9831}">
      <dgm:prSet/>
      <dgm:spPr/>
      <dgm:t>
        <a:bodyPr/>
        <a:lstStyle/>
        <a:p>
          <a:endParaRPr lang="en-US"/>
        </a:p>
      </dgm:t>
    </dgm:pt>
    <dgm:pt modelId="{4E2CF999-E7A4-5548-8D8E-BBC2A34FC574}" type="pres">
      <dgm:prSet presAssocID="{263E41FA-4C82-4D4D-A350-B44A9DF19E69}" presName="Name0" presStyleCnt="0">
        <dgm:presLayoutVars>
          <dgm:dir/>
          <dgm:animLvl val="lvl"/>
          <dgm:resizeHandles val="exact"/>
        </dgm:presLayoutVars>
      </dgm:prSet>
      <dgm:spPr/>
    </dgm:pt>
    <dgm:pt modelId="{80281368-FC19-124B-9098-33C1CC487D5B}" type="pres">
      <dgm:prSet presAssocID="{046BB516-0A15-405A-9ABB-00772E3467D0}" presName="composite" presStyleCnt="0"/>
      <dgm:spPr/>
    </dgm:pt>
    <dgm:pt modelId="{B4181EDB-910D-384F-ADA1-FF8032D0179F}" type="pres">
      <dgm:prSet presAssocID="{046BB516-0A15-405A-9ABB-00772E3467D0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D31B256-F302-5C46-A1C4-3B9CD56911D8}" type="pres">
      <dgm:prSet presAssocID="{046BB516-0A15-405A-9ABB-00772E3467D0}" presName="desTx" presStyleLbl="alignAccFollowNode1" presStyleIdx="0" presStyleCnt="2">
        <dgm:presLayoutVars>
          <dgm:bulletEnabled val="1"/>
        </dgm:presLayoutVars>
      </dgm:prSet>
      <dgm:spPr/>
    </dgm:pt>
    <dgm:pt modelId="{8EC1AC1C-CFE0-0F45-80C4-EDA9AC19A4D3}" type="pres">
      <dgm:prSet presAssocID="{7C4AC500-F5CA-4654-9F98-0D5A551BA2AC}" presName="space" presStyleCnt="0"/>
      <dgm:spPr/>
    </dgm:pt>
    <dgm:pt modelId="{313EEDEB-A16D-144E-8F23-0C09B3AFC8A1}" type="pres">
      <dgm:prSet presAssocID="{7747C41C-B723-49AF-ABFA-2CA005926320}" presName="composite" presStyleCnt="0"/>
      <dgm:spPr/>
    </dgm:pt>
    <dgm:pt modelId="{9C77F680-6428-6649-9CAB-9B49C7A37EDF}" type="pres">
      <dgm:prSet presAssocID="{7747C41C-B723-49AF-ABFA-2CA00592632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EE37F23C-E39F-B744-BA5C-AE5A4FECECEB}" type="pres">
      <dgm:prSet presAssocID="{7747C41C-B723-49AF-ABFA-2CA00592632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E9C4741-EE59-4F45-ABC0-61216DFAEC2C}" type="presOf" srcId="{BE22DEBB-1275-449F-AC98-4485648DD4EC}" destId="{EE37F23C-E39F-B744-BA5C-AE5A4FECECEB}" srcOrd="0" destOrd="0" presId="urn:microsoft.com/office/officeart/2005/8/layout/hList1"/>
    <dgm:cxn modelId="{5F4BBD5F-E232-984F-AD1A-068BEAA66ABF}" type="presOf" srcId="{046BB516-0A15-405A-9ABB-00772E3467D0}" destId="{B4181EDB-910D-384F-ADA1-FF8032D0179F}" srcOrd="0" destOrd="0" presId="urn:microsoft.com/office/officeart/2005/8/layout/hList1"/>
    <dgm:cxn modelId="{C924ADB0-3609-4367-B056-DF2E8D1D9831}" srcId="{7747C41C-B723-49AF-ABFA-2CA005926320}" destId="{BE22DEBB-1275-449F-AC98-4485648DD4EC}" srcOrd="0" destOrd="0" parTransId="{5D395D3F-CCC8-4246-9488-8C8CD7428277}" sibTransId="{CCA6A1C7-DAE7-4607-96DE-8AF4E7D5E5A6}"/>
    <dgm:cxn modelId="{7359A7C5-A633-6145-94C7-3A0144282003}" type="presOf" srcId="{263E41FA-4C82-4D4D-A350-B44A9DF19E69}" destId="{4E2CF999-E7A4-5548-8D8E-BBC2A34FC574}" srcOrd="0" destOrd="0" presId="urn:microsoft.com/office/officeart/2005/8/layout/hList1"/>
    <dgm:cxn modelId="{E73E00E2-0045-4077-AD39-68E0F1E1F3B8}" srcId="{263E41FA-4C82-4D4D-A350-B44A9DF19E69}" destId="{7747C41C-B723-49AF-ABFA-2CA005926320}" srcOrd="1" destOrd="0" parTransId="{86566C7D-9343-467F-A3C3-A7F378F2F2BA}" sibTransId="{4FB816FB-A588-44AC-8E16-E1635DD29A97}"/>
    <dgm:cxn modelId="{404259EA-86E5-BD4F-8B80-83AC09ABDFE6}" type="presOf" srcId="{7747C41C-B723-49AF-ABFA-2CA005926320}" destId="{9C77F680-6428-6649-9CAB-9B49C7A37EDF}" srcOrd="0" destOrd="0" presId="urn:microsoft.com/office/officeart/2005/8/layout/hList1"/>
    <dgm:cxn modelId="{CE31DDFD-F9E6-4E17-B84B-1949BC52F1A9}" srcId="{263E41FA-4C82-4D4D-A350-B44A9DF19E69}" destId="{046BB516-0A15-405A-9ABB-00772E3467D0}" srcOrd="0" destOrd="0" parTransId="{59F4BD87-806C-4619-BEAC-A47F6A488E6A}" sibTransId="{7C4AC500-F5CA-4654-9F98-0D5A551BA2AC}"/>
    <dgm:cxn modelId="{C146C8F3-3C89-D347-A839-B9E0C516751E}" type="presParOf" srcId="{4E2CF999-E7A4-5548-8D8E-BBC2A34FC574}" destId="{80281368-FC19-124B-9098-33C1CC487D5B}" srcOrd="0" destOrd="0" presId="urn:microsoft.com/office/officeart/2005/8/layout/hList1"/>
    <dgm:cxn modelId="{3EF5BD34-87EE-2F48-B36D-7DF9BD6EBAEB}" type="presParOf" srcId="{80281368-FC19-124B-9098-33C1CC487D5B}" destId="{B4181EDB-910D-384F-ADA1-FF8032D0179F}" srcOrd="0" destOrd="0" presId="urn:microsoft.com/office/officeart/2005/8/layout/hList1"/>
    <dgm:cxn modelId="{2C295720-AFF3-4546-B5C6-5245CAE5BC47}" type="presParOf" srcId="{80281368-FC19-124B-9098-33C1CC487D5B}" destId="{0D31B256-F302-5C46-A1C4-3B9CD56911D8}" srcOrd="1" destOrd="0" presId="urn:microsoft.com/office/officeart/2005/8/layout/hList1"/>
    <dgm:cxn modelId="{7E658521-8975-7040-9B8A-01E5794DC8FC}" type="presParOf" srcId="{4E2CF999-E7A4-5548-8D8E-BBC2A34FC574}" destId="{8EC1AC1C-CFE0-0F45-80C4-EDA9AC19A4D3}" srcOrd="1" destOrd="0" presId="urn:microsoft.com/office/officeart/2005/8/layout/hList1"/>
    <dgm:cxn modelId="{D2CFC3D3-FA4B-5E4D-BEF7-185C5C9EEEE4}" type="presParOf" srcId="{4E2CF999-E7A4-5548-8D8E-BBC2A34FC574}" destId="{313EEDEB-A16D-144E-8F23-0C09B3AFC8A1}" srcOrd="2" destOrd="0" presId="urn:microsoft.com/office/officeart/2005/8/layout/hList1"/>
    <dgm:cxn modelId="{0699DD30-9614-CA45-A522-D95DDB316026}" type="presParOf" srcId="{313EEDEB-A16D-144E-8F23-0C09B3AFC8A1}" destId="{9C77F680-6428-6649-9CAB-9B49C7A37EDF}" srcOrd="0" destOrd="0" presId="urn:microsoft.com/office/officeart/2005/8/layout/hList1"/>
    <dgm:cxn modelId="{FFE48463-70B2-6449-9766-D8A200594249}" type="presParOf" srcId="{313EEDEB-A16D-144E-8F23-0C09B3AFC8A1}" destId="{EE37F23C-E39F-B744-BA5C-AE5A4FECECE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87C1BE-671B-4F21-A8C4-C83CBC7C2F0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3FC03D1-98BC-4CC7-A2DB-ECCE738179D1}">
      <dgm:prSet/>
      <dgm:spPr/>
      <dgm:t>
        <a:bodyPr/>
        <a:lstStyle/>
        <a:p>
          <a:r>
            <a:rPr kumimoji="1" lang="ko-KR"/>
            <a:t>게임의 규칙을 설정하는 환경 또는 시뮬레이터</a:t>
          </a:r>
          <a:r>
            <a:rPr kumimoji="1" lang="en-US"/>
            <a:t>:</a:t>
          </a:r>
          <a:r>
            <a:rPr kumimoji="1" lang="ko-KR"/>
            <a:t> 시뮬레이터에서 실험을 실행하고 결과를 관찰할 수 있어야 함</a:t>
          </a:r>
          <a:endParaRPr lang="en-US"/>
        </a:p>
      </dgm:t>
    </dgm:pt>
    <dgm:pt modelId="{55111467-8C69-4C71-AD7C-0AB1B18808E0}" type="parTrans" cxnId="{99519CC5-B366-44CB-A9CD-E63A74055D4A}">
      <dgm:prSet/>
      <dgm:spPr/>
      <dgm:t>
        <a:bodyPr/>
        <a:lstStyle/>
        <a:p>
          <a:endParaRPr lang="en-US"/>
        </a:p>
      </dgm:t>
    </dgm:pt>
    <dgm:pt modelId="{62E87DA1-D330-4C13-9196-EBF69F18A0D8}" type="sibTrans" cxnId="{99519CC5-B366-44CB-A9CD-E63A74055D4A}">
      <dgm:prSet/>
      <dgm:spPr/>
      <dgm:t>
        <a:bodyPr/>
        <a:lstStyle/>
        <a:p>
          <a:endParaRPr lang="en-US"/>
        </a:p>
      </dgm:t>
    </dgm:pt>
    <dgm:pt modelId="{CA20DCAB-A1DB-4C4A-A4A7-5606F42B779E}">
      <dgm:prSet/>
      <dgm:spPr/>
      <dgm:t>
        <a:bodyPr/>
        <a:lstStyle/>
        <a:p>
          <a:r>
            <a:rPr kumimoji="1" lang="ko-KR"/>
            <a:t>실험이 얼마나 성공적이었는지를 나타내는 보상 기능</a:t>
          </a:r>
          <a:r>
            <a:rPr kumimoji="1" lang="en-US"/>
            <a:t>:</a:t>
          </a:r>
          <a:r>
            <a:rPr kumimoji="1" lang="ko-KR"/>
            <a:t> 컴퓨터 게임을 배우는 경우 보상은 최종 점수가 될 수 있음</a:t>
          </a:r>
          <a:endParaRPr lang="en-US"/>
        </a:p>
      </dgm:t>
    </dgm:pt>
    <dgm:pt modelId="{BE865986-B3C9-4844-AF07-165631D5F8DD}" type="parTrans" cxnId="{4784B5A6-5DC4-4B74-8115-10D51BDBBD46}">
      <dgm:prSet/>
      <dgm:spPr/>
      <dgm:t>
        <a:bodyPr/>
        <a:lstStyle/>
        <a:p>
          <a:endParaRPr lang="en-US"/>
        </a:p>
      </dgm:t>
    </dgm:pt>
    <dgm:pt modelId="{24D83B75-712F-4A7E-AC51-D3A02067695E}" type="sibTrans" cxnId="{4784B5A6-5DC4-4B74-8115-10D51BDBBD46}">
      <dgm:prSet/>
      <dgm:spPr/>
      <dgm:t>
        <a:bodyPr/>
        <a:lstStyle/>
        <a:p>
          <a:endParaRPr lang="en-US"/>
        </a:p>
      </dgm:t>
    </dgm:pt>
    <dgm:pt modelId="{AAED8435-65E1-BA4A-89DC-ED5094ABC207}" type="pres">
      <dgm:prSet presAssocID="{DA87C1BE-671B-4F21-A8C4-C83CBC7C2F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CFB2433-666A-4B42-9493-9EAD2F89F852}" type="pres">
      <dgm:prSet presAssocID="{A3FC03D1-98BC-4CC7-A2DB-ECCE738179D1}" presName="hierRoot1" presStyleCnt="0"/>
      <dgm:spPr/>
    </dgm:pt>
    <dgm:pt modelId="{6F3C98F5-D615-474B-82B9-2104505FF1C4}" type="pres">
      <dgm:prSet presAssocID="{A3FC03D1-98BC-4CC7-A2DB-ECCE738179D1}" presName="composite" presStyleCnt="0"/>
      <dgm:spPr/>
    </dgm:pt>
    <dgm:pt modelId="{89B43E2E-B344-6D44-8A48-2092DE0DA388}" type="pres">
      <dgm:prSet presAssocID="{A3FC03D1-98BC-4CC7-A2DB-ECCE738179D1}" presName="background" presStyleLbl="node0" presStyleIdx="0" presStyleCnt="2"/>
      <dgm:spPr/>
    </dgm:pt>
    <dgm:pt modelId="{1F384B34-F5F6-2F4E-9396-EB61F85D54DC}" type="pres">
      <dgm:prSet presAssocID="{A3FC03D1-98BC-4CC7-A2DB-ECCE738179D1}" presName="text" presStyleLbl="fgAcc0" presStyleIdx="0" presStyleCnt="2">
        <dgm:presLayoutVars>
          <dgm:chPref val="3"/>
        </dgm:presLayoutVars>
      </dgm:prSet>
      <dgm:spPr/>
    </dgm:pt>
    <dgm:pt modelId="{3871127C-71DB-8A4C-A1D9-3F2AE836CB9E}" type="pres">
      <dgm:prSet presAssocID="{A3FC03D1-98BC-4CC7-A2DB-ECCE738179D1}" presName="hierChild2" presStyleCnt="0"/>
      <dgm:spPr/>
    </dgm:pt>
    <dgm:pt modelId="{8BDEA459-873F-F044-9078-9B3FF5D554D0}" type="pres">
      <dgm:prSet presAssocID="{CA20DCAB-A1DB-4C4A-A4A7-5606F42B779E}" presName="hierRoot1" presStyleCnt="0"/>
      <dgm:spPr/>
    </dgm:pt>
    <dgm:pt modelId="{2AF9E90A-BF91-CB45-A1AE-C96590884CA6}" type="pres">
      <dgm:prSet presAssocID="{CA20DCAB-A1DB-4C4A-A4A7-5606F42B779E}" presName="composite" presStyleCnt="0"/>
      <dgm:spPr/>
    </dgm:pt>
    <dgm:pt modelId="{FC3D84F9-EB05-AA41-B85D-0E35824CF89C}" type="pres">
      <dgm:prSet presAssocID="{CA20DCAB-A1DB-4C4A-A4A7-5606F42B779E}" presName="background" presStyleLbl="node0" presStyleIdx="1" presStyleCnt="2"/>
      <dgm:spPr/>
    </dgm:pt>
    <dgm:pt modelId="{D627FDF8-2908-6E43-A0AB-55F149BD9120}" type="pres">
      <dgm:prSet presAssocID="{CA20DCAB-A1DB-4C4A-A4A7-5606F42B779E}" presName="text" presStyleLbl="fgAcc0" presStyleIdx="1" presStyleCnt="2">
        <dgm:presLayoutVars>
          <dgm:chPref val="3"/>
        </dgm:presLayoutVars>
      </dgm:prSet>
      <dgm:spPr/>
    </dgm:pt>
    <dgm:pt modelId="{1161662D-7CA5-B64A-9F3F-13CCC8E69B7A}" type="pres">
      <dgm:prSet presAssocID="{CA20DCAB-A1DB-4C4A-A4A7-5606F42B779E}" presName="hierChild2" presStyleCnt="0"/>
      <dgm:spPr/>
    </dgm:pt>
  </dgm:ptLst>
  <dgm:cxnLst>
    <dgm:cxn modelId="{93FCE366-7134-E74A-A95D-1708DF76FBA3}" type="presOf" srcId="{DA87C1BE-671B-4F21-A8C4-C83CBC7C2F0D}" destId="{AAED8435-65E1-BA4A-89DC-ED5094ABC207}" srcOrd="0" destOrd="0" presId="urn:microsoft.com/office/officeart/2005/8/layout/hierarchy1"/>
    <dgm:cxn modelId="{D0C57868-CB2A-0444-AB8B-0250D9ADC561}" type="presOf" srcId="{CA20DCAB-A1DB-4C4A-A4A7-5606F42B779E}" destId="{D627FDF8-2908-6E43-A0AB-55F149BD9120}" srcOrd="0" destOrd="0" presId="urn:microsoft.com/office/officeart/2005/8/layout/hierarchy1"/>
    <dgm:cxn modelId="{4784B5A6-5DC4-4B74-8115-10D51BDBBD46}" srcId="{DA87C1BE-671B-4F21-A8C4-C83CBC7C2F0D}" destId="{CA20DCAB-A1DB-4C4A-A4A7-5606F42B779E}" srcOrd="1" destOrd="0" parTransId="{BE865986-B3C9-4844-AF07-165631D5F8DD}" sibTransId="{24D83B75-712F-4A7E-AC51-D3A02067695E}"/>
    <dgm:cxn modelId="{4B5678C5-D780-984C-816A-A9E3FC33F45D}" type="presOf" srcId="{A3FC03D1-98BC-4CC7-A2DB-ECCE738179D1}" destId="{1F384B34-F5F6-2F4E-9396-EB61F85D54DC}" srcOrd="0" destOrd="0" presId="urn:microsoft.com/office/officeart/2005/8/layout/hierarchy1"/>
    <dgm:cxn modelId="{99519CC5-B366-44CB-A9CD-E63A74055D4A}" srcId="{DA87C1BE-671B-4F21-A8C4-C83CBC7C2F0D}" destId="{A3FC03D1-98BC-4CC7-A2DB-ECCE738179D1}" srcOrd="0" destOrd="0" parTransId="{55111467-8C69-4C71-AD7C-0AB1B18808E0}" sibTransId="{62E87DA1-D330-4C13-9196-EBF69F18A0D8}"/>
    <dgm:cxn modelId="{12DC5044-55F0-9B4C-B9B2-FBC0D808F208}" type="presParOf" srcId="{AAED8435-65E1-BA4A-89DC-ED5094ABC207}" destId="{3CFB2433-666A-4B42-9493-9EAD2F89F852}" srcOrd="0" destOrd="0" presId="urn:microsoft.com/office/officeart/2005/8/layout/hierarchy1"/>
    <dgm:cxn modelId="{4FAE4083-D845-F542-9666-8C3AE55E55F6}" type="presParOf" srcId="{3CFB2433-666A-4B42-9493-9EAD2F89F852}" destId="{6F3C98F5-D615-474B-82B9-2104505FF1C4}" srcOrd="0" destOrd="0" presId="urn:microsoft.com/office/officeart/2005/8/layout/hierarchy1"/>
    <dgm:cxn modelId="{491A3DE6-89DC-A141-B91D-AD205B5DD3FA}" type="presParOf" srcId="{6F3C98F5-D615-474B-82B9-2104505FF1C4}" destId="{89B43E2E-B344-6D44-8A48-2092DE0DA388}" srcOrd="0" destOrd="0" presId="urn:microsoft.com/office/officeart/2005/8/layout/hierarchy1"/>
    <dgm:cxn modelId="{0BA679A2-AABB-8842-AC54-6571E65B6904}" type="presParOf" srcId="{6F3C98F5-D615-474B-82B9-2104505FF1C4}" destId="{1F384B34-F5F6-2F4E-9396-EB61F85D54DC}" srcOrd="1" destOrd="0" presId="urn:microsoft.com/office/officeart/2005/8/layout/hierarchy1"/>
    <dgm:cxn modelId="{5BEBB8D2-19AE-0E41-A77F-EEC2DD60D4EF}" type="presParOf" srcId="{3CFB2433-666A-4B42-9493-9EAD2F89F852}" destId="{3871127C-71DB-8A4C-A1D9-3F2AE836CB9E}" srcOrd="1" destOrd="0" presId="urn:microsoft.com/office/officeart/2005/8/layout/hierarchy1"/>
    <dgm:cxn modelId="{692A9EB6-4307-F440-AE11-F92DD81B28FF}" type="presParOf" srcId="{AAED8435-65E1-BA4A-89DC-ED5094ABC207}" destId="{8BDEA459-873F-F044-9078-9B3FF5D554D0}" srcOrd="1" destOrd="0" presId="urn:microsoft.com/office/officeart/2005/8/layout/hierarchy1"/>
    <dgm:cxn modelId="{FCCD45DE-C348-1A4F-9590-32128E3E21BF}" type="presParOf" srcId="{8BDEA459-873F-F044-9078-9B3FF5D554D0}" destId="{2AF9E90A-BF91-CB45-A1AE-C96590884CA6}" srcOrd="0" destOrd="0" presId="urn:microsoft.com/office/officeart/2005/8/layout/hierarchy1"/>
    <dgm:cxn modelId="{A6901C10-B48C-2A46-B201-DA5446A97B1E}" type="presParOf" srcId="{2AF9E90A-BF91-CB45-A1AE-C96590884CA6}" destId="{FC3D84F9-EB05-AA41-B85D-0E35824CF89C}" srcOrd="0" destOrd="0" presId="urn:microsoft.com/office/officeart/2005/8/layout/hierarchy1"/>
    <dgm:cxn modelId="{8BE9FFA8-39F1-FF43-8BD5-596D7A26CD2B}" type="presParOf" srcId="{2AF9E90A-BF91-CB45-A1AE-C96590884CA6}" destId="{D627FDF8-2908-6E43-A0AB-55F149BD9120}" srcOrd="1" destOrd="0" presId="urn:microsoft.com/office/officeart/2005/8/layout/hierarchy1"/>
    <dgm:cxn modelId="{054F3914-9188-594E-AD67-614EDE95D397}" type="presParOf" srcId="{8BDEA459-873F-F044-9078-9B3FF5D554D0}" destId="{1161662D-7CA5-B64A-9F3F-13CCC8E69B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C54A22-C886-402B-8EF5-09E827C8A05A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88FCD3-CB1F-47E8-8F94-3B76702C1EA8}">
      <dgm:prSet/>
      <dgm:spPr/>
      <dgm:t>
        <a:bodyPr/>
        <a:lstStyle/>
        <a:p>
          <a:r>
            <a:rPr kumimoji="1" lang="ko-KR"/>
            <a:t>주어진 상태에 대한 응답으로 액션을 반환하는 모델</a:t>
          </a:r>
          <a:r>
            <a:rPr kumimoji="1" lang="en-US"/>
            <a:t>(</a:t>
          </a:r>
          <a:r>
            <a:rPr kumimoji="1" lang="ko-KR"/>
            <a:t>정책 </a:t>
          </a:r>
          <a:r>
            <a:rPr kumimoji="1" lang="el-GR"/>
            <a:t>π)</a:t>
          </a:r>
          <a:r>
            <a:rPr kumimoji="1" lang="ko-KR"/>
            <a:t>을 훈련하는 것</a:t>
          </a:r>
          <a:endParaRPr lang="en-US"/>
        </a:p>
      </dgm:t>
    </dgm:pt>
    <dgm:pt modelId="{A8B009B5-159F-4721-A03E-D838C76D54DA}" type="parTrans" cxnId="{58062507-408E-4E27-8629-32CC418A0C1D}">
      <dgm:prSet/>
      <dgm:spPr/>
      <dgm:t>
        <a:bodyPr/>
        <a:lstStyle/>
        <a:p>
          <a:endParaRPr lang="en-US"/>
        </a:p>
      </dgm:t>
    </dgm:pt>
    <dgm:pt modelId="{D79B83B0-0523-450D-A651-40862B482947}" type="sibTrans" cxnId="{58062507-408E-4E27-8629-32CC418A0C1D}">
      <dgm:prSet/>
      <dgm:spPr/>
      <dgm:t>
        <a:bodyPr/>
        <a:lstStyle/>
        <a:p>
          <a:endParaRPr lang="en-US"/>
        </a:p>
      </dgm:t>
    </dgm:pt>
    <dgm:pt modelId="{AD41B37E-4A0D-4019-BB62-337DB424B5ED}">
      <dgm:prSet/>
      <dgm:spPr/>
      <dgm:t>
        <a:bodyPr/>
        <a:lstStyle/>
        <a:p>
          <a:r>
            <a:rPr kumimoji="1" lang="ko-KR"/>
            <a:t>또한 정책을 확률적이라고 간주할 수도 있음</a:t>
          </a:r>
          <a:endParaRPr lang="en-US"/>
        </a:p>
      </dgm:t>
    </dgm:pt>
    <dgm:pt modelId="{23702B6D-F273-4D8C-955A-AF604DE30036}" type="parTrans" cxnId="{CF44F7B9-8CF2-4CCC-84A2-F67E6B2D269A}">
      <dgm:prSet/>
      <dgm:spPr/>
      <dgm:t>
        <a:bodyPr/>
        <a:lstStyle/>
        <a:p>
          <a:endParaRPr lang="en-US"/>
        </a:p>
      </dgm:t>
    </dgm:pt>
    <dgm:pt modelId="{E0115FB4-239A-4AA0-8D02-A5CA64BDC79D}" type="sibTrans" cxnId="{CF44F7B9-8CF2-4CCC-84A2-F67E6B2D269A}">
      <dgm:prSet/>
      <dgm:spPr/>
      <dgm:t>
        <a:bodyPr/>
        <a:lstStyle/>
        <a:p>
          <a:endParaRPr lang="en-US"/>
        </a:p>
      </dgm:t>
    </dgm:pt>
    <dgm:pt modelId="{E2C37303-97EC-4AF3-9BF5-CDAF1E8B1304}">
      <dgm:prSet/>
      <dgm:spPr/>
      <dgm:t>
        <a:bodyPr/>
        <a:lstStyle/>
        <a:p>
          <a:r>
            <a:rPr kumimoji="1" lang="ko-KR"/>
            <a:t>예를 들어 어떤 상태 </a:t>
          </a:r>
          <a:r>
            <a:rPr kumimoji="1" lang="en-US"/>
            <a:t>s</a:t>
          </a:r>
          <a:r>
            <a:rPr kumimoji="1" lang="ko-KR"/>
            <a:t>와 액션 </a:t>
          </a:r>
          <a:r>
            <a:rPr kumimoji="1" lang="en-US"/>
            <a:t>a</a:t>
          </a:r>
          <a:r>
            <a:rPr kumimoji="1" lang="ko-KR"/>
            <a:t>에 대해 상태 </a:t>
          </a:r>
          <a:r>
            <a:rPr kumimoji="1" lang="en-US"/>
            <a:t>s</a:t>
          </a:r>
          <a:r>
            <a:rPr kumimoji="1" lang="ko-KR"/>
            <a:t>에서 </a:t>
          </a:r>
          <a:r>
            <a:rPr kumimoji="1" lang="en-US"/>
            <a:t>a</a:t>
          </a:r>
          <a:r>
            <a:rPr kumimoji="1" lang="ko-KR"/>
            <a:t>를 취해야 할 확률 </a:t>
          </a:r>
          <a:r>
            <a:rPr kumimoji="1" lang="el-GR"/>
            <a:t>π(</a:t>
          </a:r>
          <a:r>
            <a:rPr kumimoji="1" lang="en-US"/>
            <a:t>a|s)</a:t>
          </a:r>
          <a:r>
            <a:rPr kumimoji="1" lang="ko-KR"/>
            <a:t>를 반환</a:t>
          </a:r>
          <a:endParaRPr lang="en-US"/>
        </a:p>
      </dgm:t>
    </dgm:pt>
    <dgm:pt modelId="{4A6A5E44-E578-4242-A024-5D4AE01C4B20}" type="parTrans" cxnId="{2F2705D2-D9B2-4AB8-A606-AC993A359B10}">
      <dgm:prSet/>
      <dgm:spPr/>
      <dgm:t>
        <a:bodyPr/>
        <a:lstStyle/>
        <a:p>
          <a:endParaRPr lang="en-US"/>
        </a:p>
      </dgm:t>
    </dgm:pt>
    <dgm:pt modelId="{36CD86E3-3A47-4F6B-ADE4-2E671B7D6C77}" type="sibTrans" cxnId="{2F2705D2-D9B2-4AB8-A606-AC993A359B10}">
      <dgm:prSet/>
      <dgm:spPr/>
      <dgm:t>
        <a:bodyPr/>
        <a:lstStyle/>
        <a:p>
          <a:endParaRPr lang="en-US"/>
        </a:p>
      </dgm:t>
    </dgm:pt>
    <dgm:pt modelId="{CB09A8B1-3349-FB46-BE5A-D216A01B2C43}" type="pres">
      <dgm:prSet presAssocID="{E1C54A22-C886-402B-8EF5-09E827C8A05A}" presName="linear" presStyleCnt="0">
        <dgm:presLayoutVars>
          <dgm:animLvl val="lvl"/>
          <dgm:resizeHandles val="exact"/>
        </dgm:presLayoutVars>
      </dgm:prSet>
      <dgm:spPr/>
    </dgm:pt>
    <dgm:pt modelId="{1B112F9B-32BC-824B-93D1-EEBE1A4EB1F0}" type="pres">
      <dgm:prSet presAssocID="{3788FCD3-CB1F-47E8-8F94-3B76702C1E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94F3193-9D73-EC4E-A6F2-E7607A4D4415}" type="pres">
      <dgm:prSet presAssocID="{D79B83B0-0523-450D-A651-40862B482947}" presName="spacer" presStyleCnt="0"/>
      <dgm:spPr/>
    </dgm:pt>
    <dgm:pt modelId="{E84C7511-B3A4-EA44-89F1-16ED17C0FEB0}" type="pres">
      <dgm:prSet presAssocID="{AD41B37E-4A0D-4019-BB62-337DB424B5E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F7AD7B8-C0CC-1741-BBF1-155BB0DE1C2B}" type="pres">
      <dgm:prSet presAssocID="{AD41B37E-4A0D-4019-BB62-337DB424B5E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8062507-408E-4E27-8629-32CC418A0C1D}" srcId="{E1C54A22-C886-402B-8EF5-09E827C8A05A}" destId="{3788FCD3-CB1F-47E8-8F94-3B76702C1EA8}" srcOrd="0" destOrd="0" parTransId="{A8B009B5-159F-4721-A03E-D838C76D54DA}" sibTransId="{D79B83B0-0523-450D-A651-40862B482947}"/>
    <dgm:cxn modelId="{3472CF52-3264-234D-81A2-E7A89BE2C09E}" type="presOf" srcId="{E2C37303-97EC-4AF3-9BF5-CDAF1E8B1304}" destId="{AF7AD7B8-C0CC-1741-BBF1-155BB0DE1C2B}" srcOrd="0" destOrd="0" presId="urn:microsoft.com/office/officeart/2005/8/layout/vList2"/>
    <dgm:cxn modelId="{AE74AF5C-769D-4C4A-A522-1249871FBAC4}" type="presOf" srcId="{E1C54A22-C886-402B-8EF5-09E827C8A05A}" destId="{CB09A8B1-3349-FB46-BE5A-D216A01B2C43}" srcOrd="0" destOrd="0" presId="urn:microsoft.com/office/officeart/2005/8/layout/vList2"/>
    <dgm:cxn modelId="{7137046A-F55A-C943-A945-D3A54EFD4362}" type="presOf" srcId="{3788FCD3-CB1F-47E8-8F94-3B76702C1EA8}" destId="{1B112F9B-32BC-824B-93D1-EEBE1A4EB1F0}" srcOrd="0" destOrd="0" presId="urn:microsoft.com/office/officeart/2005/8/layout/vList2"/>
    <dgm:cxn modelId="{CF44F7B9-8CF2-4CCC-84A2-F67E6B2D269A}" srcId="{E1C54A22-C886-402B-8EF5-09E827C8A05A}" destId="{AD41B37E-4A0D-4019-BB62-337DB424B5ED}" srcOrd="1" destOrd="0" parTransId="{23702B6D-F273-4D8C-955A-AF604DE30036}" sibTransId="{E0115FB4-239A-4AA0-8D02-A5CA64BDC79D}"/>
    <dgm:cxn modelId="{2F2705D2-D9B2-4AB8-A606-AC993A359B10}" srcId="{AD41B37E-4A0D-4019-BB62-337DB424B5ED}" destId="{E2C37303-97EC-4AF3-9BF5-CDAF1E8B1304}" srcOrd="0" destOrd="0" parTransId="{4A6A5E44-E578-4242-A024-5D4AE01C4B20}" sibTransId="{36CD86E3-3A47-4F6B-ADE4-2E671B7D6C77}"/>
    <dgm:cxn modelId="{C44055F5-6B60-C048-A2BC-D1DC26B0FEA7}" type="presOf" srcId="{AD41B37E-4A0D-4019-BB62-337DB424B5ED}" destId="{E84C7511-B3A4-EA44-89F1-16ED17C0FEB0}" srcOrd="0" destOrd="0" presId="urn:microsoft.com/office/officeart/2005/8/layout/vList2"/>
    <dgm:cxn modelId="{A6C3D3C8-3C38-A141-8491-B1F4DA255900}" type="presParOf" srcId="{CB09A8B1-3349-FB46-BE5A-D216A01B2C43}" destId="{1B112F9B-32BC-824B-93D1-EEBE1A4EB1F0}" srcOrd="0" destOrd="0" presId="urn:microsoft.com/office/officeart/2005/8/layout/vList2"/>
    <dgm:cxn modelId="{F4B826E7-04F7-3A43-BCE8-E9CCC0E20EDC}" type="presParOf" srcId="{CB09A8B1-3349-FB46-BE5A-D216A01B2C43}" destId="{A94F3193-9D73-EC4E-A6F2-E7607A4D4415}" srcOrd="1" destOrd="0" presId="urn:microsoft.com/office/officeart/2005/8/layout/vList2"/>
    <dgm:cxn modelId="{29AC7D60-178B-CB45-A2B8-DB2178C6EE3C}" type="presParOf" srcId="{CB09A8B1-3349-FB46-BE5A-D216A01B2C43}" destId="{E84C7511-B3A4-EA44-89F1-16ED17C0FEB0}" srcOrd="2" destOrd="0" presId="urn:microsoft.com/office/officeart/2005/8/layout/vList2"/>
    <dgm:cxn modelId="{F7428FB0-9192-E84C-A2AA-6B57D944814A}" type="presParOf" srcId="{CB09A8B1-3349-FB46-BE5A-D216A01B2C43}" destId="{AF7AD7B8-C0CC-1741-BBF1-155BB0DE1C2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79D74A8-246E-43CF-9173-A7E8319E232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3586F9-EEFA-4A39-9061-599362F8EB68}">
      <dgm:prSet/>
      <dgm:spPr/>
      <dgm:t>
        <a:bodyPr/>
        <a:lstStyle/>
        <a:p>
          <a:r>
            <a:rPr kumimoji="1" lang="ko-KR"/>
            <a:t>세그웨이나 자이로스쿠터와 같은 최신 밸런싱 장치는 가속도계나 자이로스코프의 신호에 따라 바퀴를 조정하여 자동으로 균형을 잡을 수 있음</a:t>
          </a:r>
          <a:endParaRPr lang="en-US"/>
        </a:p>
      </dgm:t>
    </dgm:pt>
    <dgm:pt modelId="{6B237845-6298-47D9-BCF4-8B1B670439A1}" type="parTrans" cxnId="{40B9BE6A-6C02-4893-AEDC-5D8265C0258E}">
      <dgm:prSet/>
      <dgm:spPr/>
      <dgm:t>
        <a:bodyPr/>
        <a:lstStyle/>
        <a:p>
          <a:endParaRPr lang="en-US"/>
        </a:p>
      </dgm:t>
    </dgm:pt>
    <dgm:pt modelId="{9967B89C-F6C6-4644-B9EC-ED344E0F02CA}" type="sibTrans" cxnId="{40B9BE6A-6C02-4893-AEDC-5D8265C0258E}">
      <dgm:prSet/>
      <dgm:spPr/>
      <dgm:t>
        <a:bodyPr/>
        <a:lstStyle/>
        <a:p>
          <a:endParaRPr lang="en-US"/>
        </a:p>
      </dgm:t>
    </dgm:pt>
    <dgm:pt modelId="{009D4195-6D51-4A23-9757-F7891A7D932B}">
      <dgm:prSet/>
      <dgm:spPr/>
      <dgm:t>
        <a:bodyPr/>
        <a:lstStyle/>
        <a:p>
          <a:r>
            <a:rPr kumimoji="1" lang="ko-KR"/>
            <a:t>비슷한 문제인 기둥의 균형을 잡는 방법을 학습</a:t>
          </a:r>
          <a:endParaRPr lang="en-US"/>
        </a:p>
      </dgm:t>
    </dgm:pt>
    <dgm:pt modelId="{C0975C0B-ED81-495F-978B-885C594DF16F}" type="parTrans" cxnId="{C350D667-0307-4E03-A611-6D25158BDA63}">
      <dgm:prSet/>
      <dgm:spPr/>
      <dgm:t>
        <a:bodyPr/>
        <a:lstStyle/>
        <a:p>
          <a:endParaRPr lang="en-US"/>
        </a:p>
      </dgm:t>
    </dgm:pt>
    <dgm:pt modelId="{18A665A5-093A-4112-ACEC-40901A91249C}" type="sibTrans" cxnId="{C350D667-0307-4E03-A611-6D25158BDA63}">
      <dgm:prSet/>
      <dgm:spPr/>
      <dgm:t>
        <a:bodyPr/>
        <a:lstStyle/>
        <a:p>
          <a:endParaRPr lang="en-US"/>
        </a:p>
      </dgm:t>
    </dgm:pt>
    <dgm:pt modelId="{706998FA-F883-4A4F-9746-A6485254DC30}">
      <dgm:prSet/>
      <dgm:spPr/>
      <dgm:t>
        <a:bodyPr/>
        <a:lstStyle/>
        <a:p>
          <a:r>
            <a:rPr kumimoji="1" lang="ko-KR"/>
            <a:t>서커스 공연자가 손에 장대를 들고 균형을 잡아야 하는 상황과 비슷하지만</a:t>
          </a:r>
          <a:r>
            <a:rPr kumimoji="1" lang="en-US"/>
            <a:t>, </a:t>
          </a:r>
          <a:r>
            <a:rPr kumimoji="1" lang="ko-KR"/>
            <a:t>이 장대 균형 잡기는 </a:t>
          </a:r>
          <a:r>
            <a:rPr kumimoji="1" lang="en-US"/>
            <a:t>1</a:t>
          </a:r>
          <a:r>
            <a:rPr kumimoji="1" lang="ko-KR"/>
            <a:t>차원에서만 발생</a:t>
          </a:r>
          <a:endParaRPr lang="en-US"/>
        </a:p>
      </dgm:t>
    </dgm:pt>
    <dgm:pt modelId="{821BB24D-2DCA-4117-9098-9328162828B7}" type="parTrans" cxnId="{5CE467BC-604C-46EC-886D-D940EA9ED545}">
      <dgm:prSet/>
      <dgm:spPr/>
      <dgm:t>
        <a:bodyPr/>
        <a:lstStyle/>
        <a:p>
          <a:endParaRPr lang="en-US"/>
        </a:p>
      </dgm:t>
    </dgm:pt>
    <dgm:pt modelId="{9B495447-5241-4703-9A7E-7A3A016F0862}" type="sibTrans" cxnId="{5CE467BC-604C-46EC-886D-D940EA9ED545}">
      <dgm:prSet/>
      <dgm:spPr/>
      <dgm:t>
        <a:bodyPr/>
        <a:lstStyle/>
        <a:p>
          <a:endParaRPr lang="en-US"/>
        </a:p>
      </dgm:t>
    </dgm:pt>
    <dgm:pt modelId="{A29D5CB1-26AE-3843-820D-EE12CB760396}" type="pres">
      <dgm:prSet presAssocID="{E79D74A8-246E-43CF-9173-A7E8319E232F}" presName="Name0" presStyleCnt="0">
        <dgm:presLayoutVars>
          <dgm:dir/>
          <dgm:animLvl val="lvl"/>
          <dgm:resizeHandles val="exact"/>
        </dgm:presLayoutVars>
      </dgm:prSet>
      <dgm:spPr/>
    </dgm:pt>
    <dgm:pt modelId="{341F230C-5B98-5C41-9282-CDED89283D4D}" type="pres">
      <dgm:prSet presAssocID="{163586F9-EEFA-4A39-9061-599362F8EB68}" presName="composite" presStyleCnt="0"/>
      <dgm:spPr/>
    </dgm:pt>
    <dgm:pt modelId="{AF239F73-6C16-1E43-BB58-84D735110854}" type="pres">
      <dgm:prSet presAssocID="{163586F9-EEFA-4A39-9061-599362F8EB6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8D7FB2E6-195E-794A-9F47-880B01E6F13A}" type="pres">
      <dgm:prSet presAssocID="{163586F9-EEFA-4A39-9061-599362F8EB68}" presName="desTx" presStyleLbl="alignAccFollowNode1" presStyleIdx="0" presStyleCnt="2">
        <dgm:presLayoutVars>
          <dgm:bulletEnabled val="1"/>
        </dgm:presLayoutVars>
      </dgm:prSet>
      <dgm:spPr/>
    </dgm:pt>
    <dgm:pt modelId="{496F8ED8-D84A-EA4D-9EB9-4C712F996640}" type="pres">
      <dgm:prSet presAssocID="{9967B89C-F6C6-4644-B9EC-ED344E0F02CA}" presName="space" presStyleCnt="0"/>
      <dgm:spPr/>
    </dgm:pt>
    <dgm:pt modelId="{E5BF4894-756D-A644-9EA8-10539BE9DCA0}" type="pres">
      <dgm:prSet presAssocID="{009D4195-6D51-4A23-9757-F7891A7D932B}" presName="composite" presStyleCnt="0"/>
      <dgm:spPr/>
    </dgm:pt>
    <dgm:pt modelId="{C95C6F66-DD6E-404F-810F-15C68D7C6D37}" type="pres">
      <dgm:prSet presAssocID="{009D4195-6D51-4A23-9757-F7891A7D932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E8D8AF6-7DEC-874E-AB45-0D376C2D18F1}" type="pres">
      <dgm:prSet presAssocID="{009D4195-6D51-4A23-9757-F7891A7D932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458513C-5A95-D04F-9FCB-777C73C1C8B0}" type="presOf" srcId="{E79D74A8-246E-43CF-9173-A7E8319E232F}" destId="{A29D5CB1-26AE-3843-820D-EE12CB760396}" srcOrd="0" destOrd="0" presId="urn:microsoft.com/office/officeart/2005/8/layout/hList1"/>
    <dgm:cxn modelId="{C350D667-0307-4E03-A611-6D25158BDA63}" srcId="{E79D74A8-246E-43CF-9173-A7E8319E232F}" destId="{009D4195-6D51-4A23-9757-F7891A7D932B}" srcOrd="1" destOrd="0" parTransId="{C0975C0B-ED81-495F-978B-885C594DF16F}" sibTransId="{18A665A5-093A-4112-ACEC-40901A91249C}"/>
    <dgm:cxn modelId="{40B9BE6A-6C02-4893-AEDC-5D8265C0258E}" srcId="{E79D74A8-246E-43CF-9173-A7E8319E232F}" destId="{163586F9-EEFA-4A39-9061-599362F8EB68}" srcOrd="0" destOrd="0" parTransId="{6B237845-6298-47D9-BCF4-8B1B670439A1}" sibTransId="{9967B89C-F6C6-4644-B9EC-ED344E0F02CA}"/>
    <dgm:cxn modelId="{1A8EB79C-7B6D-0248-A698-746A7D7DD6C2}" type="presOf" srcId="{009D4195-6D51-4A23-9757-F7891A7D932B}" destId="{C95C6F66-DD6E-404F-810F-15C68D7C6D37}" srcOrd="0" destOrd="0" presId="urn:microsoft.com/office/officeart/2005/8/layout/hList1"/>
    <dgm:cxn modelId="{5CE467BC-604C-46EC-886D-D940EA9ED545}" srcId="{009D4195-6D51-4A23-9757-F7891A7D932B}" destId="{706998FA-F883-4A4F-9746-A6485254DC30}" srcOrd="0" destOrd="0" parTransId="{821BB24D-2DCA-4117-9098-9328162828B7}" sibTransId="{9B495447-5241-4703-9A7E-7A3A016F0862}"/>
    <dgm:cxn modelId="{981599D5-DCC1-6F47-AD23-91F275F64671}" type="presOf" srcId="{706998FA-F883-4A4F-9746-A6485254DC30}" destId="{2E8D8AF6-7DEC-874E-AB45-0D376C2D18F1}" srcOrd="0" destOrd="0" presId="urn:microsoft.com/office/officeart/2005/8/layout/hList1"/>
    <dgm:cxn modelId="{2FF701FB-60F9-D243-BD97-FCEDC05763CF}" type="presOf" srcId="{163586F9-EEFA-4A39-9061-599362F8EB68}" destId="{AF239F73-6C16-1E43-BB58-84D735110854}" srcOrd="0" destOrd="0" presId="urn:microsoft.com/office/officeart/2005/8/layout/hList1"/>
    <dgm:cxn modelId="{FD7D1F6E-657A-6A41-9A9C-49C40E91F651}" type="presParOf" srcId="{A29D5CB1-26AE-3843-820D-EE12CB760396}" destId="{341F230C-5B98-5C41-9282-CDED89283D4D}" srcOrd="0" destOrd="0" presId="urn:microsoft.com/office/officeart/2005/8/layout/hList1"/>
    <dgm:cxn modelId="{647BACEF-D159-174A-BBD5-34F1525826C4}" type="presParOf" srcId="{341F230C-5B98-5C41-9282-CDED89283D4D}" destId="{AF239F73-6C16-1E43-BB58-84D735110854}" srcOrd="0" destOrd="0" presId="urn:microsoft.com/office/officeart/2005/8/layout/hList1"/>
    <dgm:cxn modelId="{93BF23C2-0ABE-074A-9B05-21D6AFD1FCDF}" type="presParOf" srcId="{341F230C-5B98-5C41-9282-CDED89283D4D}" destId="{8D7FB2E6-195E-794A-9F47-880B01E6F13A}" srcOrd="1" destOrd="0" presId="urn:microsoft.com/office/officeart/2005/8/layout/hList1"/>
    <dgm:cxn modelId="{B6B77348-10F9-8C47-84DB-C6539550107D}" type="presParOf" srcId="{A29D5CB1-26AE-3843-820D-EE12CB760396}" destId="{496F8ED8-D84A-EA4D-9EB9-4C712F996640}" srcOrd="1" destOrd="0" presId="urn:microsoft.com/office/officeart/2005/8/layout/hList1"/>
    <dgm:cxn modelId="{3A428D6C-B0CB-0643-B48A-DF4B8EF3C661}" type="presParOf" srcId="{A29D5CB1-26AE-3843-820D-EE12CB760396}" destId="{E5BF4894-756D-A644-9EA8-10539BE9DCA0}" srcOrd="2" destOrd="0" presId="urn:microsoft.com/office/officeart/2005/8/layout/hList1"/>
    <dgm:cxn modelId="{2BD88B0C-9EFF-9145-B405-90DB71258CA4}" type="presParOf" srcId="{E5BF4894-756D-A644-9EA8-10539BE9DCA0}" destId="{C95C6F66-DD6E-404F-810F-15C68D7C6D37}" srcOrd="0" destOrd="0" presId="urn:microsoft.com/office/officeart/2005/8/layout/hList1"/>
    <dgm:cxn modelId="{94859E29-A62E-7443-9552-66F8A4852944}" type="presParOf" srcId="{E5BF4894-756D-A644-9EA8-10539BE9DCA0}" destId="{2E8D8AF6-7DEC-874E-AB45-0D376C2D18F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81EDB-910D-384F-ADA1-FF8032D0179F}">
      <dsp:nvSpPr>
        <dsp:cNvPr id="0" name=""/>
        <dsp:cNvSpPr/>
      </dsp:nvSpPr>
      <dsp:spPr>
        <a:xfrm>
          <a:off x="52" y="170769"/>
          <a:ext cx="5060997" cy="1390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000" kern="1200"/>
            <a:t>강화 학습</a:t>
          </a:r>
          <a:r>
            <a:rPr kumimoji="1" lang="en-US" sz="2000" kern="1200"/>
            <a:t>(RL)</a:t>
          </a:r>
          <a:r>
            <a:rPr kumimoji="1" lang="ko-KR" sz="2000" kern="1200"/>
            <a:t>은 지도 학습과 비지도 학습에 이어 기본적인 머신 러닝 패러다임 중 하나로 간주</a:t>
          </a:r>
          <a:endParaRPr lang="en-US" sz="2000" kern="1200"/>
        </a:p>
      </dsp:txBody>
      <dsp:txXfrm>
        <a:off x="52" y="170769"/>
        <a:ext cx="5060997" cy="1390724"/>
      </dsp:txXfrm>
    </dsp:sp>
    <dsp:sp modelId="{0D31B256-F302-5C46-A1C4-3B9CD56911D8}">
      <dsp:nvSpPr>
        <dsp:cNvPr id="0" name=""/>
        <dsp:cNvSpPr/>
      </dsp:nvSpPr>
      <dsp:spPr>
        <a:xfrm>
          <a:off x="52" y="1561493"/>
          <a:ext cx="5060997" cy="1866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7F680-6428-6649-9CAB-9B49C7A37EDF}">
      <dsp:nvSpPr>
        <dsp:cNvPr id="0" name=""/>
        <dsp:cNvSpPr/>
      </dsp:nvSpPr>
      <dsp:spPr>
        <a:xfrm>
          <a:off x="5769590" y="170769"/>
          <a:ext cx="5060997" cy="1390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000" kern="1200"/>
            <a:t>지도 학습에서는 결과가 알려진 데이터 세트에 의존하는 반면</a:t>
          </a:r>
          <a:r>
            <a:rPr kumimoji="1" lang="en-US" sz="2000" kern="1200"/>
            <a:t>, RL</a:t>
          </a:r>
          <a:r>
            <a:rPr kumimoji="1" lang="ko-KR" sz="2000" kern="1200"/>
            <a:t>은 수행을 통한 학습을 기반으로 함</a:t>
          </a:r>
          <a:endParaRPr lang="en-US" sz="2000" kern="1200"/>
        </a:p>
      </dsp:txBody>
      <dsp:txXfrm>
        <a:off x="5769590" y="170769"/>
        <a:ext cx="5060997" cy="1390724"/>
      </dsp:txXfrm>
    </dsp:sp>
    <dsp:sp modelId="{EE37F23C-E39F-B744-BA5C-AE5A4FECECEB}">
      <dsp:nvSpPr>
        <dsp:cNvPr id="0" name=""/>
        <dsp:cNvSpPr/>
      </dsp:nvSpPr>
      <dsp:spPr>
        <a:xfrm>
          <a:off x="5769590" y="1561493"/>
          <a:ext cx="5060997" cy="18665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000" kern="1200"/>
            <a:t>예를 들어</a:t>
          </a:r>
          <a:r>
            <a:rPr kumimoji="1" lang="en-US" sz="2000" kern="1200"/>
            <a:t>, </a:t>
          </a:r>
          <a:r>
            <a:rPr kumimoji="1" lang="ko-KR" sz="2000" kern="1200"/>
            <a:t>컴퓨터 게임을 처음 접하면 규칙을 몰라도 게임을 시작하고</a:t>
          </a:r>
          <a:r>
            <a:rPr kumimoji="1" lang="en-US" sz="2000" kern="1200"/>
            <a:t>, </a:t>
          </a:r>
          <a:r>
            <a:rPr kumimoji="1" lang="ko-KR" sz="2000" kern="1200"/>
            <a:t>곧 게임을 플레이하고 행동을 조정하는 과정만으로도 실력을 향상시킬 수 있음</a:t>
          </a:r>
          <a:endParaRPr lang="en-US" sz="2000" kern="1200"/>
        </a:p>
      </dsp:txBody>
      <dsp:txXfrm>
        <a:off x="5769590" y="1561493"/>
        <a:ext cx="5060997" cy="1866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43E2E-B344-6D44-8A48-2092DE0DA388}">
      <dsp:nvSpPr>
        <dsp:cNvPr id="0" name=""/>
        <dsp:cNvSpPr/>
      </dsp:nvSpPr>
      <dsp:spPr>
        <a:xfrm>
          <a:off x="1322" y="81131"/>
          <a:ext cx="4640570" cy="2946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84B34-F5F6-2F4E-9396-EB61F85D54DC}">
      <dsp:nvSpPr>
        <dsp:cNvPr id="0" name=""/>
        <dsp:cNvSpPr/>
      </dsp:nvSpPr>
      <dsp:spPr>
        <a:xfrm>
          <a:off x="516940" y="570969"/>
          <a:ext cx="4640570" cy="2946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500" kern="1200"/>
            <a:t>게임의 규칙을 설정하는 환경 또는 시뮬레이터</a:t>
          </a:r>
          <a:r>
            <a:rPr kumimoji="1" lang="en-US" sz="2500" kern="1200"/>
            <a:t>:</a:t>
          </a:r>
          <a:r>
            <a:rPr kumimoji="1" lang="ko-KR" sz="2500" kern="1200"/>
            <a:t> 시뮬레이터에서 실험을 실행하고 결과를 관찰할 수 있어야 함</a:t>
          </a:r>
          <a:endParaRPr lang="en-US" sz="2500" kern="1200"/>
        </a:p>
      </dsp:txBody>
      <dsp:txXfrm>
        <a:off x="603248" y="657277"/>
        <a:ext cx="4467954" cy="2774145"/>
      </dsp:txXfrm>
    </dsp:sp>
    <dsp:sp modelId="{FC3D84F9-EB05-AA41-B85D-0E35824CF89C}">
      <dsp:nvSpPr>
        <dsp:cNvPr id="0" name=""/>
        <dsp:cNvSpPr/>
      </dsp:nvSpPr>
      <dsp:spPr>
        <a:xfrm>
          <a:off x="5673129" y="81131"/>
          <a:ext cx="4640570" cy="29467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7FDF8-2908-6E43-A0AB-55F149BD9120}">
      <dsp:nvSpPr>
        <dsp:cNvPr id="0" name=""/>
        <dsp:cNvSpPr/>
      </dsp:nvSpPr>
      <dsp:spPr>
        <a:xfrm>
          <a:off x="6188748" y="570969"/>
          <a:ext cx="4640570" cy="29467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500" kern="1200"/>
            <a:t>실험이 얼마나 성공적이었는지를 나타내는 보상 기능</a:t>
          </a:r>
          <a:r>
            <a:rPr kumimoji="1" lang="en-US" sz="2500" kern="1200"/>
            <a:t>:</a:t>
          </a:r>
          <a:r>
            <a:rPr kumimoji="1" lang="ko-KR" sz="2500" kern="1200"/>
            <a:t> 컴퓨터 게임을 배우는 경우 보상은 최종 점수가 될 수 있음</a:t>
          </a:r>
          <a:endParaRPr lang="en-US" sz="2500" kern="1200"/>
        </a:p>
      </dsp:txBody>
      <dsp:txXfrm>
        <a:off x="6275056" y="657277"/>
        <a:ext cx="4467954" cy="2774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112F9B-32BC-824B-93D1-EEBE1A4EB1F0}">
      <dsp:nvSpPr>
        <dsp:cNvPr id="0" name=""/>
        <dsp:cNvSpPr/>
      </dsp:nvSpPr>
      <dsp:spPr>
        <a:xfrm>
          <a:off x="0" y="763787"/>
          <a:ext cx="6261100" cy="1506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800" kern="1200"/>
            <a:t>주어진 상태에 대한 응답으로 액션을 반환하는 모델</a:t>
          </a:r>
          <a:r>
            <a:rPr kumimoji="1" lang="en-US" sz="2800" kern="1200"/>
            <a:t>(</a:t>
          </a:r>
          <a:r>
            <a:rPr kumimoji="1" lang="ko-KR" sz="2800" kern="1200"/>
            <a:t>정책 </a:t>
          </a:r>
          <a:r>
            <a:rPr kumimoji="1" lang="el-GR" sz="2800" kern="1200"/>
            <a:t>π)</a:t>
          </a:r>
          <a:r>
            <a:rPr kumimoji="1" lang="ko-KR" sz="2800" kern="1200"/>
            <a:t>을 훈련하는 것</a:t>
          </a:r>
          <a:endParaRPr lang="en-US" sz="2800" kern="1200"/>
        </a:p>
      </dsp:txBody>
      <dsp:txXfrm>
        <a:off x="73564" y="837351"/>
        <a:ext cx="6113972" cy="1359832"/>
      </dsp:txXfrm>
    </dsp:sp>
    <dsp:sp modelId="{E84C7511-B3A4-EA44-89F1-16ED17C0FEB0}">
      <dsp:nvSpPr>
        <dsp:cNvPr id="0" name=""/>
        <dsp:cNvSpPr/>
      </dsp:nvSpPr>
      <dsp:spPr>
        <a:xfrm>
          <a:off x="0" y="2351387"/>
          <a:ext cx="6261100" cy="150696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800" kern="1200"/>
            <a:t>또한 정책을 확률적이라고 간주할 수도 있음</a:t>
          </a:r>
          <a:endParaRPr lang="en-US" sz="2800" kern="1200"/>
        </a:p>
      </dsp:txBody>
      <dsp:txXfrm>
        <a:off x="73564" y="2424951"/>
        <a:ext cx="6113972" cy="1359832"/>
      </dsp:txXfrm>
    </dsp:sp>
    <dsp:sp modelId="{AF7AD7B8-C0CC-1741-BBF1-155BB0DE1C2B}">
      <dsp:nvSpPr>
        <dsp:cNvPr id="0" name=""/>
        <dsp:cNvSpPr/>
      </dsp:nvSpPr>
      <dsp:spPr>
        <a:xfrm>
          <a:off x="0" y="3858347"/>
          <a:ext cx="6261100" cy="956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79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kumimoji="1" lang="ko-KR" sz="2200" kern="1200"/>
            <a:t>예를 들어 어떤 상태 </a:t>
          </a:r>
          <a:r>
            <a:rPr kumimoji="1" lang="en-US" sz="2200" kern="1200"/>
            <a:t>s</a:t>
          </a:r>
          <a:r>
            <a:rPr kumimoji="1" lang="ko-KR" sz="2200" kern="1200"/>
            <a:t>와 액션 </a:t>
          </a:r>
          <a:r>
            <a:rPr kumimoji="1" lang="en-US" sz="2200" kern="1200"/>
            <a:t>a</a:t>
          </a:r>
          <a:r>
            <a:rPr kumimoji="1" lang="ko-KR" sz="2200" kern="1200"/>
            <a:t>에 대해 상태 </a:t>
          </a:r>
          <a:r>
            <a:rPr kumimoji="1" lang="en-US" sz="2200" kern="1200"/>
            <a:t>s</a:t>
          </a:r>
          <a:r>
            <a:rPr kumimoji="1" lang="ko-KR" sz="2200" kern="1200"/>
            <a:t>에서 </a:t>
          </a:r>
          <a:r>
            <a:rPr kumimoji="1" lang="en-US" sz="2200" kern="1200"/>
            <a:t>a</a:t>
          </a:r>
          <a:r>
            <a:rPr kumimoji="1" lang="ko-KR" sz="2200" kern="1200"/>
            <a:t>를 취해야 할 확률 </a:t>
          </a:r>
          <a:r>
            <a:rPr kumimoji="1" lang="el-GR" sz="2200" kern="1200"/>
            <a:t>π(</a:t>
          </a:r>
          <a:r>
            <a:rPr kumimoji="1" lang="en-US" sz="2200" kern="1200"/>
            <a:t>a|s)</a:t>
          </a:r>
          <a:r>
            <a:rPr kumimoji="1" lang="ko-KR" sz="2200" kern="1200"/>
            <a:t>를 반환</a:t>
          </a:r>
          <a:endParaRPr lang="en-US" sz="2200" kern="1200"/>
        </a:p>
      </dsp:txBody>
      <dsp:txXfrm>
        <a:off x="0" y="3858347"/>
        <a:ext cx="6261100" cy="9563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39F73-6C16-1E43-BB58-84D735110854}">
      <dsp:nvSpPr>
        <dsp:cNvPr id="0" name=""/>
        <dsp:cNvSpPr/>
      </dsp:nvSpPr>
      <dsp:spPr>
        <a:xfrm>
          <a:off x="52" y="159238"/>
          <a:ext cx="5060997" cy="1798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000" kern="1200"/>
            <a:t>세그웨이나 자이로스쿠터와 같은 최신 밸런싱 장치는 가속도계나 자이로스코프의 신호에 따라 바퀴를 조정하여 자동으로 균형을 잡을 수 있음</a:t>
          </a:r>
          <a:endParaRPr lang="en-US" sz="2000" kern="1200"/>
        </a:p>
      </dsp:txBody>
      <dsp:txXfrm>
        <a:off x="52" y="159238"/>
        <a:ext cx="5060997" cy="1798086"/>
      </dsp:txXfrm>
    </dsp:sp>
    <dsp:sp modelId="{8D7FB2E6-195E-794A-9F47-880B01E6F13A}">
      <dsp:nvSpPr>
        <dsp:cNvPr id="0" name=""/>
        <dsp:cNvSpPr/>
      </dsp:nvSpPr>
      <dsp:spPr>
        <a:xfrm>
          <a:off x="52" y="1957324"/>
          <a:ext cx="5060997" cy="1482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5C6F66-DD6E-404F-810F-15C68D7C6D37}">
      <dsp:nvSpPr>
        <dsp:cNvPr id="0" name=""/>
        <dsp:cNvSpPr/>
      </dsp:nvSpPr>
      <dsp:spPr>
        <a:xfrm>
          <a:off x="5769590" y="159238"/>
          <a:ext cx="5060997" cy="179808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ko-KR" sz="2000" kern="1200"/>
            <a:t>비슷한 문제인 기둥의 균형을 잡는 방법을 학습</a:t>
          </a:r>
          <a:endParaRPr lang="en-US" sz="2000" kern="1200"/>
        </a:p>
      </dsp:txBody>
      <dsp:txXfrm>
        <a:off x="5769590" y="159238"/>
        <a:ext cx="5060997" cy="1798086"/>
      </dsp:txXfrm>
    </dsp:sp>
    <dsp:sp modelId="{2E8D8AF6-7DEC-874E-AB45-0D376C2D18F1}">
      <dsp:nvSpPr>
        <dsp:cNvPr id="0" name=""/>
        <dsp:cNvSpPr/>
      </dsp:nvSpPr>
      <dsp:spPr>
        <a:xfrm>
          <a:off x="5769590" y="1957324"/>
          <a:ext cx="5060997" cy="14822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ko-KR" sz="2000" kern="1200"/>
            <a:t>서커스 공연자가 손에 장대를 들고 균형을 잡아야 하는 상황과 비슷하지만</a:t>
          </a:r>
          <a:r>
            <a:rPr kumimoji="1" lang="en-US" sz="2000" kern="1200"/>
            <a:t>, </a:t>
          </a:r>
          <a:r>
            <a:rPr kumimoji="1" lang="ko-KR" sz="2000" kern="1200"/>
            <a:t>이 장대 균형 잡기는 </a:t>
          </a:r>
          <a:r>
            <a:rPr kumimoji="1" lang="en-US" sz="2000" kern="1200"/>
            <a:t>1</a:t>
          </a:r>
          <a:r>
            <a:rPr kumimoji="1" lang="ko-KR" sz="2000" kern="1200"/>
            <a:t>차원에서만 발생</a:t>
          </a:r>
          <a:endParaRPr lang="en-US" sz="2000" kern="1200"/>
        </a:p>
      </dsp:txBody>
      <dsp:txXfrm>
        <a:off x="5769590" y="1957324"/>
        <a:ext cx="5060997" cy="1482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2024. 5. 25.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gvyzIkgxF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ymnasium.faram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Deep Reinforcement Learning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B6507D-9EDE-2600-CD94-5F62B3D5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100">
                <a:solidFill>
                  <a:schemeClr val="accent1"/>
                </a:solidFill>
              </a:rPr>
              <a:t>Reinforcement Learning</a:t>
            </a:r>
            <a:endParaRPr kumimoji="1" lang="ko-KR" altLang="en-US" sz="41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5FBAB9-4533-DD40-06A0-1169CF3E5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6484154" cy="4884209"/>
          </a:xfrm>
        </p:spPr>
        <p:txBody>
          <a:bodyPr anchor="ctr">
            <a:normAutofit/>
          </a:bodyPr>
          <a:lstStyle/>
          <a:p>
            <a:r>
              <a:rPr kumimoji="1" lang="en" altLang="ko-KR" sz="2000" dirty="0">
                <a:hlinkClick r:id="rId3"/>
              </a:rPr>
              <a:t>https://www.youtube.com/watch?v=JgvyzIkgxF0</a:t>
            </a:r>
            <a:endParaRPr kumimoji="1" lang="en" altLang="ko-KR" sz="2000" dirty="0"/>
          </a:p>
          <a:p>
            <a:endParaRPr kumimoji="1" lang="ko-KR" altLang="en-US" sz="2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D3213F-A2CE-C900-77C4-369580B5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53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BBB4A-AE74-C366-AFED-2A6672A3C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CE5C0-E3CE-BD61-A474-7421305A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F63DD094-A23A-0F87-BF32-B6680AC9A9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3473088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91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9CD07-D001-CC65-53D1-B4420C254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 dirty="0"/>
              <a:t>To perform RL, we need: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5274EC-F413-CF51-E6C1-1F62B1F7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2EE388E1-DE07-01B1-207B-B8086BBFE7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610144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0614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086E9-49F1-9EE8-8E50-708EFCCA4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Reward function and more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13310E-E6BE-8C28-F80D-D27F5917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77B8BC-A68A-EC11-85DD-EC21392D3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4931045" cy="4204604"/>
          </a:xfrm>
        </p:spPr>
        <p:txBody>
          <a:bodyPr>
            <a:normAutofit/>
          </a:bodyPr>
          <a:lstStyle/>
          <a:p>
            <a:r>
              <a:rPr kumimoji="1" lang="ko-KR" altLang="en-US" sz="1800" dirty="0"/>
              <a:t>보상 기능을 기반으로 행동을 조정하고 실력을 향상시켜 다음 번에는 더 나은 플레이를 할 수 있어야 함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다른 유형의 </a:t>
            </a:r>
            <a:r>
              <a:rPr kumimoji="1" lang="ko-KR" altLang="en-US" sz="1800" dirty="0" err="1"/>
              <a:t>머신러닝과</a:t>
            </a:r>
            <a:r>
              <a:rPr kumimoji="1" lang="ko-KR" altLang="en-US" sz="1800" dirty="0"/>
              <a:t> </a:t>
            </a:r>
            <a:r>
              <a:rPr kumimoji="1" lang="en" altLang="ko-KR" sz="1800" dirty="0"/>
              <a:t>RL</a:t>
            </a:r>
            <a:r>
              <a:rPr kumimoji="1" lang="ko-KR" altLang="en-US" sz="1800" dirty="0"/>
              <a:t>의 가장 큰 차이점은 </a:t>
            </a:r>
            <a:r>
              <a:rPr kumimoji="1" lang="en" altLang="ko-KR" sz="1800" dirty="0"/>
              <a:t>RL</a:t>
            </a:r>
            <a:r>
              <a:rPr kumimoji="1" lang="ko-KR" altLang="en-US" sz="1800" dirty="0"/>
              <a:t>에서는 일반적으로 게임을 끝낼 때까지 승패 여부를 알 수 없음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따라서 특정 수만으로는 좋은 수인지 아닌지 말할 수 없으며</a:t>
            </a:r>
            <a:r>
              <a:rPr kumimoji="1" lang="en-US" altLang="ko-KR" sz="1800" dirty="0"/>
              <a:t>, </a:t>
            </a:r>
            <a:r>
              <a:rPr kumimoji="1" lang="ko-KR" altLang="en-US" sz="1800" dirty="0"/>
              <a:t>게임이 끝날 때만 보상을 받을 수 있음</a:t>
            </a:r>
            <a:endParaRPr kumimoji="1" lang="en-US" altLang="ko-KR" sz="1800" dirty="0"/>
          </a:p>
          <a:p>
            <a:r>
              <a:rPr kumimoji="1" lang="en" altLang="ko-KR" sz="1800" dirty="0"/>
              <a:t>RL</a:t>
            </a:r>
            <a:r>
              <a:rPr kumimoji="1" lang="ko-KR" altLang="en-US" sz="1800" dirty="0"/>
              <a:t>에서는 일반적으로 많은 실험을 수행</a:t>
            </a:r>
            <a:endParaRPr kumimoji="1" lang="en-US" altLang="ko-KR" sz="18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/>
              <a:t>실험을 할 때마다 지금까지 배운 최적의 전략을 따르는 것</a:t>
            </a:r>
            <a:r>
              <a:rPr kumimoji="1" lang="en-US" altLang="ko-KR" sz="1800" dirty="0"/>
              <a:t>(exploitation)</a:t>
            </a:r>
            <a:r>
              <a:rPr kumimoji="1" lang="ko-KR" altLang="en-US" sz="1800" dirty="0"/>
              <a:t>과 새로운 가능한 상태를 탐색하는 것</a:t>
            </a:r>
            <a:r>
              <a:rPr kumimoji="1" lang="en-US" altLang="ko-KR" sz="1800" dirty="0"/>
              <a:t>(exploration) </a:t>
            </a:r>
            <a:r>
              <a:rPr kumimoji="1" lang="ko-KR" altLang="en-US" sz="1800" dirty="0"/>
              <a:t>사이에서 균형을 맞춰야 함</a:t>
            </a:r>
            <a:endParaRPr kumimoji="1" lang="en-US" altLang="ko-KR" sz="1800" dirty="0"/>
          </a:p>
          <a:p>
            <a:endParaRPr kumimoji="1" lang="ko-KR" altLang="en-US" sz="1800" dirty="0"/>
          </a:p>
        </p:txBody>
      </p:sp>
      <p:pic>
        <p:nvPicPr>
          <p:cNvPr id="8" name="Graphic 7" descr="연단">
            <a:extLst>
              <a:ext uri="{FF2B5EF4-FFF2-40B4-BE49-F238E27FC236}">
                <a16:creationId xmlns:a16="http://schemas.microsoft.com/office/drawing/2014/main" id="{62E235EB-1A2A-AD27-AC46-6CE55E50A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5658" y="2336800"/>
            <a:ext cx="3598863" cy="359886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9786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67DFC3C-FCB8-0C7D-8889-1F603212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/>
              <a:t>Goal of RL</a:t>
            </a:r>
            <a:endParaRPr kumimoji="1" lang="ko-KR" altLang="en-US" sz="44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0B1FED-8A99-7062-AFBB-393483BB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4A9617DF-DA35-5B61-271E-6563ADBE3A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26604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25364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545147A-E182-6B89-8E6F-FA1785AA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>
                <a:solidFill>
                  <a:srgbClr val="FFFFFF"/>
                </a:solidFill>
              </a:rPr>
              <a:t>Policy Gradients Algorithm</a:t>
            </a:r>
            <a:endParaRPr kumimoji="1" lang="ko-KR" altLang="en-US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8D9F12-D170-C0E0-C8C2-7E73C0A7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6B832-0995-4CC1-D217-BA43450C7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정책을 모델링하는 가장 확실한 방법은 상태를 입력으로 받아 그에 해당하는 작업</a:t>
            </a:r>
            <a:r>
              <a:rPr kumimoji="1" lang="en-US" altLang="ko-KR" sz="2000" dirty="0">
                <a:solidFill>
                  <a:srgbClr val="FFFFFF"/>
                </a:solidFill>
              </a:rPr>
              <a:t>(</a:t>
            </a:r>
            <a:r>
              <a:rPr kumimoji="1" lang="ko-KR" altLang="en-US" sz="2000" dirty="0">
                <a:solidFill>
                  <a:srgbClr val="FFFFFF"/>
                </a:solidFill>
              </a:rPr>
              <a:t>또는 모든 작업의 확률</a:t>
            </a:r>
            <a:r>
              <a:rPr kumimoji="1" lang="en-US" altLang="ko-KR" sz="2000" dirty="0">
                <a:solidFill>
                  <a:srgbClr val="FFFFFF"/>
                </a:solidFill>
              </a:rPr>
              <a:t>)</a:t>
            </a:r>
            <a:r>
              <a:rPr kumimoji="1" lang="ko-KR" altLang="en-US" sz="2000" dirty="0">
                <a:solidFill>
                  <a:srgbClr val="FFFFFF"/>
                </a:solidFill>
              </a:rPr>
              <a:t>을 반환하는 신경망을 만드는 것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일반적인 분류 작업과 비슷하지만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ko-KR" altLang="en-US" dirty="0">
                <a:solidFill>
                  <a:srgbClr val="FFFFFF"/>
                </a:solidFill>
              </a:rPr>
              <a:t>각 단계에서 어떤 조치를 취해야 할지 미리 알 수 없다는 큰 차이점이 있음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중요한 것은 이러한 확률을 추정하는 것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실험의 각 단계에서 총 보상을 보여주는 누적 보상 벡터를 구축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또한 초기 보상의 역할을 줄이기 위해 이전 보상에 계수 </a:t>
            </a:r>
            <a:r>
              <a:rPr kumimoji="1" lang="el-GR" altLang="ko-KR" dirty="0">
                <a:solidFill>
                  <a:srgbClr val="FFFFFF"/>
                </a:solidFill>
              </a:rPr>
              <a:t>γ=0.99</a:t>
            </a:r>
            <a:r>
              <a:rPr kumimoji="1" lang="ko-KR" altLang="en-US" dirty="0" err="1">
                <a:solidFill>
                  <a:srgbClr val="FFFFFF"/>
                </a:solidFill>
              </a:rPr>
              <a:t>를</a:t>
            </a:r>
            <a:r>
              <a:rPr kumimoji="1" lang="ko-KR" altLang="en-US" dirty="0">
                <a:solidFill>
                  <a:srgbClr val="FFFFFF"/>
                </a:solidFill>
              </a:rPr>
              <a:t> 곱하여 보상 할인을 적용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그런 다음 실험 경로를 따라 더 큰 보상을 얻을 수 있는 단계를 강화</a:t>
            </a:r>
          </a:p>
        </p:txBody>
      </p:sp>
    </p:spTree>
    <p:extLst>
      <p:ext uri="{BB962C8B-B14F-4D97-AF65-F5344CB8AC3E}">
        <p14:creationId xmlns:p14="http://schemas.microsoft.com/office/powerpoint/2010/main" val="464275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4EF2071-76EF-151A-5639-688878AC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" altLang="ko-KR" sz="4400" dirty="0">
                <a:solidFill>
                  <a:srgbClr val="FFFFFF"/>
                </a:solidFill>
              </a:rPr>
              <a:t>Actor-Critic Algorithm</a:t>
            </a:r>
            <a:endParaRPr kumimoji="1" lang="ko-KR" altLang="en-US" sz="4400" dirty="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45CA4-07CE-3840-CA76-3B40DD879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kumimoji="1" lang="en-US" altLang="ko-KR" sz="2000">
                <a:solidFill>
                  <a:srgbClr val="FFFFFF"/>
                </a:solidFill>
              </a:rPr>
              <a:t>Policy gradation</a:t>
            </a:r>
            <a:r>
              <a:rPr kumimoji="1" lang="ko-KR" altLang="en-US" sz="2000">
                <a:solidFill>
                  <a:srgbClr val="FFFFFF"/>
                </a:solidFill>
              </a:rPr>
              <a:t>접근 방식의 개선된 버전을 </a:t>
            </a:r>
            <a:r>
              <a:rPr kumimoji="1" lang="en-US" altLang="ko-KR" sz="2000">
                <a:solidFill>
                  <a:srgbClr val="FFFFFF"/>
                </a:solidFill>
              </a:rPr>
              <a:t>actor-critic</a:t>
            </a:r>
            <a:r>
              <a:rPr kumimoji="1" lang="ko-KR" altLang="en-US" sz="2000">
                <a:solidFill>
                  <a:srgbClr val="FFFFFF"/>
                </a:solidFill>
              </a:rPr>
              <a:t>이라고 함</a:t>
            </a:r>
            <a:endParaRPr kumimoji="1" lang="en-US" altLang="ko-KR" sz="200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>
                <a:solidFill>
                  <a:srgbClr val="FFFFFF"/>
                </a:solidFill>
              </a:rPr>
              <a:t>기본 개념은 신경망이 두 가지를 반환하도록 훈련된다는 것입니다</a:t>
            </a:r>
            <a:endParaRPr kumimoji="1" lang="en-US" altLang="ko-KR">
              <a:solidFill>
                <a:srgbClr val="FFFFFF"/>
              </a:solidFill>
            </a:endParaRPr>
          </a:p>
          <a:p>
            <a:pPr marL="1257300" lvl="2" indent="-342900">
              <a:buFont typeface="+mj-lt"/>
              <a:buAutoNum type="arabicPeriod"/>
            </a:pPr>
            <a:r>
              <a:rPr kumimoji="1" lang="ko-KR" altLang="en-US" sz="2000">
                <a:solidFill>
                  <a:srgbClr val="FFFFFF"/>
                </a:solidFill>
              </a:rPr>
              <a:t>어떤 조치를 취할지 결정하는 정책</a:t>
            </a:r>
            <a:r>
              <a:rPr kumimoji="1" lang="en-US" altLang="ko-KR" sz="2000">
                <a:solidFill>
                  <a:srgbClr val="FFFFFF"/>
                </a:solidFill>
              </a:rPr>
              <a:t>. </a:t>
            </a:r>
            <a:r>
              <a:rPr kumimoji="1" lang="ko-KR" altLang="en-US" sz="2000">
                <a:solidFill>
                  <a:srgbClr val="FFFFFF"/>
                </a:solidFill>
              </a:rPr>
              <a:t>이 부분을 액터라고 함</a:t>
            </a:r>
            <a:endParaRPr kumimoji="1" lang="en-US" altLang="ko-KR" sz="2000">
              <a:solidFill>
                <a:srgbClr val="FFFFFF"/>
              </a:solidFill>
            </a:endParaRPr>
          </a:p>
          <a:p>
            <a:pPr marL="1257300" lvl="2" indent="-342900">
              <a:buFont typeface="+mj-lt"/>
              <a:buAutoNum type="arabicPeriod"/>
            </a:pPr>
            <a:r>
              <a:rPr kumimoji="1" lang="ko-KR" altLang="en-US" sz="2000">
                <a:solidFill>
                  <a:srgbClr val="FFFFFF"/>
                </a:solidFill>
              </a:rPr>
              <a:t>이 상태에서 얻을 수 있는 총 보상에 대한 추정치 </a:t>
            </a:r>
            <a:r>
              <a:rPr kumimoji="1" lang="en-US" altLang="ko-KR" sz="2000">
                <a:solidFill>
                  <a:srgbClr val="FFFFFF"/>
                </a:solidFill>
              </a:rPr>
              <a:t>- </a:t>
            </a:r>
            <a:r>
              <a:rPr kumimoji="1" lang="ko-KR" altLang="en-US" sz="2000">
                <a:solidFill>
                  <a:srgbClr val="FFFFFF"/>
                </a:solidFill>
              </a:rPr>
              <a:t>이 부분을 크리틱라고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6C5FE-A56D-CC86-F9CE-DBB4C4A2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86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801B27D-E7D2-C14C-4771-BD3BFEF7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" altLang="ko-KR" sz="4800">
                <a:solidFill>
                  <a:schemeClr val="accent1"/>
                </a:solidFill>
              </a:rPr>
              <a:t>Actor-Critic Algorithm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7753E-7004-EA43-D335-273DA7208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/>
              <a:t>이 아키텍처는 서로에 대해 훈련된 두 개의 네트워크가 있는 </a:t>
            </a:r>
            <a:r>
              <a:rPr kumimoji="1" lang="en" altLang="ko-KR" sz="2000"/>
              <a:t>Generative Adversarial Networks</a:t>
            </a:r>
            <a:r>
              <a:rPr kumimoji="1" lang="ko-KR" altLang="en-US" sz="2000"/>
              <a:t> </a:t>
            </a:r>
            <a:r>
              <a:rPr kumimoji="1" lang="en-US" altLang="ko-KR" sz="2000"/>
              <a:t>(GAN)</a:t>
            </a:r>
            <a:r>
              <a:rPr kumimoji="1" lang="ko-KR" altLang="en-US" sz="2000"/>
              <a:t>과 유사</a:t>
            </a:r>
            <a:endParaRPr kumimoji="1" lang="en-US" altLang="ko-KR" sz="200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행위자</a:t>
            </a:r>
            <a:r>
              <a:rPr kumimoji="1" lang="en-US" altLang="ko-KR" dirty="0"/>
              <a:t>-</a:t>
            </a:r>
            <a:r>
              <a:rPr kumimoji="1" lang="ko-KR" altLang="en-US" dirty="0"/>
              <a:t>비평가 모델에서 행위자는 우리가 취해야 할 행동을 제안하고 비평가는 그 결과를 비판하고 예측</a:t>
            </a:r>
            <a:endParaRPr kumimoji="1" lang="en-US" altLang="ko-KR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우리의 목표는 이러한 네트워크를 함께 훈련하는 것</a:t>
            </a:r>
            <a:endParaRPr kumimoji="1" lang="en-US" altLang="ko-KR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실제 누적 보상과 실험 중 비평가가 반환한 결과를 모두 알고 있기 때문에 두 결과의 차이를 최소화하는 손실 함수를 구축하는 것은 비교적 쉬움 </a:t>
            </a:r>
            <a:r>
              <a:rPr kumimoji="1" lang="en-US" altLang="ko-KR" dirty="0"/>
              <a:t>-</a:t>
            </a:r>
            <a:r>
              <a:rPr kumimoji="1" lang="ko-KR" altLang="en-US" dirty="0"/>
              <a:t> 비평가 손실을 구할 수 있음</a:t>
            </a:r>
            <a:endParaRPr kumimoji="1" lang="en-US" altLang="ko-KR"/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/>
              <a:t>Policy gradation </a:t>
            </a:r>
            <a:r>
              <a:rPr kumimoji="1" lang="ko-KR" altLang="en-US"/>
              <a:t>알고리즘에서와</a:t>
            </a:r>
            <a:r>
              <a:rPr kumimoji="1" lang="ko-KR" altLang="en-US" dirty="0"/>
              <a:t> 동일한 접근 방식을 사용하여 </a:t>
            </a:r>
            <a:r>
              <a:rPr kumimoji="1" lang="ko-KR" altLang="en-US"/>
              <a:t>액터</a:t>
            </a:r>
            <a:r>
              <a:rPr kumimoji="1" lang="ko-KR" altLang="en-US" dirty="0"/>
              <a:t> 손실을 계산할 수 있음</a:t>
            </a:r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DB8C6-F426-4B86-E76D-44639106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89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3E8A9A-DA4B-4F12-9331-219EBE523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81776" y="0"/>
            <a:ext cx="9176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4DCE7A-0E46-404B-9E0D-E93DC7B2A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D673B7-F6B7-43EE-936B-D09F3A33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81776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889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CAD77C-FE1E-AF9F-7AB4-C329D281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0849" y="643466"/>
            <a:ext cx="3846292" cy="5205943"/>
          </a:xfrm>
        </p:spPr>
        <p:txBody>
          <a:bodyPr anchor="b">
            <a:normAutofit/>
          </a:bodyPr>
          <a:lstStyle/>
          <a:p>
            <a:pPr algn="r"/>
            <a:r>
              <a:rPr kumimoji="1" lang="en-US" altLang="ko-KR" sz="4800">
                <a:solidFill>
                  <a:schemeClr val="accent1"/>
                </a:solidFill>
              </a:rPr>
              <a:t>Other RL Tasks</a:t>
            </a:r>
            <a:endParaRPr kumimoji="1" lang="ko-KR" altLang="en-US" sz="480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5CF33-2CA0-AD34-4153-5568A5E3A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965200"/>
            <a:ext cx="5410207" cy="4884209"/>
          </a:xfrm>
        </p:spPr>
        <p:txBody>
          <a:bodyPr anchor="ctr">
            <a:normAutofit/>
          </a:bodyPr>
          <a:lstStyle/>
          <a:p>
            <a:r>
              <a:rPr kumimoji="1" lang="ko-KR" altLang="en-US" sz="2000" dirty="0"/>
              <a:t>강화 학습은 오늘날 빠르게 성장하고 있는 연구 분야</a:t>
            </a:r>
            <a:endParaRPr kumimoji="1" lang="en-US" altLang="ko-KR" sz="2000" dirty="0"/>
          </a:p>
          <a:p>
            <a:r>
              <a:rPr kumimoji="1" lang="ko-KR" altLang="en-US" sz="2000" dirty="0"/>
              <a:t>강화 학습의 예는 다음과 같음</a:t>
            </a:r>
            <a:endParaRPr kumimoji="1" lang="en-US" altLang="ko-KR" sz="2000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컴퓨터에게 </a:t>
            </a:r>
            <a:r>
              <a:rPr kumimoji="1" lang="ko-KR" altLang="en-US" dirty="0" err="1"/>
              <a:t>아타리</a:t>
            </a:r>
            <a:r>
              <a:rPr kumimoji="1" lang="ko-KR" altLang="en-US" dirty="0"/>
              <a:t> 게임을 가르치기</a:t>
            </a:r>
            <a:r>
              <a:rPr kumimoji="1" lang="en-US" altLang="ko-KR" dirty="0"/>
              <a:t>:</a:t>
            </a:r>
            <a:r>
              <a:rPr kumimoji="1" lang="ko-KR" altLang="en-US" dirty="0"/>
              <a:t> 어려운 부분은 단순한 상태가 벡터로 표현되는 것이 아니라 스크린샷으로 표현된다는 점이며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스크린 이미지를 특징 벡터로 변환하거나 보상 정보를 추출하기 위해 </a:t>
            </a:r>
            <a:r>
              <a:rPr kumimoji="1" lang="en" altLang="ko-KR" dirty="0"/>
              <a:t>CNN</a:t>
            </a:r>
            <a:r>
              <a:rPr kumimoji="1" lang="ko-KR" altLang="en-US" dirty="0"/>
              <a:t>을 사용해야 한다는 것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컴퓨터에게 체스나 바둑과 같은 보드 게임을 가르치는 것</a:t>
            </a:r>
            <a:r>
              <a:rPr kumimoji="1" lang="en-US" altLang="ko-KR" dirty="0"/>
              <a:t>:</a:t>
            </a:r>
            <a:r>
              <a:rPr kumimoji="1" lang="ko-KR" altLang="en-US" dirty="0"/>
              <a:t> 최근 알파 제로와 같은 최첨단 프로그램은 두 명의 에이전트가 서로 대결을 펼치며 각 단계를 개선하는 방식으로 처음부터 훈련되었음</a:t>
            </a:r>
            <a:endParaRPr kumimoji="1" lang="en-US" altLang="ko-KR" dirty="0"/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/>
              <a:t>산업계에서는 시뮬레이션을 통해 제어 시스템을 만드는 데 </a:t>
            </a:r>
            <a:r>
              <a:rPr kumimoji="1" lang="en" altLang="ko-KR" dirty="0"/>
              <a:t>RL</a:t>
            </a:r>
            <a:r>
              <a:rPr kumimoji="1" lang="ko-KR" altLang="en-US" dirty="0"/>
              <a:t>을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7BAA30-3344-FE07-2D87-8065D936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265" y="6170824"/>
            <a:ext cx="722655" cy="3657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844951-7827-47D4-8276-7DDE1FA7D85A}" type="slidenum">
              <a:rPr lang="en-US" sz="20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97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584016-AD43-8E1D-B52B-74E6C8EB8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113" y="756005"/>
            <a:ext cx="5874479" cy="12417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 latinLnBrk="0">
              <a:buNone/>
            </a:pPr>
            <a:r>
              <a:rPr kumimoji="1" lang="en-US" altLang="ko-KR" sz="2000" dirty="0">
                <a:solidFill>
                  <a:schemeClr val="accent1"/>
                </a:solidFill>
              </a:rPr>
              <a:t>RL: </a:t>
            </a:r>
            <a:r>
              <a:rPr kumimoji="1" lang="ko-KR" altLang="en-US" sz="2000" dirty="0">
                <a:solidFill>
                  <a:schemeClr val="accent1"/>
                </a:solidFill>
              </a:rPr>
              <a:t>에이전트에게 원하는 게임 상태를 정의하는 보상 기능을 제공하고 검색 공간을 지능적으로 탐색할 기회를 제공하는 것만으로도 좋은 결과를 얻을 수 있도록 훈련하는 방법</a:t>
            </a:r>
            <a:endParaRPr kumimoji="1" lang="en-US" altLang="ko-KR" sz="2000" dirty="0">
              <a:solidFill>
                <a:schemeClr val="accent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6350FA1-2E84-4B44-48F7-95D68802D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113" y="1997765"/>
            <a:ext cx="5872891" cy="2696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ko-KR" altLang="en-US" sz="6000">
                <a:solidFill>
                  <a:srgbClr val="FFFFFF"/>
                </a:solidFill>
              </a:rPr>
              <a:t>결론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54CD35-5525-26E4-A70A-F9CB0AA6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1380" y="316238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4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11</a:t>
            </a:fld>
            <a:endParaRPr lang="en-US" sz="4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3603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1C6835-FEF9-0ECC-6181-6DCC9FBAF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113" y="1997765"/>
            <a:ext cx="5872891" cy="26966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6000">
                <a:solidFill>
                  <a:srgbClr val="FFFFFF"/>
                </a:solidFill>
              </a:rPr>
              <a:t>AWS DeepRacer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830-8C9E-CD72-48C6-75D66091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1380" y="316238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48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12</a:t>
            </a:fld>
            <a:endParaRPr lang="en-US" sz="48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31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DB113-60CE-28F5-05D4-2656F11C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-US" altLang="ko-KR" dirty="0"/>
              <a:t>OpenAI Gym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B9ACB-4C7E-5542-17D2-6A6912CD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EBDDB-3241-6BD1-3D1F-FFCEDDE9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4931045" cy="3599316"/>
          </a:xfrm>
        </p:spPr>
        <p:txBody>
          <a:bodyPr>
            <a:normAutofit/>
          </a:bodyPr>
          <a:lstStyle/>
          <a:p>
            <a:r>
              <a:rPr kumimoji="1" lang="en" altLang="ko-KR" sz="2000" dirty="0"/>
              <a:t>RL</a:t>
            </a:r>
            <a:r>
              <a:rPr kumimoji="1" lang="ko-KR" altLang="en-US" sz="2000" dirty="0"/>
              <a:t>을 위한 도구로는 </a:t>
            </a:r>
            <a:r>
              <a:rPr kumimoji="1" lang="ko-KR" altLang="en-US" sz="2000" dirty="0" err="1"/>
              <a:t>아타리</a:t>
            </a:r>
            <a:r>
              <a:rPr kumimoji="1" lang="ko-KR" altLang="en-US" sz="2000" dirty="0"/>
              <a:t> 게임부터 폴 </a:t>
            </a:r>
            <a:r>
              <a:rPr kumimoji="1" lang="ko-KR" altLang="en-US" sz="2000" dirty="0" err="1"/>
              <a:t>밸런싱의</a:t>
            </a:r>
            <a:r>
              <a:rPr kumimoji="1" lang="ko-KR" altLang="en-US" sz="2000" dirty="0"/>
              <a:t> 물리학에 이르기까지 다양한 환경을 </a:t>
            </a:r>
            <a:r>
              <a:rPr kumimoji="1" lang="ko-KR" altLang="en-US" sz="2000" dirty="0" err="1"/>
              <a:t>시뮬레이션할</a:t>
            </a:r>
            <a:r>
              <a:rPr kumimoji="1" lang="ko-KR" altLang="en-US" sz="2000" dirty="0"/>
              <a:t> 수 있는 </a:t>
            </a:r>
            <a:r>
              <a:rPr kumimoji="1" lang="en" altLang="ko-KR" sz="2000" dirty="0"/>
              <a:t>OpenAI Gym</a:t>
            </a:r>
            <a:r>
              <a:rPr kumimoji="1" lang="ko-KR" altLang="en-US" sz="2000" dirty="0"/>
              <a:t>이 있음</a:t>
            </a:r>
            <a:endParaRPr kumimoji="1" lang="en-US" altLang="ko-KR" sz="2000" dirty="0"/>
          </a:p>
          <a:p>
            <a:r>
              <a:rPr kumimoji="1" lang="ko-KR" altLang="en-US" sz="2000" dirty="0"/>
              <a:t>강화 학습 알고리즘을 훈련하는 데 가장 많이 사용되는 시뮬레이션 환경 중 하나이며 </a:t>
            </a:r>
            <a:r>
              <a:rPr kumimoji="1" lang="en" altLang="ko-KR" sz="2000" dirty="0"/>
              <a:t>OpenAI</a:t>
            </a:r>
            <a:r>
              <a:rPr kumimoji="1" lang="ko-KR" altLang="en-US" sz="2000" dirty="0"/>
              <a:t>에서 유지 관리</a:t>
            </a:r>
            <a:endParaRPr kumimoji="1" lang="en-US" altLang="ko-KR" sz="2000" dirty="0"/>
          </a:p>
          <a:p>
            <a:r>
              <a:rPr kumimoji="1" lang="en" altLang="ko-KR" sz="2000" dirty="0">
                <a:hlinkClick r:id="rId2"/>
              </a:rPr>
              <a:t>https://gymnasium.farama.org/</a:t>
            </a:r>
            <a:endParaRPr kumimoji="1" lang="en-US" altLang="ko-KR" sz="2000" dirty="0"/>
          </a:p>
          <a:p>
            <a:endParaRPr kumimoji="1" lang="ko-KR" altLang="en-US" sz="2000" dirty="0"/>
          </a:p>
        </p:txBody>
      </p:sp>
      <p:pic>
        <p:nvPicPr>
          <p:cNvPr id="8" name="Graphic 7" descr="로봇 개요">
            <a:extLst>
              <a:ext uri="{FF2B5EF4-FFF2-40B4-BE49-F238E27FC236}">
                <a16:creationId xmlns:a16="http://schemas.microsoft.com/office/drawing/2014/main" id="{D96644BB-F6D5-4325-92C4-8B3A649F3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5658" y="2336800"/>
            <a:ext cx="3598863" cy="359886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3734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EABB3-DA1D-F657-EFEC-C53342CB3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kumimoji="1" lang="en" altLang="ko-KR" dirty="0" err="1"/>
              <a:t>CartPole</a:t>
            </a:r>
            <a:r>
              <a:rPr kumimoji="1" lang="en" altLang="ko-KR" dirty="0"/>
              <a:t> Balancing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F558B4-CB47-7A70-E3FE-733BBF6C3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graphicFrame>
        <p:nvGraphicFramePr>
          <p:cNvPr id="6" name="내용 개체 틀 2">
            <a:extLst>
              <a:ext uri="{FF2B5EF4-FFF2-40B4-BE49-F238E27FC236}">
                <a16:creationId xmlns:a16="http://schemas.microsoft.com/office/drawing/2014/main" id="{78EF2FF4-AC93-C74E-A7F5-DA8D05BB0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708395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327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544057-D213-27DC-25C7-62C230E72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>
                <a:solidFill>
                  <a:srgbClr val="FFFFFF"/>
                </a:solidFill>
              </a:rPr>
              <a:t>CartPole Balancing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BD227D-9080-FDC2-8ADE-A0C4651D4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kumimoji="1" lang="ko-KR" altLang="en-US" sz="2000" dirty="0">
                <a:solidFill>
                  <a:srgbClr val="FFFFFF"/>
                </a:solidFill>
              </a:rPr>
              <a:t>균형 잡기의 단순화된 버전을 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카트폴</a:t>
            </a:r>
            <a:r>
              <a:rPr kumimoji="1" lang="ko-KR" altLang="en-US" sz="2000" dirty="0">
                <a:solidFill>
                  <a:srgbClr val="FFFFFF"/>
                </a:solidFill>
              </a:rPr>
              <a:t> 문제라고 함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r>
              <a:rPr kumimoji="1" lang="ko-KR" altLang="en-US" sz="2000" dirty="0" err="1">
                <a:solidFill>
                  <a:srgbClr val="FFFFFF"/>
                </a:solidFill>
              </a:rPr>
              <a:t>카트폴</a:t>
            </a:r>
            <a:r>
              <a:rPr kumimoji="1" lang="ko-KR" altLang="en-US" sz="2000" dirty="0">
                <a:solidFill>
                  <a:srgbClr val="FFFFFF"/>
                </a:solidFill>
              </a:rPr>
              <a:t> 세계에서는 왼쪽이나 오른쪽으로 움직일 수 있는 수평 슬라이더가 있고</a:t>
            </a:r>
            <a:r>
              <a:rPr kumimoji="1" lang="en-US" altLang="ko-KR" sz="2000" dirty="0">
                <a:solidFill>
                  <a:srgbClr val="FFFFFF"/>
                </a:solidFill>
              </a:rPr>
              <a:t>, </a:t>
            </a:r>
            <a:r>
              <a:rPr kumimoji="1" lang="ko-KR" altLang="en-US" sz="2000" dirty="0">
                <a:solidFill>
                  <a:srgbClr val="FFFFFF"/>
                </a:solidFill>
              </a:rPr>
              <a:t>슬라이더가 움직일 때 그 위에 있는 수직 기둥의 균형을 맞추는 것이 목표</a:t>
            </a:r>
            <a:endParaRPr kumimoji="1" lang="en-US" altLang="ko-KR" sz="2000" dirty="0">
              <a:solidFill>
                <a:srgbClr val="FFFFFF"/>
              </a:solidFill>
            </a:endParaRPr>
          </a:p>
        </p:txBody>
      </p: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cartpole">
            <a:extLst>
              <a:ext uri="{FF2B5EF4-FFF2-40B4-BE49-F238E27FC236}">
                <a16:creationId xmlns:a16="http://schemas.microsoft.com/office/drawing/2014/main" id="{D2F5AAE9-825B-F7D1-857E-2A6CB811A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364889"/>
            <a:ext cx="5629268" cy="412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8E6EA-B107-C448-B4D1-349B050E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170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2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3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4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35" name="Rectangle 18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20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7" name="Rectangle 22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38" name="Picture 24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39" name="Rectangle 26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03C171-EAA1-D4B5-7EF0-A8D4CDA1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4600">
                <a:solidFill>
                  <a:srgbClr val="FFFFFF"/>
                </a:solidFill>
              </a:rPr>
              <a:t>CartPole-RL-Pytorch.ipynb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2AB53B-4F3A-3348-E8E6-3C79CF29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16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195504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3797</TotalTime>
  <Words>718</Words>
  <Application>Microsoft Macintosh PowerPoint</Application>
  <PresentationFormat>와이드스크린</PresentationFormat>
  <Paragraphs>76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Trebuchet MS</vt:lpstr>
      <vt:lpstr>Wingdings</vt:lpstr>
      <vt:lpstr>베를린</vt:lpstr>
      <vt:lpstr>Deep Reinforcement Learning</vt:lpstr>
      <vt:lpstr>Reinforcement Learning</vt:lpstr>
      <vt:lpstr>Introduction</vt:lpstr>
      <vt:lpstr>To perform RL, we need:</vt:lpstr>
      <vt:lpstr>Reward function and more</vt:lpstr>
      <vt:lpstr>Goal of RL</vt:lpstr>
      <vt:lpstr>Policy Gradients Algorithm</vt:lpstr>
      <vt:lpstr>Actor-Critic Algorithm</vt:lpstr>
      <vt:lpstr>Actor-Critic Algorithm</vt:lpstr>
      <vt:lpstr>Other RL Tasks</vt:lpstr>
      <vt:lpstr>결론</vt:lpstr>
      <vt:lpstr>AWS DeepRacer </vt:lpstr>
      <vt:lpstr>OpenAI Gym</vt:lpstr>
      <vt:lpstr>CartPole Balancing</vt:lpstr>
      <vt:lpstr>CartPole Balancing</vt:lpstr>
      <vt:lpstr>CartPole-RL-Pytorch.ipynb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114</cp:revision>
  <dcterms:created xsi:type="dcterms:W3CDTF">2024-04-09T10:12:03Z</dcterms:created>
  <dcterms:modified xsi:type="dcterms:W3CDTF">2024-05-26T09:32:14Z</dcterms:modified>
</cp:coreProperties>
</file>
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1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85"/>
    <p:restoredTop sz="94691"/>
  </p:normalViewPr>
  <p:slideViewPr>
    <p:cSldViewPr snapToGrid="0">
      <p:cViewPr varScale="1">
        <p:scale>
          <a:sx n="134" d="100"/>
          <a:sy n="134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E4FA43-0E35-4D08-A393-4A33FBBDC065}" type="doc">
      <dgm:prSet loTypeId="urn:microsoft.com/office/officeart/2005/8/layout/process4" loCatId="process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B4EC9C1-6556-4D12-BE82-426B9E1B61C6}">
      <dgm:prSet/>
      <dgm:spPr/>
      <dgm:t>
        <a:bodyPr/>
        <a:lstStyle/>
        <a:p>
          <a:r>
            <a:rPr kumimoji="1" lang="ko-KR"/>
            <a:t>수치 계산의 안정성을 높이기 위해 신경망 내의 모든 값이 일반적으로 </a:t>
          </a:r>
          <a:r>
            <a:rPr kumimoji="1" lang="en-US"/>
            <a:t>[-1...1] </a:t>
          </a:r>
          <a:r>
            <a:rPr kumimoji="1" lang="ko-KR"/>
            <a:t>또는 </a:t>
          </a:r>
          <a:r>
            <a:rPr kumimoji="1" lang="en-US"/>
            <a:t>[0...1] </a:t>
          </a:r>
          <a:r>
            <a:rPr kumimoji="1" lang="ko-KR"/>
            <a:t>범위 내에 있도록 함</a:t>
          </a:r>
          <a:endParaRPr lang="en-US"/>
        </a:p>
      </dgm:t>
    </dgm:pt>
    <dgm:pt modelId="{722755F1-2093-4709-9E0C-910ED63812DC}" type="parTrans" cxnId="{EDD96EAF-869A-4321-AC0F-AD0D42A40D28}">
      <dgm:prSet/>
      <dgm:spPr/>
      <dgm:t>
        <a:bodyPr/>
        <a:lstStyle/>
        <a:p>
          <a:endParaRPr lang="en-US"/>
        </a:p>
      </dgm:t>
    </dgm:pt>
    <dgm:pt modelId="{649A000D-857C-4907-BCE4-1784E6BAF26B}" type="sibTrans" cxnId="{EDD96EAF-869A-4321-AC0F-AD0D42A40D28}">
      <dgm:prSet/>
      <dgm:spPr/>
      <dgm:t>
        <a:bodyPr/>
        <a:lstStyle/>
        <a:p>
          <a:endParaRPr lang="en-US"/>
        </a:p>
      </dgm:t>
    </dgm:pt>
    <dgm:pt modelId="{ABFB9271-C322-4471-AEE3-3CE2E200E814}">
      <dgm:prSet/>
      <dgm:spPr/>
      <dgm:t>
        <a:bodyPr/>
        <a:lstStyle/>
        <a:p>
          <a:r>
            <a:rPr kumimoji="1" lang="ko-KR"/>
            <a:t>매우 엄격한 요구 사항은 아니지만</a:t>
          </a:r>
          <a:r>
            <a:rPr kumimoji="1" lang="en-US"/>
            <a:t>, </a:t>
          </a:r>
          <a:r>
            <a:rPr kumimoji="1" lang="ko-KR"/>
            <a:t>부동 소수점 계산의 특성상 크기가 다른 값은 함께 정확하게 조작할 수 없음</a:t>
          </a:r>
          <a:endParaRPr lang="en-US"/>
        </a:p>
      </dgm:t>
    </dgm:pt>
    <dgm:pt modelId="{4C46C0BF-D650-4461-95CB-E798877CFD6E}" type="parTrans" cxnId="{4A7C6015-342C-4B64-9D56-DCE4DB3C21DC}">
      <dgm:prSet/>
      <dgm:spPr/>
      <dgm:t>
        <a:bodyPr/>
        <a:lstStyle/>
        <a:p>
          <a:endParaRPr lang="en-US"/>
        </a:p>
      </dgm:t>
    </dgm:pt>
    <dgm:pt modelId="{C0402620-863E-4F53-A59C-4655C439C644}" type="sibTrans" cxnId="{4A7C6015-342C-4B64-9D56-DCE4DB3C21DC}">
      <dgm:prSet/>
      <dgm:spPr/>
      <dgm:t>
        <a:bodyPr/>
        <a:lstStyle/>
        <a:p>
          <a:endParaRPr lang="en-US"/>
        </a:p>
      </dgm:t>
    </dgm:pt>
    <dgm:pt modelId="{DACB0113-35CD-40BE-AFB4-AB23AF5EA26A}">
      <dgm:prSet/>
      <dgm:spPr/>
      <dgm:t>
        <a:bodyPr/>
        <a:lstStyle/>
        <a:p>
          <a:r>
            <a:rPr kumimoji="1" lang="ko-KR"/>
            <a:t>예를 들어 </a:t>
          </a:r>
          <a:r>
            <a:rPr kumimoji="1" lang="en-US"/>
            <a:t>10-</a:t>
          </a:r>
          <a:r>
            <a:rPr kumimoji="1" lang="en-US" baseline="30000"/>
            <a:t>10</a:t>
          </a:r>
          <a:r>
            <a:rPr kumimoji="1" lang="ko-KR"/>
            <a:t>과 </a:t>
          </a:r>
          <a:r>
            <a:rPr kumimoji="1" lang="en-US"/>
            <a:t>10</a:t>
          </a:r>
          <a:r>
            <a:rPr kumimoji="1" lang="en-US" baseline="30000"/>
            <a:t>10</a:t>
          </a:r>
          <a:r>
            <a:rPr kumimoji="1" lang="ko-KR"/>
            <a:t>을 더하면 </a:t>
          </a:r>
          <a:r>
            <a:rPr kumimoji="1" lang="en-US"/>
            <a:t>10</a:t>
          </a:r>
          <a:r>
            <a:rPr kumimoji="1" lang="en-US" baseline="30000"/>
            <a:t>10</a:t>
          </a:r>
          <a:r>
            <a:rPr kumimoji="1" lang="ko-KR"/>
            <a:t>이 나올 가능성이 높은데</a:t>
          </a:r>
          <a:r>
            <a:rPr kumimoji="1" lang="en-US"/>
            <a:t>, </a:t>
          </a:r>
          <a:r>
            <a:rPr kumimoji="1" lang="ko-KR"/>
            <a:t>이는 작은 값이 큰 값과 같은 순서로 </a:t>
          </a:r>
          <a:r>
            <a:rPr kumimoji="1" lang="en-US"/>
            <a:t>'</a:t>
          </a:r>
          <a:r>
            <a:rPr kumimoji="1" lang="ko-KR"/>
            <a:t>변환</a:t>
          </a:r>
          <a:r>
            <a:rPr kumimoji="1" lang="en-US"/>
            <a:t>'</a:t>
          </a:r>
          <a:r>
            <a:rPr kumimoji="1" lang="ko-KR"/>
            <a:t>되어 만티사 </a:t>
          </a:r>
          <a:r>
            <a:rPr kumimoji="1" lang="en-US"/>
            <a:t>(</a:t>
          </a:r>
          <a:r>
            <a:rPr kumimoji="1" lang="ko-KR"/>
            <a:t>가수부</a:t>
          </a:r>
          <a:r>
            <a:rPr kumimoji="1" lang="en-US"/>
            <a:t>:</a:t>
          </a:r>
          <a:r>
            <a:rPr kumimoji="1" lang="ko-KR"/>
            <a:t> 로그의 소수 부분</a:t>
          </a:r>
          <a:r>
            <a:rPr kumimoji="1" lang="en-US"/>
            <a:t>)</a:t>
          </a:r>
          <a:r>
            <a:rPr kumimoji="1" lang="ko-KR"/>
            <a:t>가 손실되기 때문</a:t>
          </a:r>
          <a:endParaRPr lang="en-US"/>
        </a:p>
      </dgm:t>
    </dgm:pt>
    <dgm:pt modelId="{3AFCCFD4-78DD-48F0-BDF9-953C4748E5BC}" type="parTrans" cxnId="{58D94286-E11C-4C26-9124-F4297B7A373D}">
      <dgm:prSet/>
      <dgm:spPr/>
      <dgm:t>
        <a:bodyPr/>
        <a:lstStyle/>
        <a:p>
          <a:endParaRPr lang="en-US"/>
        </a:p>
      </dgm:t>
    </dgm:pt>
    <dgm:pt modelId="{B0A721FB-CD5A-40D5-A7CE-61998C398B1C}" type="sibTrans" cxnId="{58D94286-E11C-4C26-9124-F4297B7A373D}">
      <dgm:prSet/>
      <dgm:spPr/>
      <dgm:t>
        <a:bodyPr/>
        <a:lstStyle/>
        <a:p>
          <a:endParaRPr lang="en-US"/>
        </a:p>
      </dgm:t>
    </dgm:pt>
    <dgm:pt modelId="{753F7DDC-182B-4000-985A-8DAC895776A6}">
      <dgm:prSet/>
      <dgm:spPr/>
      <dgm:t>
        <a:bodyPr/>
        <a:lstStyle/>
        <a:p>
          <a:r>
            <a:rPr kumimoji="1" lang="ko-KR"/>
            <a:t>대부분의 활성화 함수는 </a:t>
          </a:r>
          <a:r>
            <a:rPr kumimoji="1" lang="en-US"/>
            <a:t>[-1...1] </a:t>
          </a:r>
          <a:r>
            <a:rPr kumimoji="1" lang="ko-KR"/>
            <a:t>주변의 비선형성을 가지므로 모든 입력 데이터를 </a:t>
          </a:r>
          <a:r>
            <a:rPr kumimoji="1" lang="en-US"/>
            <a:t>[-1...1] </a:t>
          </a:r>
          <a:r>
            <a:rPr kumimoji="1" lang="ko-KR"/>
            <a:t>또는 </a:t>
          </a:r>
          <a:r>
            <a:rPr kumimoji="1" lang="en-US"/>
            <a:t>[0...1] </a:t>
          </a:r>
          <a:r>
            <a:rPr kumimoji="1" lang="ko-KR"/>
            <a:t>간격으로 스케일링하는 것이 합리적</a:t>
          </a:r>
          <a:endParaRPr lang="en-US"/>
        </a:p>
      </dgm:t>
    </dgm:pt>
    <dgm:pt modelId="{829B900E-D6A7-4737-AB52-7D43C3BA53F1}" type="parTrans" cxnId="{3AF2D391-4E6B-407C-B955-111155480A7C}">
      <dgm:prSet/>
      <dgm:spPr/>
      <dgm:t>
        <a:bodyPr/>
        <a:lstStyle/>
        <a:p>
          <a:endParaRPr lang="en-US"/>
        </a:p>
      </dgm:t>
    </dgm:pt>
    <dgm:pt modelId="{F4997FD2-5A81-4F1E-81B9-4E93C1AEF49D}" type="sibTrans" cxnId="{3AF2D391-4E6B-407C-B955-111155480A7C}">
      <dgm:prSet/>
      <dgm:spPr/>
      <dgm:t>
        <a:bodyPr/>
        <a:lstStyle/>
        <a:p>
          <a:endParaRPr lang="en-US"/>
        </a:p>
      </dgm:t>
    </dgm:pt>
    <dgm:pt modelId="{60D4E83E-BEF6-F54D-A2BD-13415CE452B6}" type="pres">
      <dgm:prSet presAssocID="{D0E4FA43-0E35-4D08-A393-4A33FBBDC065}" presName="Name0" presStyleCnt="0">
        <dgm:presLayoutVars>
          <dgm:dir/>
          <dgm:animLvl val="lvl"/>
          <dgm:resizeHandles val="exact"/>
        </dgm:presLayoutVars>
      </dgm:prSet>
      <dgm:spPr/>
    </dgm:pt>
    <dgm:pt modelId="{1DFA91FD-BC14-7448-9A35-7DAAEFFB2B33}" type="pres">
      <dgm:prSet presAssocID="{753F7DDC-182B-4000-985A-8DAC895776A6}" presName="boxAndChildren" presStyleCnt="0"/>
      <dgm:spPr/>
    </dgm:pt>
    <dgm:pt modelId="{931572E0-1CE6-8D40-AC1F-D424FEA8CB8E}" type="pres">
      <dgm:prSet presAssocID="{753F7DDC-182B-4000-985A-8DAC895776A6}" presName="parentTextBox" presStyleLbl="node1" presStyleIdx="0" presStyleCnt="2"/>
      <dgm:spPr/>
    </dgm:pt>
    <dgm:pt modelId="{C11574F6-7F57-0941-A008-6202849763F9}" type="pres">
      <dgm:prSet presAssocID="{649A000D-857C-4907-BCE4-1784E6BAF26B}" presName="sp" presStyleCnt="0"/>
      <dgm:spPr/>
    </dgm:pt>
    <dgm:pt modelId="{1AC4EFF9-11EF-4D45-95DB-A05532AF0252}" type="pres">
      <dgm:prSet presAssocID="{4B4EC9C1-6556-4D12-BE82-426B9E1B61C6}" presName="arrowAndChildren" presStyleCnt="0"/>
      <dgm:spPr/>
    </dgm:pt>
    <dgm:pt modelId="{60F34B88-3A3D-B847-9D16-D001E8004887}" type="pres">
      <dgm:prSet presAssocID="{4B4EC9C1-6556-4D12-BE82-426B9E1B61C6}" presName="parentTextArrow" presStyleLbl="node1" presStyleIdx="0" presStyleCnt="2"/>
      <dgm:spPr/>
    </dgm:pt>
    <dgm:pt modelId="{B5A63909-7D44-1646-B3B7-2AD569EFF733}" type="pres">
      <dgm:prSet presAssocID="{4B4EC9C1-6556-4D12-BE82-426B9E1B61C6}" presName="arrow" presStyleLbl="node1" presStyleIdx="1" presStyleCnt="2"/>
      <dgm:spPr/>
    </dgm:pt>
    <dgm:pt modelId="{EE950CE0-02D3-164A-8BED-242515718032}" type="pres">
      <dgm:prSet presAssocID="{4B4EC9C1-6556-4D12-BE82-426B9E1B61C6}" presName="descendantArrow" presStyleCnt="0"/>
      <dgm:spPr/>
    </dgm:pt>
    <dgm:pt modelId="{7E92225F-0C14-434F-92A2-B4496FD1D694}" type="pres">
      <dgm:prSet presAssocID="{ABFB9271-C322-4471-AEE3-3CE2E200E814}" presName="childTextArrow" presStyleLbl="fgAccFollowNode1" presStyleIdx="0" presStyleCnt="2">
        <dgm:presLayoutVars>
          <dgm:bulletEnabled val="1"/>
        </dgm:presLayoutVars>
      </dgm:prSet>
      <dgm:spPr/>
    </dgm:pt>
    <dgm:pt modelId="{A9EA3C52-0951-6E40-9E9D-D69EF03C8DE4}" type="pres">
      <dgm:prSet presAssocID="{DACB0113-35CD-40BE-AFB4-AB23AF5EA26A}" presName="childTextArrow" presStyleLbl="fgAccFollowNode1" presStyleIdx="1" presStyleCnt="2">
        <dgm:presLayoutVars>
          <dgm:bulletEnabled val="1"/>
        </dgm:presLayoutVars>
      </dgm:prSet>
      <dgm:spPr/>
    </dgm:pt>
  </dgm:ptLst>
  <dgm:cxnLst>
    <dgm:cxn modelId="{F9A0CA03-FB13-D546-A796-80CFB29A86E7}" type="presOf" srcId="{DACB0113-35CD-40BE-AFB4-AB23AF5EA26A}" destId="{A9EA3C52-0951-6E40-9E9D-D69EF03C8DE4}" srcOrd="0" destOrd="0" presId="urn:microsoft.com/office/officeart/2005/8/layout/process4"/>
    <dgm:cxn modelId="{8419EC0E-10F9-6B42-802A-A748580416B0}" type="presOf" srcId="{4B4EC9C1-6556-4D12-BE82-426B9E1B61C6}" destId="{B5A63909-7D44-1646-B3B7-2AD569EFF733}" srcOrd="1" destOrd="0" presId="urn:microsoft.com/office/officeart/2005/8/layout/process4"/>
    <dgm:cxn modelId="{4A7C6015-342C-4B64-9D56-DCE4DB3C21DC}" srcId="{4B4EC9C1-6556-4D12-BE82-426B9E1B61C6}" destId="{ABFB9271-C322-4471-AEE3-3CE2E200E814}" srcOrd="0" destOrd="0" parTransId="{4C46C0BF-D650-4461-95CB-E798877CFD6E}" sibTransId="{C0402620-863E-4F53-A59C-4655C439C644}"/>
    <dgm:cxn modelId="{6BC7602A-2B0F-C746-9BF4-4861E965EE0C}" type="presOf" srcId="{ABFB9271-C322-4471-AEE3-3CE2E200E814}" destId="{7E92225F-0C14-434F-92A2-B4496FD1D694}" srcOrd="0" destOrd="0" presId="urn:microsoft.com/office/officeart/2005/8/layout/process4"/>
    <dgm:cxn modelId="{58D94286-E11C-4C26-9124-F4297B7A373D}" srcId="{4B4EC9C1-6556-4D12-BE82-426B9E1B61C6}" destId="{DACB0113-35CD-40BE-AFB4-AB23AF5EA26A}" srcOrd="1" destOrd="0" parTransId="{3AFCCFD4-78DD-48F0-BDF9-953C4748E5BC}" sibTransId="{B0A721FB-CD5A-40D5-A7CE-61998C398B1C}"/>
    <dgm:cxn modelId="{3AF2D391-4E6B-407C-B955-111155480A7C}" srcId="{D0E4FA43-0E35-4D08-A393-4A33FBBDC065}" destId="{753F7DDC-182B-4000-985A-8DAC895776A6}" srcOrd="1" destOrd="0" parTransId="{829B900E-D6A7-4737-AB52-7D43C3BA53F1}" sibTransId="{F4997FD2-5A81-4F1E-81B9-4E93C1AEF49D}"/>
    <dgm:cxn modelId="{016DA1A1-3044-B845-AF88-9461D26C6B2A}" type="presOf" srcId="{4B4EC9C1-6556-4D12-BE82-426B9E1B61C6}" destId="{60F34B88-3A3D-B847-9D16-D001E8004887}" srcOrd="0" destOrd="0" presId="urn:microsoft.com/office/officeart/2005/8/layout/process4"/>
    <dgm:cxn modelId="{8EDF72AC-8401-B84C-8555-86AB8D1695A8}" type="presOf" srcId="{D0E4FA43-0E35-4D08-A393-4A33FBBDC065}" destId="{60D4E83E-BEF6-F54D-A2BD-13415CE452B6}" srcOrd="0" destOrd="0" presId="urn:microsoft.com/office/officeart/2005/8/layout/process4"/>
    <dgm:cxn modelId="{EDD96EAF-869A-4321-AC0F-AD0D42A40D28}" srcId="{D0E4FA43-0E35-4D08-A393-4A33FBBDC065}" destId="{4B4EC9C1-6556-4D12-BE82-426B9E1B61C6}" srcOrd="0" destOrd="0" parTransId="{722755F1-2093-4709-9E0C-910ED63812DC}" sibTransId="{649A000D-857C-4907-BCE4-1784E6BAF26B}"/>
    <dgm:cxn modelId="{958EADDD-7B59-0E47-AFFD-F67B20A7026F}" type="presOf" srcId="{753F7DDC-182B-4000-985A-8DAC895776A6}" destId="{931572E0-1CE6-8D40-AC1F-D424FEA8CB8E}" srcOrd="0" destOrd="0" presId="urn:microsoft.com/office/officeart/2005/8/layout/process4"/>
    <dgm:cxn modelId="{956B6D65-7238-5F4E-9D39-282E7E3BE7DE}" type="presParOf" srcId="{60D4E83E-BEF6-F54D-A2BD-13415CE452B6}" destId="{1DFA91FD-BC14-7448-9A35-7DAAEFFB2B33}" srcOrd="0" destOrd="0" presId="urn:microsoft.com/office/officeart/2005/8/layout/process4"/>
    <dgm:cxn modelId="{869E6AD4-1C21-3048-AE80-61900B6F5BE3}" type="presParOf" srcId="{1DFA91FD-BC14-7448-9A35-7DAAEFFB2B33}" destId="{931572E0-1CE6-8D40-AC1F-D424FEA8CB8E}" srcOrd="0" destOrd="0" presId="urn:microsoft.com/office/officeart/2005/8/layout/process4"/>
    <dgm:cxn modelId="{C8018761-767F-DB4B-B001-72EB00C26776}" type="presParOf" srcId="{60D4E83E-BEF6-F54D-A2BD-13415CE452B6}" destId="{C11574F6-7F57-0941-A008-6202849763F9}" srcOrd="1" destOrd="0" presId="urn:microsoft.com/office/officeart/2005/8/layout/process4"/>
    <dgm:cxn modelId="{1CC7AB77-4FA4-B443-BC6B-1FF99BA99FDD}" type="presParOf" srcId="{60D4E83E-BEF6-F54D-A2BD-13415CE452B6}" destId="{1AC4EFF9-11EF-4D45-95DB-A05532AF0252}" srcOrd="2" destOrd="0" presId="urn:microsoft.com/office/officeart/2005/8/layout/process4"/>
    <dgm:cxn modelId="{1978B844-4E10-6F4B-9CE9-FCBD092E49F1}" type="presParOf" srcId="{1AC4EFF9-11EF-4D45-95DB-A05532AF0252}" destId="{60F34B88-3A3D-B847-9D16-D001E8004887}" srcOrd="0" destOrd="0" presId="urn:microsoft.com/office/officeart/2005/8/layout/process4"/>
    <dgm:cxn modelId="{4C06825D-9528-A54E-B8D3-19C2933FFB9B}" type="presParOf" srcId="{1AC4EFF9-11EF-4D45-95DB-A05532AF0252}" destId="{B5A63909-7D44-1646-B3B7-2AD569EFF733}" srcOrd="1" destOrd="0" presId="urn:microsoft.com/office/officeart/2005/8/layout/process4"/>
    <dgm:cxn modelId="{5533E3EB-0E5B-9A48-BBB9-02232F80FB78}" type="presParOf" srcId="{1AC4EFF9-11EF-4D45-95DB-A05532AF0252}" destId="{EE950CE0-02D3-164A-8BED-242515718032}" srcOrd="2" destOrd="0" presId="urn:microsoft.com/office/officeart/2005/8/layout/process4"/>
    <dgm:cxn modelId="{5618D165-84EE-DC42-A7DE-A6E58055F44D}" type="presParOf" srcId="{EE950CE0-02D3-164A-8BED-242515718032}" destId="{7E92225F-0C14-434F-92A2-B4496FD1D694}" srcOrd="0" destOrd="0" presId="urn:microsoft.com/office/officeart/2005/8/layout/process4"/>
    <dgm:cxn modelId="{C25C8E05-87D0-5847-8E3F-4720CA6DFEDC}" type="presParOf" srcId="{EE950CE0-02D3-164A-8BED-242515718032}" destId="{A9EA3C52-0951-6E40-9E9D-D69EF03C8DE4}" srcOrd="1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4606B2F-E878-4BAC-9AFF-6B6B20068AA5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50FC720-4741-46B9-B077-209EB625F2E2}">
      <dgm:prSet/>
      <dgm:spPr/>
      <dgm:t>
        <a:bodyPr/>
        <a:lstStyle/>
        <a:p>
          <a:r>
            <a:rPr kumimoji="1" lang="ko-KR"/>
            <a:t>가중치를 적절하게 초기화하더라도 훈련 중에 가중치가 임의로 커지거나 작아질 수 있으며</a:t>
          </a:r>
          <a:r>
            <a:rPr kumimoji="1" lang="en-US"/>
            <a:t>, </a:t>
          </a:r>
          <a:r>
            <a:rPr kumimoji="1" lang="ko-KR"/>
            <a:t>이로 인해 신호가 적절한 범위를 벗어날 수 있음</a:t>
          </a:r>
          <a:endParaRPr lang="en-US"/>
        </a:p>
      </dgm:t>
    </dgm:pt>
    <dgm:pt modelId="{B093B008-47EA-4399-9E08-733D524ED230}" type="parTrans" cxnId="{D7B7FAA0-51B5-42BA-96CF-708D8B7C515D}">
      <dgm:prSet/>
      <dgm:spPr/>
      <dgm:t>
        <a:bodyPr/>
        <a:lstStyle/>
        <a:p>
          <a:endParaRPr lang="en-US"/>
        </a:p>
      </dgm:t>
    </dgm:pt>
    <dgm:pt modelId="{B05D5E1F-54EA-4CDB-9102-FE3977966F4D}" type="sibTrans" cxnId="{D7B7FAA0-51B5-42BA-96CF-708D8B7C515D}">
      <dgm:prSet/>
      <dgm:spPr/>
      <dgm:t>
        <a:bodyPr/>
        <a:lstStyle/>
        <a:p>
          <a:endParaRPr lang="en-US"/>
        </a:p>
      </dgm:t>
    </dgm:pt>
    <dgm:pt modelId="{4D642189-35D8-4F22-9B31-B94AE4E8814C}">
      <dgm:prSet/>
      <dgm:spPr/>
      <dgm:t>
        <a:bodyPr/>
        <a:lstStyle/>
        <a:p>
          <a:r>
            <a:rPr kumimoji="1" lang="ko-KR"/>
            <a:t>정규화 기법 중 하나를 사용하여 신호를 원래대로 되돌릴 수 있는데</a:t>
          </a:r>
          <a:r>
            <a:rPr kumimoji="1" lang="en-US"/>
            <a:t> </a:t>
          </a:r>
          <a:r>
            <a:rPr kumimoji="1" lang="ko-KR"/>
            <a:t>가중치 정규화</a:t>
          </a:r>
          <a:r>
            <a:rPr kumimoji="1" lang="en-US"/>
            <a:t>, </a:t>
          </a:r>
          <a:r>
            <a:rPr kumimoji="1" lang="ko-KR"/>
            <a:t>레이어 정규화 등 여러 가지가 있지만</a:t>
          </a:r>
          <a:r>
            <a:rPr kumimoji="1" lang="en-US"/>
            <a:t>, </a:t>
          </a:r>
          <a:r>
            <a:rPr kumimoji="1" lang="ko-KR"/>
            <a:t>가장 자주 사용되는 것은 배치 정규화</a:t>
          </a:r>
          <a:endParaRPr lang="en-US"/>
        </a:p>
      </dgm:t>
    </dgm:pt>
    <dgm:pt modelId="{270F67E2-9789-4946-A5A3-9B72A9C74281}" type="parTrans" cxnId="{B6EB407C-A098-4E02-8060-5A078A5A4097}">
      <dgm:prSet/>
      <dgm:spPr/>
      <dgm:t>
        <a:bodyPr/>
        <a:lstStyle/>
        <a:p>
          <a:endParaRPr lang="en-US"/>
        </a:p>
      </dgm:t>
    </dgm:pt>
    <dgm:pt modelId="{176B71F2-000A-4830-9A23-87AB40E525F7}" type="sibTrans" cxnId="{B6EB407C-A098-4E02-8060-5A078A5A4097}">
      <dgm:prSet/>
      <dgm:spPr/>
      <dgm:t>
        <a:bodyPr/>
        <a:lstStyle/>
        <a:p>
          <a:endParaRPr lang="en-US"/>
        </a:p>
      </dgm:t>
    </dgm:pt>
    <dgm:pt modelId="{E2837CA5-2DC3-4D30-A645-CB927E1CC62F}">
      <dgm:prSet/>
      <dgm:spPr/>
      <dgm:t>
        <a:bodyPr/>
        <a:lstStyle/>
        <a:p>
          <a:r>
            <a:rPr kumimoji="1" lang="ko-KR"/>
            <a:t>배치 정규화의 개념은 미니배치 전체의 모든 값을 고려하고 그 값을 기반으로 정규화</a:t>
          </a:r>
          <a:r>
            <a:rPr kumimoji="1" lang="en-US"/>
            <a:t>(</a:t>
          </a:r>
          <a:r>
            <a:rPr kumimoji="1" lang="ko-KR"/>
            <a:t>즉</a:t>
          </a:r>
          <a:r>
            <a:rPr kumimoji="1" lang="en-US"/>
            <a:t>, </a:t>
          </a:r>
          <a:r>
            <a:rPr kumimoji="1" lang="ko-KR"/>
            <a:t>평균을 빼고 표준편차로 나누는 것</a:t>
          </a:r>
          <a:r>
            <a:rPr kumimoji="1" lang="en-US"/>
            <a:t>)</a:t>
          </a:r>
          <a:r>
            <a:rPr kumimoji="1" lang="ko-KR"/>
            <a:t>를 수행하는 것</a:t>
          </a:r>
          <a:endParaRPr lang="en-US"/>
        </a:p>
      </dgm:t>
    </dgm:pt>
    <dgm:pt modelId="{95374935-EE01-4850-8376-FAF888278DA5}" type="parTrans" cxnId="{B0D7801F-3DE0-42E6-8271-3E200DA5D2C7}">
      <dgm:prSet/>
      <dgm:spPr/>
      <dgm:t>
        <a:bodyPr/>
        <a:lstStyle/>
        <a:p>
          <a:endParaRPr lang="en-US"/>
        </a:p>
      </dgm:t>
    </dgm:pt>
    <dgm:pt modelId="{EF858CA2-60BC-44A6-AC22-777D07B824FB}" type="sibTrans" cxnId="{B0D7801F-3DE0-42E6-8271-3E200DA5D2C7}">
      <dgm:prSet/>
      <dgm:spPr/>
      <dgm:t>
        <a:bodyPr/>
        <a:lstStyle/>
        <a:p>
          <a:endParaRPr lang="en-US"/>
        </a:p>
      </dgm:t>
    </dgm:pt>
    <dgm:pt modelId="{2612027B-8E30-40D4-B707-47BE660BEA7F}">
      <dgm:prSet/>
      <dgm:spPr/>
      <dgm:t>
        <a:bodyPr/>
        <a:lstStyle/>
        <a:p>
          <a:r>
            <a:rPr kumimoji="1" lang="ko-KR"/>
            <a:t>가중치를 적용한 후 활성화 함수 이전에 이 정규화를 수행하는 네트워크 계층으로 구현</a:t>
          </a:r>
          <a:endParaRPr lang="en-US"/>
        </a:p>
      </dgm:t>
    </dgm:pt>
    <dgm:pt modelId="{731A59EC-61DE-4227-BA1A-DC0D5B2555F0}" type="parTrans" cxnId="{1D556FE2-A1C5-4EE7-AC2C-F11D0FEC98EA}">
      <dgm:prSet/>
      <dgm:spPr/>
      <dgm:t>
        <a:bodyPr/>
        <a:lstStyle/>
        <a:p>
          <a:endParaRPr lang="en-US"/>
        </a:p>
      </dgm:t>
    </dgm:pt>
    <dgm:pt modelId="{A5F8E6F8-B797-4998-B54D-A7B56D3F410A}" type="sibTrans" cxnId="{1D556FE2-A1C5-4EE7-AC2C-F11D0FEC98EA}">
      <dgm:prSet/>
      <dgm:spPr/>
      <dgm:t>
        <a:bodyPr/>
        <a:lstStyle/>
        <a:p>
          <a:endParaRPr lang="en-US"/>
        </a:p>
      </dgm:t>
    </dgm:pt>
    <dgm:pt modelId="{1A3ECA52-7FC6-4198-A439-81F698DA9967}">
      <dgm:prSet/>
      <dgm:spPr/>
      <dgm:t>
        <a:bodyPr/>
        <a:lstStyle/>
        <a:p>
          <a:r>
            <a:rPr kumimoji="1" lang="ko-KR"/>
            <a:t>결과적으로 최종 정확도가 높아지고 학습 속도가 빨라질 수 있음</a:t>
          </a:r>
          <a:endParaRPr lang="en-US"/>
        </a:p>
      </dgm:t>
    </dgm:pt>
    <dgm:pt modelId="{CDBB22B6-48DA-47DB-860D-BA4D2C5D8335}" type="parTrans" cxnId="{6B3ECF18-1872-416B-9798-8ABC29E96DAD}">
      <dgm:prSet/>
      <dgm:spPr/>
      <dgm:t>
        <a:bodyPr/>
        <a:lstStyle/>
        <a:p>
          <a:endParaRPr lang="en-US"/>
        </a:p>
      </dgm:t>
    </dgm:pt>
    <dgm:pt modelId="{6D617F3D-434A-43AC-9DD0-F42EF55070A3}" type="sibTrans" cxnId="{6B3ECF18-1872-416B-9798-8ABC29E96DAD}">
      <dgm:prSet/>
      <dgm:spPr/>
      <dgm:t>
        <a:bodyPr/>
        <a:lstStyle/>
        <a:p>
          <a:endParaRPr lang="en-US"/>
        </a:p>
      </dgm:t>
    </dgm:pt>
    <dgm:pt modelId="{6EF37B64-D98D-5548-95B7-0E080D7CC52C}" type="pres">
      <dgm:prSet presAssocID="{94606B2F-E878-4BAC-9AFF-6B6B20068AA5}" presName="Name0" presStyleCnt="0">
        <dgm:presLayoutVars>
          <dgm:dir/>
          <dgm:animLvl val="lvl"/>
          <dgm:resizeHandles val="exact"/>
        </dgm:presLayoutVars>
      </dgm:prSet>
      <dgm:spPr/>
    </dgm:pt>
    <dgm:pt modelId="{8D752FAB-FBA8-5B45-80C0-14A43EE39DA5}" type="pres">
      <dgm:prSet presAssocID="{B50FC720-4741-46B9-B077-209EB625F2E2}" presName="linNode" presStyleCnt="0"/>
      <dgm:spPr/>
    </dgm:pt>
    <dgm:pt modelId="{976EAEDD-EA1D-924F-8071-6085B8A1AE51}" type="pres">
      <dgm:prSet presAssocID="{B50FC720-4741-46B9-B077-209EB625F2E2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F0FBA27D-861E-5841-8AC3-95B18E287F12}" type="pres">
      <dgm:prSet presAssocID="{B50FC720-4741-46B9-B077-209EB625F2E2}" presName="descendantText" presStyleLbl="alignAccFollowNode1" presStyleIdx="0" presStyleCnt="2">
        <dgm:presLayoutVars>
          <dgm:bulletEnabled val="1"/>
        </dgm:presLayoutVars>
      </dgm:prSet>
      <dgm:spPr/>
    </dgm:pt>
    <dgm:pt modelId="{4017DD4D-CB4D-C545-A83F-B0383D37E862}" type="pres">
      <dgm:prSet presAssocID="{B05D5E1F-54EA-4CDB-9102-FE3977966F4D}" presName="sp" presStyleCnt="0"/>
      <dgm:spPr/>
    </dgm:pt>
    <dgm:pt modelId="{730163EA-EE23-6446-BCDE-04EC14CDE5B2}" type="pres">
      <dgm:prSet presAssocID="{E2837CA5-2DC3-4D30-A645-CB927E1CC62F}" presName="linNode" presStyleCnt="0"/>
      <dgm:spPr/>
    </dgm:pt>
    <dgm:pt modelId="{5F1F5335-E011-6040-BFF0-0F3FC6B11DF4}" type="pres">
      <dgm:prSet presAssocID="{E2837CA5-2DC3-4D30-A645-CB927E1CC62F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4C1F442F-588E-A341-BEB9-CB02BBEE15C0}" type="pres">
      <dgm:prSet presAssocID="{E2837CA5-2DC3-4D30-A645-CB927E1CC62F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6B3ECF18-1872-416B-9798-8ABC29E96DAD}" srcId="{E2837CA5-2DC3-4D30-A645-CB927E1CC62F}" destId="{1A3ECA52-7FC6-4198-A439-81F698DA9967}" srcOrd="1" destOrd="0" parTransId="{CDBB22B6-48DA-47DB-860D-BA4D2C5D8335}" sibTransId="{6D617F3D-434A-43AC-9DD0-F42EF55070A3}"/>
    <dgm:cxn modelId="{B0D7801F-3DE0-42E6-8271-3E200DA5D2C7}" srcId="{94606B2F-E878-4BAC-9AFF-6B6B20068AA5}" destId="{E2837CA5-2DC3-4D30-A645-CB927E1CC62F}" srcOrd="1" destOrd="0" parTransId="{95374935-EE01-4850-8376-FAF888278DA5}" sibTransId="{EF858CA2-60BC-44A6-AC22-777D07B824FB}"/>
    <dgm:cxn modelId="{36AE2B34-22B5-4645-B6B4-36177A92CC87}" type="presOf" srcId="{E2837CA5-2DC3-4D30-A645-CB927E1CC62F}" destId="{5F1F5335-E011-6040-BFF0-0F3FC6B11DF4}" srcOrd="0" destOrd="0" presId="urn:microsoft.com/office/officeart/2005/8/layout/vList5"/>
    <dgm:cxn modelId="{B6EB407C-A098-4E02-8060-5A078A5A4097}" srcId="{B50FC720-4741-46B9-B077-209EB625F2E2}" destId="{4D642189-35D8-4F22-9B31-B94AE4E8814C}" srcOrd="0" destOrd="0" parTransId="{270F67E2-9789-4946-A5A3-9B72A9C74281}" sibTransId="{176B71F2-000A-4830-9A23-87AB40E525F7}"/>
    <dgm:cxn modelId="{D7B7FAA0-51B5-42BA-96CF-708D8B7C515D}" srcId="{94606B2F-E878-4BAC-9AFF-6B6B20068AA5}" destId="{B50FC720-4741-46B9-B077-209EB625F2E2}" srcOrd="0" destOrd="0" parTransId="{B093B008-47EA-4399-9E08-733D524ED230}" sibTransId="{B05D5E1F-54EA-4CDB-9102-FE3977966F4D}"/>
    <dgm:cxn modelId="{7C9DCABB-A3B4-0C4A-A406-A473AD4E31C3}" type="presOf" srcId="{4D642189-35D8-4F22-9B31-B94AE4E8814C}" destId="{F0FBA27D-861E-5841-8AC3-95B18E287F12}" srcOrd="0" destOrd="0" presId="urn:microsoft.com/office/officeart/2005/8/layout/vList5"/>
    <dgm:cxn modelId="{598DCDC5-78E7-7C4C-8E78-CDD0D43DD69E}" type="presOf" srcId="{1A3ECA52-7FC6-4198-A439-81F698DA9967}" destId="{4C1F442F-588E-A341-BEB9-CB02BBEE15C0}" srcOrd="0" destOrd="1" presId="urn:microsoft.com/office/officeart/2005/8/layout/vList5"/>
    <dgm:cxn modelId="{17E300C6-53AD-244D-A41F-97D7866BE044}" type="presOf" srcId="{2612027B-8E30-40D4-B707-47BE660BEA7F}" destId="{4C1F442F-588E-A341-BEB9-CB02BBEE15C0}" srcOrd="0" destOrd="0" presId="urn:microsoft.com/office/officeart/2005/8/layout/vList5"/>
    <dgm:cxn modelId="{7D172DE0-4715-8340-AF04-246609BAD670}" type="presOf" srcId="{B50FC720-4741-46B9-B077-209EB625F2E2}" destId="{976EAEDD-EA1D-924F-8071-6085B8A1AE51}" srcOrd="0" destOrd="0" presId="urn:microsoft.com/office/officeart/2005/8/layout/vList5"/>
    <dgm:cxn modelId="{1D556FE2-A1C5-4EE7-AC2C-F11D0FEC98EA}" srcId="{E2837CA5-2DC3-4D30-A645-CB927E1CC62F}" destId="{2612027B-8E30-40D4-B707-47BE660BEA7F}" srcOrd="0" destOrd="0" parTransId="{731A59EC-61DE-4227-BA1A-DC0D5B2555F0}" sibTransId="{A5F8E6F8-B797-4998-B54D-A7B56D3F410A}"/>
    <dgm:cxn modelId="{627BE6E3-D9DE-244B-9512-1CDEEF7445E9}" type="presOf" srcId="{94606B2F-E878-4BAC-9AFF-6B6B20068AA5}" destId="{6EF37B64-D98D-5548-95B7-0E080D7CC52C}" srcOrd="0" destOrd="0" presId="urn:microsoft.com/office/officeart/2005/8/layout/vList5"/>
    <dgm:cxn modelId="{3EB17EED-E918-6B4F-A235-63A7517E34CF}" type="presParOf" srcId="{6EF37B64-D98D-5548-95B7-0E080D7CC52C}" destId="{8D752FAB-FBA8-5B45-80C0-14A43EE39DA5}" srcOrd="0" destOrd="0" presId="urn:microsoft.com/office/officeart/2005/8/layout/vList5"/>
    <dgm:cxn modelId="{B5BD486D-500B-AE4C-AFE5-C9A9AF2E7AFE}" type="presParOf" srcId="{8D752FAB-FBA8-5B45-80C0-14A43EE39DA5}" destId="{976EAEDD-EA1D-924F-8071-6085B8A1AE51}" srcOrd="0" destOrd="0" presId="urn:microsoft.com/office/officeart/2005/8/layout/vList5"/>
    <dgm:cxn modelId="{2B50A665-4E3A-A949-815C-3D9BBDFA13AF}" type="presParOf" srcId="{8D752FAB-FBA8-5B45-80C0-14A43EE39DA5}" destId="{F0FBA27D-861E-5841-8AC3-95B18E287F12}" srcOrd="1" destOrd="0" presId="urn:microsoft.com/office/officeart/2005/8/layout/vList5"/>
    <dgm:cxn modelId="{0AEB9E84-ED5A-F845-8486-0BCE045C5ECF}" type="presParOf" srcId="{6EF37B64-D98D-5548-95B7-0E080D7CC52C}" destId="{4017DD4D-CB4D-C545-A83F-B0383D37E862}" srcOrd="1" destOrd="0" presId="urn:microsoft.com/office/officeart/2005/8/layout/vList5"/>
    <dgm:cxn modelId="{0A5279AC-5AB0-C244-9AFB-9E44E76B8710}" type="presParOf" srcId="{6EF37B64-D98D-5548-95B7-0E080D7CC52C}" destId="{730163EA-EE23-6446-BCDE-04EC14CDE5B2}" srcOrd="2" destOrd="0" presId="urn:microsoft.com/office/officeart/2005/8/layout/vList5"/>
    <dgm:cxn modelId="{95B40326-9A24-F14D-B36E-003DF4D19FBD}" type="presParOf" srcId="{730163EA-EE23-6446-BCDE-04EC14CDE5B2}" destId="{5F1F5335-E011-6040-BFF0-0F3FC6B11DF4}" srcOrd="0" destOrd="0" presId="urn:microsoft.com/office/officeart/2005/8/layout/vList5"/>
    <dgm:cxn modelId="{F5AACE7E-9DE6-6249-97DC-A385530BD3F3}" type="presParOf" srcId="{730163EA-EE23-6446-BCDE-04EC14CDE5B2}" destId="{4C1F442F-588E-A341-BEB9-CB02BBEE15C0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1209531-9D73-4954-8B93-8948207CB3DA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525603C-601A-4668-95C8-CF4D00E021ED}">
      <dgm:prSet/>
      <dgm:spPr/>
      <dgm:t>
        <a:bodyPr/>
        <a:lstStyle/>
        <a:p>
          <a:r>
            <a:rPr kumimoji="1" lang="ko-KR"/>
            <a:t>드롭아웃은 훈련 중에 특정 비율의 무작위 뉴런을 제거하는 기법</a:t>
          </a:r>
          <a:endParaRPr lang="en-US"/>
        </a:p>
      </dgm:t>
    </dgm:pt>
    <dgm:pt modelId="{8343ADB9-0025-44AB-BF1E-DBF77FCF5414}" type="parTrans" cxnId="{A0A79FCC-F20C-4A2A-8F93-D95109294092}">
      <dgm:prSet/>
      <dgm:spPr/>
      <dgm:t>
        <a:bodyPr/>
        <a:lstStyle/>
        <a:p>
          <a:endParaRPr lang="en-US"/>
        </a:p>
      </dgm:t>
    </dgm:pt>
    <dgm:pt modelId="{2B529AAE-9629-464F-B09C-C5FEA13644C7}" type="sibTrans" cxnId="{A0A79FCC-F20C-4A2A-8F93-D95109294092}">
      <dgm:prSet/>
      <dgm:spPr/>
      <dgm:t>
        <a:bodyPr/>
        <a:lstStyle/>
        <a:p>
          <a:endParaRPr lang="en-US"/>
        </a:p>
      </dgm:t>
    </dgm:pt>
    <dgm:pt modelId="{22FB6A63-C2D4-468A-BF2B-89AD4DDD6FDA}">
      <dgm:prSet/>
      <dgm:spPr/>
      <dgm:t>
        <a:bodyPr/>
        <a:lstStyle/>
        <a:p>
          <a:r>
            <a:rPr kumimoji="1" lang="ko-KR"/>
            <a:t>하나의 매개변수</a:t>
          </a:r>
          <a:r>
            <a:rPr kumimoji="1" lang="en-US"/>
            <a:t>(</a:t>
          </a:r>
          <a:r>
            <a:rPr kumimoji="1" lang="ko-KR"/>
            <a:t>제거할 뉴런의 비율</a:t>
          </a:r>
          <a:r>
            <a:rPr kumimoji="1" lang="en-US"/>
            <a:t>, </a:t>
          </a:r>
          <a:r>
            <a:rPr kumimoji="1" lang="ko-KR"/>
            <a:t>일반적으로 </a:t>
          </a:r>
          <a:r>
            <a:rPr kumimoji="1" lang="en-US"/>
            <a:t>10%~50%)</a:t>
          </a:r>
          <a:r>
            <a:rPr kumimoji="1" lang="ko-KR"/>
            <a:t>를 가진 레이어로 구현되며</a:t>
          </a:r>
          <a:r>
            <a:rPr kumimoji="1" lang="en-US"/>
            <a:t>, </a:t>
          </a:r>
          <a:r>
            <a:rPr kumimoji="1" lang="ko-KR"/>
            <a:t>훈련 중에 입력 벡터의 임의 요소를 </a:t>
          </a:r>
          <a:r>
            <a:rPr kumimoji="1" lang="en-US"/>
            <a:t>0</a:t>
          </a:r>
          <a:r>
            <a:rPr kumimoji="1" lang="ko-KR"/>
            <a:t>으로 만든 다음 다음 레이어로 전달</a:t>
          </a:r>
          <a:endParaRPr lang="en-US"/>
        </a:p>
      </dgm:t>
    </dgm:pt>
    <dgm:pt modelId="{3DC046BA-E90F-4C60-97F6-143948A4F26D}" type="parTrans" cxnId="{23AA5178-8595-4D8D-9782-FA2E4A260D65}">
      <dgm:prSet/>
      <dgm:spPr/>
      <dgm:t>
        <a:bodyPr/>
        <a:lstStyle/>
        <a:p>
          <a:endParaRPr lang="en-US"/>
        </a:p>
      </dgm:t>
    </dgm:pt>
    <dgm:pt modelId="{72DBB303-8242-4B2D-8DE4-02753DE6AED1}" type="sibTrans" cxnId="{23AA5178-8595-4D8D-9782-FA2E4A260D65}">
      <dgm:prSet/>
      <dgm:spPr/>
      <dgm:t>
        <a:bodyPr/>
        <a:lstStyle/>
        <a:p>
          <a:endParaRPr lang="en-US"/>
        </a:p>
      </dgm:t>
    </dgm:pt>
    <dgm:pt modelId="{4F442745-82C3-4F02-B420-38B133349900}">
      <dgm:prSet/>
      <dgm:spPr/>
      <dgm:t>
        <a:bodyPr/>
        <a:lstStyle/>
        <a:p>
          <a:r>
            <a:rPr kumimoji="1" lang="ko-KR"/>
            <a:t>드롭아웃을 통해 훈련 속도가 빨라지고 더 적은 훈련 시간으로 더 높은 정확도를 달성할 수 있음</a:t>
          </a:r>
          <a:endParaRPr lang="en-US"/>
        </a:p>
      </dgm:t>
    </dgm:pt>
    <dgm:pt modelId="{E38C02B2-9865-4E63-AD6A-36789CF82CFE}" type="parTrans" cxnId="{BBF1875B-E277-49DF-93E7-89D95E31B285}">
      <dgm:prSet/>
      <dgm:spPr/>
      <dgm:t>
        <a:bodyPr/>
        <a:lstStyle/>
        <a:p>
          <a:endParaRPr lang="en-US"/>
        </a:p>
      </dgm:t>
    </dgm:pt>
    <dgm:pt modelId="{2D4DD13D-8058-4F28-8C92-D7E5BC0193F4}" type="sibTrans" cxnId="{BBF1875B-E277-49DF-93E7-89D95E31B285}">
      <dgm:prSet/>
      <dgm:spPr/>
      <dgm:t>
        <a:bodyPr/>
        <a:lstStyle/>
        <a:p>
          <a:endParaRPr lang="en-US"/>
        </a:p>
      </dgm:t>
    </dgm:pt>
    <dgm:pt modelId="{B2BD66CC-4768-40B7-9C15-1190F3A3E033}">
      <dgm:prSet/>
      <dgm:spPr/>
      <dgm:t>
        <a:bodyPr/>
        <a:lstStyle/>
        <a:p>
          <a:r>
            <a:rPr kumimoji="1" lang="ko-KR"/>
            <a:t>이 효과는 몇 가지 방법으로 설명할 수 있음</a:t>
          </a:r>
          <a:endParaRPr lang="en-US"/>
        </a:p>
      </dgm:t>
    </dgm:pt>
    <dgm:pt modelId="{34EC90EE-94CD-4A90-96E7-FCAD41402277}" type="parTrans" cxnId="{2086F50C-2245-4CF1-BE74-AA9C182EF798}">
      <dgm:prSet/>
      <dgm:spPr/>
      <dgm:t>
        <a:bodyPr/>
        <a:lstStyle/>
        <a:p>
          <a:endParaRPr lang="en-US"/>
        </a:p>
      </dgm:t>
    </dgm:pt>
    <dgm:pt modelId="{E5C6983F-D2DC-44E6-B20C-43FA4A29AFAA}" type="sibTrans" cxnId="{2086F50C-2245-4CF1-BE74-AA9C182EF798}">
      <dgm:prSet/>
      <dgm:spPr/>
      <dgm:t>
        <a:bodyPr/>
        <a:lstStyle/>
        <a:p>
          <a:endParaRPr lang="en-US"/>
        </a:p>
      </dgm:t>
    </dgm:pt>
    <dgm:pt modelId="{64784A58-BC37-4DDB-8822-2C2DD0E67B90}">
      <dgm:prSet/>
      <dgm:spPr/>
      <dgm:t>
        <a:bodyPr/>
        <a:lstStyle/>
        <a:p>
          <a:r>
            <a:rPr kumimoji="1" lang="ko-KR"/>
            <a:t>모델에 무작위로 충격을 주는 요인으로 간주할 수 있으며</a:t>
          </a:r>
          <a:r>
            <a:rPr kumimoji="1" lang="en-US"/>
            <a:t>, </a:t>
          </a:r>
          <a:r>
            <a:rPr kumimoji="1" lang="ko-KR"/>
            <a:t>이는 로컬 최소값에서 최적화를 제거</a:t>
          </a:r>
          <a:endParaRPr lang="en-US"/>
        </a:p>
      </dgm:t>
    </dgm:pt>
    <dgm:pt modelId="{0A6BB74F-B009-4B46-80E2-E215076673A2}" type="parTrans" cxnId="{26B41734-14F3-402F-B753-F5BB15E1CCDD}">
      <dgm:prSet/>
      <dgm:spPr/>
      <dgm:t>
        <a:bodyPr/>
        <a:lstStyle/>
        <a:p>
          <a:endParaRPr lang="en-US"/>
        </a:p>
      </dgm:t>
    </dgm:pt>
    <dgm:pt modelId="{D8257D6C-E8A6-4E29-A84D-F2CBC82EB2E8}" type="sibTrans" cxnId="{26B41734-14F3-402F-B753-F5BB15E1CCDD}">
      <dgm:prSet/>
      <dgm:spPr/>
      <dgm:t>
        <a:bodyPr/>
        <a:lstStyle/>
        <a:p>
          <a:endParaRPr lang="en-US"/>
        </a:p>
      </dgm:t>
    </dgm:pt>
    <dgm:pt modelId="{F3112692-E1EF-435C-A9E1-C06E93F5EFB9}">
      <dgm:prSet/>
      <dgm:spPr/>
      <dgm:t>
        <a:bodyPr/>
        <a:lstStyle/>
        <a:p>
          <a:r>
            <a:rPr kumimoji="1" lang="ko-KR"/>
            <a:t>드롭아웃 중에 약간 다른 모델을 훈련한다고 말할 수 있기 때문에 암시적 모델 평균화로 간주할 수 있음</a:t>
          </a:r>
          <a:endParaRPr lang="en-US"/>
        </a:p>
      </dgm:t>
    </dgm:pt>
    <dgm:pt modelId="{FEC47A51-AB6F-4A89-969A-456396BE7870}" type="parTrans" cxnId="{FDDB0BCF-022E-4538-9CF2-898719EB6461}">
      <dgm:prSet/>
      <dgm:spPr/>
      <dgm:t>
        <a:bodyPr/>
        <a:lstStyle/>
        <a:p>
          <a:endParaRPr lang="en-US"/>
        </a:p>
      </dgm:t>
    </dgm:pt>
    <dgm:pt modelId="{84DCFC48-7ABB-4E87-9D7E-0DDDF9A96EE5}" type="sibTrans" cxnId="{FDDB0BCF-022E-4538-9CF2-898719EB6461}">
      <dgm:prSet/>
      <dgm:spPr/>
      <dgm:t>
        <a:bodyPr/>
        <a:lstStyle/>
        <a:p>
          <a:endParaRPr lang="en-US"/>
        </a:p>
      </dgm:t>
    </dgm:pt>
    <dgm:pt modelId="{DDADF929-E122-3C46-9FF0-930F7FB0CAC4}" type="pres">
      <dgm:prSet presAssocID="{B1209531-9D73-4954-8B93-8948207CB3DA}" presName="Name0" presStyleCnt="0">
        <dgm:presLayoutVars>
          <dgm:dir/>
          <dgm:animLvl val="lvl"/>
          <dgm:resizeHandles val="exact"/>
        </dgm:presLayoutVars>
      </dgm:prSet>
      <dgm:spPr/>
    </dgm:pt>
    <dgm:pt modelId="{E8528A3F-05BD-B342-B036-B834FD54F87E}" type="pres">
      <dgm:prSet presAssocID="{1525603C-601A-4668-95C8-CF4D00E021ED}" presName="composite" presStyleCnt="0"/>
      <dgm:spPr/>
    </dgm:pt>
    <dgm:pt modelId="{711ACBD3-9BD4-CD4E-918C-3D1900BB10C2}" type="pres">
      <dgm:prSet presAssocID="{1525603C-601A-4668-95C8-CF4D00E021ED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4316DCAD-9E4A-7F41-8DDB-AF8F4A0A8E3C}" type="pres">
      <dgm:prSet presAssocID="{1525603C-601A-4668-95C8-CF4D00E021ED}" presName="desTx" presStyleLbl="alignAccFollowNode1" presStyleIdx="0" presStyleCnt="3">
        <dgm:presLayoutVars>
          <dgm:bulletEnabled val="1"/>
        </dgm:presLayoutVars>
      </dgm:prSet>
      <dgm:spPr/>
    </dgm:pt>
    <dgm:pt modelId="{4C2891B0-2C6E-1F49-8E97-8CA1A57AB604}" type="pres">
      <dgm:prSet presAssocID="{2B529AAE-9629-464F-B09C-C5FEA13644C7}" presName="space" presStyleCnt="0"/>
      <dgm:spPr/>
    </dgm:pt>
    <dgm:pt modelId="{4B34CFC0-4B44-C542-98B4-6351421302A0}" type="pres">
      <dgm:prSet presAssocID="{4F442745-82C3-4F02-B420-38B133349900}" presName="composite" presStyleCnt="0"/>
      <dgm:spPr/>
    </dgm:pt>
    <dgm:pt modelId="{3D142FC0-F151-F643-A153-01841884F649}" type="pres">
      <dgm:prSet presAssocID="{4F442745-82C3-4F02-B420-38B133349900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FFAEB3B8-8A16-D143-8CE8-0FF6C38DDEDF}" type="pres">
      <dgm:prSet presAssocID="{4F442745-82C3-4F02-B420-38B133349900}" presName="desTx" presStyleLbl="alignAccFollowNode1" presStyleIdx="1" presStyleCnt="3">
        <dgm:presLayoutVars>
          <dgm:bulletEnabled val="1"/>
        </dgm:presLayoutVars>
      </dgm:prSet>
      <dgm:spPr/>
    </dgm:pt>
    <dgm:pt modelId="{4F3A54AD-AE6E-AA41-A799-CF69602A88C0}" type="pres">
      <dgm:prSet presAssocID="{2D4DD13D-8058-4F28-8C92-D7E5BC0193F4}" presName="space" presStyleCnt="0"/>
      <dgm:spPr/>
    </dgm:pt>
    <dgm:pt modelId="{D0F4818B-DF2D-374D-A290-A065022A3A23}" type="pres">
      <dgm:prSet presAssocID="{B2BD66CC-4768-40B7-9C15-1190F3A3E033}" presName="composite" presStyleCnt="0"/>
      <dgm:spPr/>
    </dgm:pt>
    <dgm:pt modelId="{541253C8-8EC4-8545-B4E3-D88777693F53}" type="pres">
      <dgm:prSet presAssocID="{B2BD66CC-4768-40B7-9C15-1190F3A3E033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4D7CB1CF-E651-D64A-8687-ED3866B6D4D0}" type="pres">
      <dgm:prSet presAssocID="{B2BD66CC-4768-40B7-9C15-1190F3A3E033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2086F50C-2245-4CF1-BE74-AA9C182EF798}" srcId="{B1209531-9D73-4954-8B93-8948207CB3DA}" destId="{B2BD66CC-4768-40B7-9C15-1190F3A3E033}" srcOrd="2" destOrd="0" parTransId="{34EC90EE-94CD-4A90-96E7-FCAD41402277}" sibTransId="{E5C6983F-D2DC-44E6-B20C-43FA4A29AFAA}"/>
    <dgm:cxn modelId="{C690140D-EB70-9644-AB04-DBD27AFBC9E3}" type="presOf" srcId="{4F442745-82C3-4F02-B420-38B133349900}" destId="{3D142FC0-F151-F643-A153-01841884F649}" srcOrd="0" destOrd="0" presId="urn:microsoft.com/office/officeart/2005/8/layout/hList1"/>
    <dgm:cxn modelId="{26B41734-14F3-402F-B753-F5BB15E1CCDD}" srcId="{B2BD66CC-4768-40B7-9C15-1190F3A3E033}" destId="{64784A58-BC37-4DDB-8822-2C2DD0E67B90}" srcOrd="0" destOrd="0" parTransId="{0A6BB74F-B009-4B46-80E2-E215076673A2}" sibTransId="{D8257D6C-E8A6-4E29-A84D-F2CBC82EB2E8}"/>
    <dgm:cxn modelId="{E8F30D3E-A403-D840-8785-DC2EE337BB86}" type="presOf" srcId="{B2BD66CC-4768-40B7-9C15-1190F3A3E033}" destId="{541253C8-8EC4-8545-B4E3-D88777693F53}" srcOrd="0" destOrd="0" presId="urn:microsoft.com/office/officeart/2005/8/layout/hList1"/>
    <dgm:cxn modelId="{BBF1875B-E277-49DF-93E7-89D95E31B285}" srcId="{B1209531-9D73-4954-8B93-8948207CB3DA}" destId="{4F442745-82C3-4F02-B420-38B133349900}" srcOrd="1" destOrd="0" parTransId="{E38C02B2-9865-4E63-AD6A-36789CF82CFE}" sibTransId="{2D4DD13D-8058-4F28-8C92-D7E5BC0193F4}"/>
    <dgm:cxn modelId="{23AA5178-8595-4D8D-9782-FA2E4A260D65}" srcId="{1525603C-601A-4668-95C8-CF4D00E021ED}" destId="{22FB6A63-C2D4-468A-BF2B-89AD4DDD6FDA}" srcOrd="0" destOrd="0" parTransId="{3DC046BA-E90F-4C60-97F6-143948A4F26D}" sibTransId="{72DBB303-8242-4B2D-8DE4-02753DE6AED1}"/>
    <dgm:cxn modelId="{E9EDE7AB-DDFC-A84B-9D19-A6DA3977DDD2}" type="presOf" srcId="{B1209531-9D73-4954-8B93-8948207CB3DA}" destId="{DDADF929-E122-3C46-9FF0-930F7FB0CAC4}" srcOrd="0" destOrd="0" presId="urn:microsoft.com/office/officeart/2005/8/layout/hList1"/>
    <dgm:cxn modelId="{AF7C39C8-94A5-0340-AAC4-5EB5BFBB8DEF}" type="presOf" srcId="{22FB6A63-C2D4-468A-BF2B-89AD4DDD6FDA}" destId="{4316DCAD-9E4A-7F41-8DDB-AF8F4A0A8E3C}" srcOrd="0" destOrd="0" presId="urn:microsoft.com/office/officeart/2005/8/layout/hList1"/>
    <dgm:cxn modelId="{4263BEC9-DE29-7243-89FE-AE40A9DC5819}" type="presOf" srcId="{64784A58-BC37-4DDB-8822-2C2DD0E67B90}" destId="{4D7CB1CF-E651-D64A-8687-ED3866B6D4D0}" srcOrd="0" destOrd="0" presId="urn:microsoft.com/office/officeart/2005/8/layout/hList1"/>
    <dgm:cxn modelId="{A0A79FCC-F20C-4A2A-8F93-D95109294092}" srcId="{B1209531-9D73-4954-8B93-8948207CB3DA}" destId="{1525603C-601A-4668-95C8-CF4D00E021ED}" srcOrd="0" destOrd="0" parTransId="{8343ADB9-0025-44AB-BF1E-DBF77FCF5414}" sibTransId="{2B529AAE-9629-464F-B09C-C5FEA13644C7}"/>
    <dgm:cxn modelId="{FDDB0BCF-022E-4538-9CF2-898719EB6461}" srcId="{B2BD66CC-4768-40B7-9C15-1190F3A3E033}" destId="{F3112692-E1EF-435C-A9E1-C06E93F5EFB9}" srcOrd="1" destOrd="0" parTransId="{FEC47A51-AB6F-4A89-969A-456396BE7870}" sibTransId="{84DCFC48-7ABB-4E87-9D7E-0DDDF9A96EE5}"/>
    <dgm:cxn modelId="{E27937CF-3C57-3240-B945-C00E0AB548DE}" type="presOf" srcId="{F3112692-E1EF-435C-A9E1-C06E93F5EFB9}" destId="{4D7CB1CF-E651-D64A-8687-ED3866B6D4D0}" srcOrd="0" destOrd="1" presId="urn:microsoft.com/office/officeart/2005/8/layout/hList1"/>
    <dgm:cxn modelId="{C3A578D8-4C35-3940-8E35-E8359D37C935}" type="presOf" srcId="{1525603C-601A-4668-95C8-CF4D00E021ED}" destId="{711ACBD3-9BD4-CD4E-918C-3D1900BB10C2}" srcOrd="0" destOrd="0" presId="urn:microsoft.com/office/officeart/2005/8/layout/hList1"/>
    <dgm:cxn modelId="{AD9E00C6-BFD6-AE48-8FB1-B815D90F8A4D}" type="presParOf" srcId="{DDADF929-E122-3C46-9FF0-930F7FB0CAC4}" destId="{E8528A3F-05BD-B342-B036-B834FD54F87E}" srcOrd="0" destOrd="0" presId="urn:microsoft.com/office/officeart/2005/8/layout/hList1"/>
    <dgm:cxn modelId="{A4AFD822-7558-9544-9506-7E4CAC409DDE}" type="presParOf" srcId="{E8528A3F-05BD-B342-B036-B834FD54F87E}" destId="{711ACBD3-9BD4-CD4E-918C-3D1900BB10C2}" srcOrd="0" destOrd="0" presId="urn:microsoft.com/office/officeart/2005/8/layout/hList1"/>
    <dgm:cxn modelId="{1AA8C7FB-9060-1945-82F9-5914C74C2401}" type="presParOf" srcId="{E8528A3F-05BD-B342-B036-B834FD54F87E}" destId="{4316DCAD-9E4A-7F41-8DDB-AF8F4A0A8E3C}" srcOrd="1" destOrd="0" presId="urn:microsoft.com/office/officeart/2005/8/layout/hList1"/>
    <dgm:cxn modelId="{6E6A36E6-575E-2E43-81CE-DF63396B9977}" type="presParOf" srcId="{DDADF929-E122-3C46-9FF0-930F7FB0CAC4}" destId="{4C2891B0-2C6E-1F49-8E97-8CA1A57AB604}" srcOrd="1" destOrd="0" presId="urn:microsoft.com/office/officeart/2005/8/layout/hList1"/>
    <dgm:cxn modelId="{E9750BB0-0C16-B54D-8847-793EC5768EF9}" type="presParOf" srcId="{DDADF929-E122-3C46-9FF0-930F7FB0CAC4}" destId="{4B34CFC0-4B44-C542-98B4-6351421302A0}" srcOrd="2" destOrd="0" presId="urn:microsoft.com/office/officeart/2005/8/layout/hList1"/>
    <dgm:cxn modelId="{95BA3F6B-FF10-E345-88DE-305D5CCCF7EB}" type="presParOf" srcId="{4B34CFC0-4B44-C542-98B4-6351421302A0}" destId="{3D142FC0-F151-F643-A153-01841884F649}" srcOrd="0" destOrd="0" presId="urn:microsoft.com/office/officeart/2005/8/layout/hList1"/>
    <dgm:cxn modelId="{D9A2D7B5-9738-EE49-AEAE-FFC16169FF6D}" type="presParOf" srcId="{4B34CFC0-4B44-C542-98B4-6351421302A0}" destId="{FFAEB3B8-8A16-D143-8CE8-0FF6C38DDEDF}" srcOrd="1" destOrd="0" presId="urn:microsoft.com/office/officeart/2005/8/layout/hList1"/>
    <dgm:cxn modelId="{D51D405B-1F55-B745-8B49-04CF4F2DEF8B}" type="presParOf" srcId="{DDADF929-E122-3C46-9FF0-930F7FB0CAC4}" destId="{4F3A54AD-AE6E-AA41-A799-CF69602A88C0}" srcOrd="3" destOrd="0" presId="urn:microsoft.com/office/officeart/2005/8/layout/hList1"/>
    <dgm:cxn modelId="{6E74BF39-4C15-FF42-B205-9DFC3A9D0E08}" type="presParOf" srcId="{DDADF929-E122-3C46-9FF0-930F7FB0CAC4}" destId="{D0F4818B-DF2D-374D-A290-A065022A3A23}" srcOrd="4" destOrd="0" presId="urn:microsoft.com/office/officeart/2005/8/layout/hList1"/>
    <dgm:cxn modelId="{D2F7E715-DA8F-A041-8DBF-3958AF15F80D}" type="presParOf" srcId="{D0F4818B-DF2D-374D-A290-A065022A3A23}" destId="{541253C8-8EC4-8545-B4E3-D88777693F53}" srcOrd="0" destOrd="0" presId="urn:microsoft.com/office/officeart/2005/8/layout/hList1"/>
    <dgm:cxn modelId="{FE94A4B1-9336-E94E-8BF3-BCA1ADBBDE9E}" type="presParOf" srcId="{D0F4818B-DF2D-374D-A290-A065022A3A23}" destId="{4D7CB1CF-E651-D64A-8687-ED3866B6D4D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23E7E74-6A6C-4613-B6AE-2288D39E5A40}" type="doc">
      <dgm:prSet loTypeId="urn:microsoft.com/office/officeart/2005/8/layout/list1" loCatId="list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8CE563C-7944-4B66-B1F3-B3E518214D96}">
      <dgm:prSet/>
      <dgm:spPr/>
      <dgm:t>
        <a:bodyPr/>
        <a:lstStyle/>
        <a:p>
          <a:r>
            <a:rPr kumimoji="1" lang="ko-KR"/>
            <a:t>딥러닝을 사용할 때 조심해야 하는 것은 과적합의 방지</a:t>
          </a:r>
          <a:endParaRPr lang="en-US"/>
        </a:p>
      </dgm:t>
    </dgm:pt>
    <dgm:pt modelId="{B916F6C1-BC6A-4C59-A04B-2A4D4725267E}" type="parTrans" cxnId="{E05B05C3-F79D-4D02-9DE6-167AE97ED655}">
      <dgm:prSet/>
      <dgm:spPr/>
      <dgm:t>
        <a:bodyPr/>
        <a:lstStyle/>
        <a:p>
          <a:endParaRPr lang="en-US"/>
        </a:p>
      </dgm:t>
    </dgm:pt>
    <dgm:pt modelId="{53739749-F501-4C45-8F4C-EF4DF4FC985D}" type="sibTrans" cxnId="{E05B05C3-F79D-4D02-9DE6-167AE97ED655}">
      <dgm:prSet/>
      <dgm:spPr/>
      <dgm:t>
        <a:bodyPr/>
        <a:lstStyle/>
        <a:p>
          <a:endParaRPr lang="en-US"/>
        </a:p>
      </dgm:t>
    </dgm:pt>
    <dgm:pt modelId="{039D73FA-D9FB-49C6-962E-D4003E833F54}">
      <dgm:prSet/>
      <dgm:spPr/>
      <dgm:t>
        <a:bodyPr/>
        <a:lstStyle/>
        <a:p>
          <a:r>
            <a:rPr kumimoji="1" lang="ko-KR"/>
            <a:t>강력한 신경망 모델을 사용하고 싶을 수도 있지만</a:t>
          </a:r>
          <a:r>
            <a:rPr kumimoji="1" lang="en-US"/>
            <a:t>, </a:t>
          </a:r>
          <a:r>
            <a:rPr kumimoji="1" lang="ko-KR"/>
            <a:t>항상 모델 매개변수의 수와 훈련 샘플 수의 균형을 맞춰야 힘</a:t>
          </a:r>
          <a:endParaRPr lang="en-US"/>
        </a:p>
      </dgm:t>
    </dgm:pt>
    <dgm:pt modelId="{04A4F72F-01BE-4B5B-89B4-D91040B6DA3C}" type="parTrans" cxnId="{FAD170EB-3139-418F-A87D-743E50C0DE05}">
      <dgm:prSet/>
      <dgm:spPr/>
      <dgm:t>
        <a:bodyPr/>
        <a:lstStyle/>
        <a:p>
          <a:endParaRPr lang="en-US"/>
        </a:p>
      </dgm:t>
    </dgm:pt>
    <dgm:pt modelId="{5F3C2BBD-6E75-49D8-8E91-1718E9BE90F8}" type="sibTrans" cxnId="{FAD170EB-3139-418F-A87D-743E50C0DE05}">
      <dgm:prSet/>
      <dgm:spPr/>
      <dgm:t>
        <a:bodyPr/>
        <a:lstStyle/>
        <a:p>
          <a:endParaRPr lang="en-US"/>
        </a:p>
      </dgm:t>
    </dgm:pt>
    <dgm:pt modelId="{A1808068-B16E-4F8F-A1F9-4748C27002F2}">
      <dgm:prSet/>
      <dgm:spPr/>
      <dgm:t>
        <a:bodyPr/>
        <a:lstStyle/>
        <a:p>
          <a:r>
            <a:rPr kumimoji="1" lang="ko-KR"/>
            <a:t>과적합을 방지하는 방법에는 여러 가지가 있음</a:t>
          </a:r>
          <a:endParaRPr lang="en-US"/>
        </a:p>
      </dgm:t>
    </dgm:pt>
    <dgm:pt modelId="{7F7D03A2-AD51-4868-B49D-9163EAEE5D91}" type="parTrans" cxnId="{9B1E2BD3-0DF3-441D-9956-1F8768DD7014}">
      <dgm:prSet/>
      <dgm:spPr/>
      <dgm:t>
        <a:bodyPr/>
        <a:lstStyle/>
        <a:p>
          <a:endParaRPr lang="en-US"/>
        </a:p>
      </dgm:t>
    </dgm:pt>
    <dgm:pt modelId="{5834D550-86AB-4080-8148-81646A06E2AE}" type="sibTrans" cxnId="{9B1E2BD3-0DF3-441D-9956-1F8768DD7014}">
      <dgm:prSet/>
      <dgm:spPr/>
      <dgm:t>
        <a:bodyPr/>
        <a:lstStyle/>
        <a:p>
          <a:endParaRPr lang="en-US"/>
        </a:p>
      </dgm:t>
    </dgm:pt>
    <dgm:pt modelId="{0FFF8FE2-AB9B-4518-ABD5-3B5A1170E119}">
      <dgm:prSet/>
      <dgm:spPr/>
      <dgm:t>
        <a:bodyPr/>
        <a:lstStyle/>
        <a:p>
          <a:r>
            <a:rPr kumimoji="1" lang="ko-KR"/>
            <a:t>조기 중지 </a:t>
          </a:r>
          <a:r>
            <a:rPr kumimoji="1" lang="en-US"/>
            <a:t>- </a:t>
          </a:r>
          <a:r>
            <a:rPr kumimoji="1" lang="ko-KR"/>
            <a:t>검증 세트의 오류를 지속적으로 모니터링하고 검증 오류가 증가하기 시작하면 훈련을 중지</a:t>
          </a:r>
          <a:endParaRPr lang="en-US"/>
        </a:p>
      </dgm:t>
    </dgm:pt>
    <dgm:pt modelId="{D8D59EE4-2951-4501-B9BA-F3601351CCA6}" type="parTrans" cxnId="{46E96487-8D97-46C0-9AB0-D0E213DAE848}">
      <dgm:prSet/>
      <dgm:spPr/>
      <dgm:t>
        <a:bodyPr/>
        <a:lstStyle/>
        <a:p>
          <a:endParaRPr lang="en-US"/>
        </a:p>
      </dgm:t>
    </dgm:pt>
    <dgm:pt modelId="{B8512D6F-679F-4512-8BF6-816CA5887481}" type="sibTrans" cxnId="{46E96487-8D97-46C0-9AB0-D0E213DAE848}">
      <dgm:prSet/>
      <dgm:spPr/>
      <dgm:t>
        <a:bodyPr/>
        <a:lstStyle/>
        <a:p>
          <a:endParaRPr lang="en-US"/>
        </a:p>
      </dgm:t>
    </dgm:pt>
    <dgm:pt modelId="{BC674D73-252F-4A3D-BCD5-4FEBCC262899}">
      <dgm:prSet/>
      <dgm:spPr/>
      <dgm:t>
        <a:bodyPr/>
        <a:lstStyle/>
        <a:p>
          <a:r>
            <a:rPr kumimoji="1" lang="ko-KR"/>
            <a:t>명시적 가중치 감쇠</a:t>
          </a:r>
          <a:r>
            <a:rPr kumimoji="1" lang="en-US"/>
            <a:t>/</a:t>
          </a:r>
          <a:r>
            <a:rPr kumimoji="1" lang="ko-KR"/>
            <a:t>정규화 </a:t>
          </a:r>
          <a:r>
            <a:rPr kumimoji="1" lang="en-US"/>
            <a:t>- </a:t>
          </a:r>
          <a:r>
            <a:rPr kumimoji="1" lang="ko-KR"/>
            <a:t>가중치의 절대값이 높을 경우 손실 함수에 추가 페널티를 추가하여 모델이 매우 불안정한 결과를 얻지 못하도록 방지</a:t>
          </a:r>
          <a:endParaRPr lang="en-US"/>
        </a:p>
      </dgm:t>
    </dgm:pt>
    <dgm:pt modelId="{C9569F88-1990-4FC8-951D-A1F8D4190D6B}" type="parTrans" cxnId="{4E6E4284-FBB8-4DA4-8F26-9EBA961862BC}">
      <dgm:prSet/>
      <dgm:spPr/>
      <dgm:t>
        <a:bodyPr/>
        <a:lstStyle/>
        <a:p>
          <a:endParaRPr lang="en-US"/>
        </a:p>
      </dgm:t>
    </dgm:pt>
    <dgm:pt modelId="{28A8E169-53D7-493B-8101-46E17AA7F309}" type="sibTrans" cxnId="{4E6E4284-FBB8-4DA4-8F26-9EBA961862BC}">
      <dgm:prSet/>
      <dgm:spPr/>
      <dgm:t>
        <a:bodyPr/>
        <a:lstStyle/>
        <a:p>
          <a:endParaRPr lang="en-US"/>
        </a:p>
      </dgm:t>
    </dgm:pt>
    <dgm:pt modelId="{258628F6-9B92-4A17-9880-96BC9570122C}">
      <dgm:prSet/>
      <dgm:spPr/>
      <dgm:t>
        <a:bodyPr/>
        <a:lstStyle/>
        <a:p>
          <a:r>
            <a:rPr kumimoji="1" lang="ko-KR"/>
            <a:t>모델 평균화 </a:t>
          </a:r>
          <a:r>
            <a:rPr kumimoji="1" lang="en-US"/>
            <a:t>- </a:t>
          </a:r>
          <a:r>
            <a:rPr kumimoji="1" lang="ko-KR"/>
            <a:t>여러 모델을 학습시킨 다음 결과를 평균화하는 기능인데 이는 분산을 최소화하는 데 도움이 됨</a:t>
          </a:r>
          <a:endParaRPr lang="en-US"/>
        </a:p>
      </dgm:t>
    </dgm:pt>
    <dgm:pt modelId="{55937A17-9D9E-4A71-9408-830A20383420}" type="parTrans" cxnId="{66060475-AB2A-4F16-B3C7-2AC3849A681D}">
      <dgm:prSet/>
      <dgm:spPr/>
      <dgm:t>
        <a:bodyPr/>
        <a:lstStyle/>
        <a:p>
          <a:endParaRPr lang="en-US"/>
        </a:p>
      </dgm:t>
    </dgm:pt>
    <dgm:pt modelId="{C7652136-1183-4064-A279-E2F6B71862B7}" type="sibTrans" cxnId="{66060475-AB2A-4F16-B3C7-2AC3849A681D}">
      <dgm:prSet/>
      <dgm:spPr/>
      <dgm:t>
        <a:bodyPr/>
        <a:lstStyle/>
        <a:p>
          <a:endParaRPr lang="en-US"/>
        </a:p>
      </dgm:t>
    </dgm:pt>
    <dgm:pt modelId="{1ACC6B99-BF7B-4301-BDCA-B3B96E75CE6F}">
      <dgm:prSet/>
      <dgm:spPr/>
      <dgm:t>
        <a:bodyPr/>
        <a:lstStyle/>
        <a:p>
          <a:r>
            <a:rPr kumimoji="1" lang="ko-KR"/>
            <a:t>드롭아웃</a:t>
          </a:r>
          <a:r>
            <a:rPr kumimoji="1" lang="en-US"/>
            <a:t>(</a:t>
          </a:r>
          <a:r>
            <a:rPr kumimoji="1" lang="ko-KR"/>
            <a:t>암시적 모델 평균화</a:t>
          </a:r>
          <a:r>
            <a:rPr kumimoji="1" lang="en-US"/>
            <a:t>)</a:t>
          </a:r>
          <a:endParaRPr lang="en-US"/>
        </a:p>
      </dgm:t>
    </dgm:pt>
    <dgm:pt modelId="{8EB786B3-7566-4CD4-84C1-FDF3F74BA6A0}" type="parTrans" cxnId="{50A499FC-7C04-40B8-B48E-DB00F4CDD428}">
      <dgm:prSet/>
      <dgm:spPr/>
      <dgm:t>
        <a:bodyPr/>
        <a:lstStyle/>
        <a:p>
          <a:endParaRPr lang="en-US"/>
        </a:p>
      </dgm:t>
    </dgm:pt>
    <dgm:pt modelId="{79A004FC-8C78-41F3-B7FD-502E136A4F14}" type="sibTrans" cxnId="{50A499FC-7C04-40B8-B48E-DB00F4CDD428}">
      <dgm:prSet/>
      <dgm:spPr/>
      <dgm:t>
        <a:bodyPr/>
        <a:lstStyle/>
        <a:p>
          <a:endParaRPr lang="en-US"/>
        </a:p>
      </dgm:t>
    </dgm:pt>
    <dgm:pt modelId="{45FBA92C-8A75-2447-BFC5-DCDE94266534}" type="pres">
      <dgm:prSet presAssocID="{023E7E74-6A6C-4613-B6AE-2288D39E5A40}" presName="linear" presStyleCnt="0">
        <dgm:presLayoutVars>
          <dgm:dir/>
          <dgm:animLvl val="lvl"/>
          <dgm:resizeHandles val="exact"/>
        </dgm:presLayoutVars>
      </dgm:prSet>
      <dgm:spPr/>
    </dgm:pt>
    <dgm:pt modelId="{2469924F-CB5A-F844-A9E8-C53A45FC015A}" type="pres">
      <dgm:prSet presAssocID="{28CE563C-7944-4B66-B1F3-B3E518214D96}" presName="parentLin" presStyleCnt="0"/>
      <dgm:spPr/>
    </dgm:pt>
    <dgm:pt modelId="{4EE0F9F3-30FA-2243-BD82-6992071D1631}" type="pres">
      <dgm:prSet presAssocID="{28CE563C-7944-4B66-B1F3-B3E518214D96}" presName="parentLeftMargin" presStyleLbl="node1" presStyleIdx="0" presStyleCnt="2"/>
      <dgm:spPr/>
    </dgm:pt>
    <dgm:pt modelId="{726C8DC1-B072-AE49-8BBF-10670ABF6E2F}" type="pres">
      <dgm:prSet presAssocID="{28CE563C-7944-4B66-B1F3-B3E518214D9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1B3B39E-26A3-C04B-9CB8-7715A3353897}" type="pres">
      <dgm:prSet presAssocID="{28CE563C-7944-4B66-B1F3-B3E518214D96}" presName="negativeSpace" presStyleCnt="0"/>
      <dgm:spPr/>
    </dgm:pt>
    <dgm:pt modelId="{FF8DB4F1-5D54-B34E-AE44-D15578987D76}" type="pres">
      <dgm:prSet presAssocID="{28CE563C-7944-4B66-B1F3-B3E518214D96}" presName="childText" presStyleLbl="conFgAcc1" presStyleIdx="0" presStyleCnt="2">
        <dgm:presLayoutVars>
          <dgm:bulletEnabled val="1"/>
        </dgm:presLayoutVars>
      </dgm:prSet>
      <dgm:spPr/>
    </dgm:pt>
    <dgm:pt modelId="{24F63484-D341-2C4F-960D-50B683F55432}" type="pres">
      <dgm:prSet presAssocID="{53739749-F501-4C45-8F4C-EF4DF4FC985D}" presName="spaceBetweenRectangles" presStyleCnt="0"/>
      <dgm:spPr/>
    </dgm:pt>
    <dgm:pt modelId="{B8322B49-F329-464C-A2AB-6A5344966609}" type="pres">
      <dgm:prSet presAssocID="{A1808068-B16E-4F8F-A1F9-4748C27002F2}" presName="parentLin" presStyleCnt="0"/>
      <dgm:spPr/>
    </dgm:pt>
    <dgm:pt modelId="{64ADCBE6-7BDB-A445-9AA5-EC1FC194919C}" type="pres">
      <dgm:prSet presAssocID="{A1808068-B16E-4F8F-A1F9-4748C27002F2}" presName="parentLeftMargin" presStyleLbl="node1" presStyleIdx="0" presStyleCnt="2"/>
      <dgm:spPr/>
    </dgm:pt>
    <dgm:pt modelId="{1E270F7D-10FC-DD4C-80D3-87F7A80D136D}" type="pres">
      <dgm:prSet presAssocID="{A1808068-B16E-4F8F-A1F9-4748C27002F2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BA97B2C-0CCF-E641-8A16-F242A58F39D9}" type="pres">
      <dgm:prSet presAssocID="{A1808068-B16E-4F8F-A1F9-4748C27002F2}" presName="negativeSpace" presStyleCnt="0"/>
      <dgm:spPr/>
    </dgm:pt>
    <dgm:pt modelId="{EB5BC2F2-5790-844A-B9DB-A40E80EE39DC}" type="pres">
      <dgm:prSet presAssocID="{A1808068-B16E-4F8F-A1F9-4748C27002F2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11385001-48A7-A743-8E7F-5D9FCE8663D7}" type="presOf" srcId="{0FFF8FE2-AB9B-4518-ABD5-3B5A1170E119}" destId="{EB5BC2F2-5790-844A-B9DB-A40E80EE39DC}" srcOrd="0" destOrd="0" presId="urn:microsoft.com/office/officeart/2005/8/layout/list1"/>
    <dgm:cxn modelId="{4C841A19-7F86-5F41-9977-7D2DDF2B526F}" type="presOf" srcId="{A1808068-B16E-4F8F-A1F9-4748C27002F2}" destId="{64ADCBE6-7BDB-A445-9AA5-EC1FC194919C}" srcOrd="0" destOrd="0" presId="urn:microsoft.com/office/officeart/2005/8/layout/list1"/>
    <dgm:cxn modelId="{2F499325-4ED1-404F-9ACA-BFDC16F35DDC}" type="presOf" srcId="{039D73FA-D9FB-49C6-962E-D4003E833F54}" destId="{FF8DB4F1-5D54-B34E-AE44-D15578987D76}" srcOrd="0" destOrd="0" presId="urn:microsoft.com/office/officeart/2005/8/layout/list1"/>
    <dgm:cxn modelId="{70EEF326-148C-2A47-AB53-5F0AC64D75CA}" type="presOf" srcId="{258628F6-9B92-4A17-9880-96BC9570122C}" destId="{EB5BC2F2-5790-844A-B9DB-A40E80EE39DC}" srcOrd="0" destOrd="2" presId="urn:microsoft.com/office/officeart/2005/8/layout/list1"/>
    <dgm:cxn modelId="{6DE48343-1336-ED46-9664-1C440ED2F4D9}" type="presOf" srcId="{28CE563C-7944-4B66-B1F3-B3E518214D96}" destId="{726C8DC1-B072-AE49-8BBF-10670ABF6E2F}" srcOrd="1" destOrd="0" presId="urn:microsoft.com/office/officeart/2005/8/layout/list1"/>
    <dgm:cxn modelId="{F3EF614B-A303-F34A-BBA1-2CDA51D1CB24}" type="presOf" srcId="{023E7E74-6A6C-4613-B6AE-2288D39E5A40}" destId="{45FBA92C-8A75-2447-BFC5-DCDE94266534}" srcOrd="0" destOrd="0" presId="urn:microsoft.com/office/officeart/2005/8/layout/list1"/>
    <dgm:cxn modelId="{66060475-AB2A-4F16-B3C7-2AC3849A681D}" srcId="{A1808068-B16E-4F8F-A1F9-4748C27002F2}" destId="{258628F6-9B92-4A17-9880-96BC9570122C}" srcOrd="2" destOrd="0" parTransId="{55937A17-9D9E-4A71-9408-830A20383420}" sibTransId="{C7652136-1183-4064-A279-E2F6B71862B7}"/>
    <dgm:cxn modelId="{B96D9A82-D9D8-154F-A9B6-039FBAA9A2DC}" type="presOf" srcId="{28CE563C-7944-4B66-B1F3-B3E518214D96}" destId="{4EE0F9F3-30FA-2243-BD82-6992071D1631}" srcOrd="0" destOrd="0" presId="urn:microsoft.com/office/officeart/2005/8/layout/list1"/>
    <dgm:cxn modelId="{4E6E4284-FBB8-4DA4-8F26-9EBA961862BC}" srcId="{A1808068-B16E-4F8F-A1F9-4748C27002F2}" destId="{BC674D73-252F-4A3D-BCD5-4FEBCC262899}" srcOrd="1" destOrd="0" parTransId="{C9569F88-1990-4FC8-951D-A1F8D4190D6B}" sibTransId="{28A8E169-53D7-493B-8101-46E17AA7F309}"/>
    <dgm:cxn modelId="{46E96487-8D97-46C0-9AB0-D0E213DAE848}" srcId="{A1808068-B16E-4F8F-A1F9-4748C27002F2}" destId="{0FFF8FE2-AB9B-4518-ABD5-3B5A1170E119}" srcOrd="0" destOrd="0" parTransId="{D8D59EE4-2951-4501-B9BA-F3601351CCA6}" sibTransId="{B8512D6F-679F-4512-8BF6-816CA5887481}"/>
    <dgm:cxn modelId="{D52BC889-E8B2-FD4D-9653-791B223527EB}" type="presOf" srcId="{A1808068-B16E-4F8F-A1F9-4748C27002F2}" destId="{1E270F7D-10FC-DD4C-80D3-87F7A80D136D}" srcOrd="1" destOrd="0" presId="urn:microsoft.com/office/officeart/2005/8/layout/list1"/>
    <dgm:cxn modelId="{AB1C1195-CD70-B448-AC26-3B4A1D43BB32}" type="presOf" srcId="{BC674D73-252F-4A3D-BCD5-4FEBCC262899}" destId="{EB5BC2F2-5790-844A-B9DB-A40E80EE39DC}" srcOrd="0" destOrd="1" presId="urn:microsoft.com/office/officeart/2005/8/layout/list1"/>
    <dgm:cxn modelId="{143C4CB2-FC3E-774A-9C71-A21D55E64742}" type="presOf" srcId="{1ACC6B99-BF7B-4301-BDCA-B3B96E75CE6F}" destId="{EB5BC2F2-5790-844A-B9DB-A40E80EE39DC}" srcOrd="0" destOrd="3" presId="urn:microsoft.com/office/officeart/2005/8/layout/list1"/>
    <dgm:cxn modelId="{E05B05C3-F79D-4D02-9DE6-167AE97ED655}" srcId="{023E7E74-6A6C-4613-B6AE-2288D39E5A40}" destId="{28CE563C-7944-4B66-B1F3-B3E518214D96}" srcOrd="0" destOrd="0" parTransId="{B916F6C1-BC6A-4C59-A04B-2A4D4725267E}" sibTransId="{53739749-F501-4C45-8F4C-EF4DF4FC985D}"/>
    <dgm:cxn modelId="{9B1E2BD3-0DF3-441D-9956-1F8768DD7014}" srcId="{023E7E74-6A6C-4613-B6AE-2288D39E5A40}" destId="{A1808068-B16E-4F8F-A1F9-4748C27002F2}" srcOrd="1" destOrd="0" parTransId="{7F7D03A2-AD51-4868-B49D-9163EAEE5D91}" sibTransId="{5834D550-86AB-4080-8148-81646A06E2AE}"/>
    <dgm:cxn modelId="{FAD170EB-3139-418F-A87D-743E50C0DE05}" srcId="{28CE563C-7944-4B66-B1F3-B3E518214D96}" destId="{039D73FA-D9FB-49C6-962E-D4003E833F54}" srcOrd="0" destOrd="0" parTransId="{04A4F72F-01BE-4B5B-89B4-D91040B6DA3C}" sibTransId="{5F3C2BBD-6E75-49D8-8E91-1718E9BE90F8}"/>
    <dgm:cxn modelId="{50A499FC-7C04-40B8-B48E-DB00F4CDD428}" srcId="{A1808068-B16E-4F8F-A1F9-4748C27002F2}" destId="{1ACC6B99-BF7B-4301-BDCA-B3B96E75CE6F}" srcOrd="3" destOrd="0" parTransId="{8EB786B3-7566-4CD4-84C1-FDF3F74BA6A0}" sibTransId="{79A004FC-8C78-41F3-B7FD-502E136A4F14}"/>
    <dgm:cxn modelId="{552FAEA7-5F7D-C04D-ABEF-D884DD9539B8}" type="presParOf" srcId="{45FBA92C-8A75-2447-BFC5-DCDE94266534}" destId="{2469924F-CB5A-F844-A9E8-C53A45FC015A}" srcOrd="0" destOrd="0" presId="urn:microsoft.com/office/officeart/2005/8/layout/list1"/>
    <dgm:cxn modelId="{559E3CD4-CBB1-BA40-BC20-4E3AC15FAD35}" type="presParOf" srcId="{2469924F-CB5A-F844-A9E8-C53A45FC015A}" destId="{4EE0F9F3-30FA-2243-BD82-6992071D1631}" srcOrd="0" destOrd="0" presId="urn:microsoft.com/office/officeart/2005/8/layout/list1"/>
    <dgm:cxn modelId="{FA778479-F231-1D44-8DDB-EAC41F2D2E61}" type="presParOf" srcId="{2469924F-CB5A-F844-A9E8-C53A45FC015A}" destId="{726C8DC1-B072-AE49-8BBF-10670ABF6E2F}" srcOrd="1" destOrd="0" presId="urn:microsoft.com/office/officeart/2005/8/layout/list1"/>
    <dgm:cxn modelId="{97235C42-A61E-A742-8581-08CD1E90889D}" type="presParOf" srcId="{45FBA92C-8A75-2447-BFC5-DCDE94266534}" destId="{B1B3B39E-26A3-C04B-9CB8-7715A3353897}" srcOrd="1" destOrd="0" presId="urn:microsoft.com/office/officeart/2005/8/layout/list1"/>
    <dgm:cxn modelId="{FC73A623-3B48-904E-BBE6-A42816368318}" type="presParOf" srcId="{45FBA92C-8A75-2447-BFC5-DCDE94266534}" destId="{FF8DB4F1-5D54-B34E-AE44-D15578987D76}" srcOrd="2" destOrd="0" presId="urn:microsoft.com/office/officeart/2005/8/layout/list1"/>
    <dgm:cxn modelId="{621840B5-D38D-2E46-9BD1-FB87482D89C6}" type="presParOf" srcId="{45FBA92C-8A75-2447-BFC5-DCDE94266534}" destId="{24F63484-D341-2C4F-960D-50B683F55432}" srcOrd="3" destOrd="0" presId="urn:microsoft.com/office/officeart/2005/8/layout/list1"/>
    <dgm:cxn modelId="{6141E984-2690-F440-9BE1-3DF5BFA4D3C9}" type="presParOf" srcId="{45FBA92C-8A75-2447-BFC5-DCDE94266534}" destId="{B8322B49-F329-464C-A2AB-6A5344966609}" srcOrd="4" destOrd="0" presId="urn:microsoft.com/office/officeart/2005/8/layout/list1"/>
    <dgm:cxn modelId="{214F8B9A-800B-AC49-9FB0-DF5C1633068F}" type="presParOf" srcId="{B8322B49-F329-464C-A2AB-6A5344966609}" destId="{64ADCBE6-7BDB-A445-9AA5-EC1FC194919C}" srcOrd="0" destOrd="0" presId="urn:microsoft.com/office/officeart/2005/8/layout/list1"/>
    <dgm:cxn modelId="{83D032CF-60E6-A843-9F5B-EFB923550593}" type="presParOf" srcId="{B8322B49-F329-464C-A2AB-6A5344966609}" destId="{1E270F7D-10FC-DD4C-80D3-87F7A80D136D}" srcOrd="1" destOrd="0" presId="urn:microsoft.com/office/officeart/2005/8/layout/list1"/>
    <dgm:cxn modelId="{45CBF3C9-1C61-794B-A7C5-59094AB2E78A}" type="presParOf" srcId="{45FBA92C-8A75-2447-BFC5-DCDE94266534}" destId="{EBA97B2C-0CCF-E641-8A16-F242A58F39D9}" srcOrd="5" destOrd="0" presId="urn:microsoft.com/office/officeart/2005/8/layout/list1"/>
    <dgm:cxn modelId="{8B399DE3-D89E-7441-936C-3DD590DA5D06}" type="presParOf" srcId="{45FBA92C-8A75-2447-BFC5-DCDE94266534}" destId="{EB5BC2F2-5790-844A-B9DB-A40E80EE39DC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65A3565-2FD2-46A8-8AEF-1D36043A29B5}" type="doc">
      <dgm:prSet loTypeId="urn:microsoft.com/office/officeart/2005/8/layout/vList5" loCatId="list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17BD6DB-31C3-4D0E-A31B-427F706A60FA}">
      <dgm:prSet/>
      <dgm:spPr/>
      <dgm:t>
        <a:bodyPr/>
        <a:lstStyle/>
        <a:p>
          <a:r>
            <a:rPr kumimoji="1" lang="ko-KR"/>
            <a:t>훈련의 또 다른 중요한 측면은 좋은 훈련 알고리즘을 선택하는 것</a:t>
          </a:r>
          <a:endParaRPr lang="en-US"/>
        </a:p>
      </dgm:t>
    </dgm:pt>
    <dgm:pt modelId="{BB15D7F9-D45F-452B-9495-664411AE2B64}" type="parTrans" cxnId="{C1FCF5D3-75A0-46B5-93E0-0E1367E62F9D}">
      <dgm:prSet/>
      <dgm:spPr/>
      <dgm:t>
        <a:bodyPr/>
        <a:lstStyle/>
        <a:p>
          <a:endParaRPr lang="en-US"/>
        </a:p>
      </dgm:t>
    </dgm:pt>
    <dgm:pt modelId="{B459B86E-6A3C-4DC5-AE6F-B86A2CF12F9B}" type="sibTrans" cxnId="{C1FCF5D3-75A0-46B5-93E0-0E1367E62F9D}">
      <dgm:prSet/>
      <dgm:spPr/>
      <dgm:t>
        <a:bodyPr/>
        <a:lstStyle/>
        <a:p>
          <a:endParaRPr lang="en-US"/>
        </a:p>
      </dgm:t>
    </dgm:pt>
    <dgm:pt modelId="{C6BADAAC-80F2-4F8A-91AE-E15888908965}">
      <dgm:prSet/>
      <dgm:spPr/>
      <dgm:t>
        <a:bodyPr/>
        <a:lstStyle/>
        <a:p>
          <a:r>
            <a:rPr kumimoji="1" lang="ko-KR"/>
            <a:t>고전적인 경사 하강은 합리적인 선택이지만</a:t>
          </a:r>
          <a:r>
            <a:rPr kumimoji="1" lang="en-US"/>
            <a:t>, </a:t>
          </a:r>
          <a:r>
            <a:rPr kumimoji="1" lang="ko-KR"/>
            <a:t>때로는 너무 느리거나 다른 문제가 발생할 수 있음</a:t>
          </a:r>
          <a:endParaRPr lang="en-US"/>
        </a:p>
      </dgm:t>
    </dgm:pt>
    <dgm:pt modelId="{2FC80658-2E5A-4D22-8C5B-5044BD5D1FB5}" type="parTrans" cxnId="{A6A50F32-B116-45F0-877B-A736A18EA5D9}">
      <dgm:prSet/>
      <dgm:spPr/>
      <dgm:t>
        <a:bodyPr/>
        <a:lstStyle/>
        <a:p>
          <a:endParaRPr lang="en-US"/>
        </a:p>
      </dgm:t>
    </dgm:pt>
    <dgm:pt modelId="{6FC1D86C-4B4A-44D7-B440-BBDE6B854A87}" type="sibTrans" cxnId="{A6A50F32-B116-45F0-877B-A736A18EA5D9}">
      <dgm:prSet/>
      <dgm:spPr/>
      <dgm:t>
        <a:bodyPr/>
        <a:lstStyle/>
        <a:p>
          <a:endParaRPr lang="en-US"/>
        </a:p>
      </dgm:t>
    </dgm:pt>
    <dgm:pt modelId="{C236A348-4486-4EB9-83DA-C129397B2C45}">
      <dgm:prSet/>
      <dgm:spPr/>
      <dgm:t>
        <a:bodyPr/>
        <a:lstStyle/>
        <a:p>
          <a:r>
            <a:rPr kumimoji="1" lang="ko-KR"/>
            <a:t>딥러닝에서는 훈련 세트에서 무작위로 선택된 미니 배치에 경사 하강을 적용하는 확률적 경사 하강</a:t>
          </a:r>
          <a:r>
            <a:rPr kumimoji="1" lang="en-US"/>
            <a:t>(SGD, Stochastic Gradient Descent)</a:t>
          </a:r>
          <a:r>
            <a:rPr kumimoji="1" lang="ko-KR"/>
            <a:t>을 사용</a:t>
          </a:r>
          <a:endParaRPr lang="en-US"/>
        </a:p>
      </dgm:t>
    </dgm:pt>
    <dgm:pt modelId="{E366266C-1D9F-4B60-B280-30402E5DB67A}" type="parTrans" cxnId="{65BBE29F-EB7B-4635-96B2-F14DD85CE504}">
      <dgm:prSet/>
      <dgm:spPr/>
      <dgm:t>
        <a:bodyPr/>
        <a:lstStyle/>
        <a:p>
          <a:endParaRPr lang="en-US"/>
        </a:p>
      </dgm:t>
    </dgm:pt>
    <dgm:pt modelId="{C23D85A9-1272-4FAF-AE7F-4A1DBCEB620B}" type="sibTrans" cxnId="{65BBE29F-EB7B-4635-96B2-F14DD85CE504}">
      <dgm:prSet/>
      <dgm:spPr/>
      <dgm:t>
        <a:bodyPr/>
        <a:lstStyle/>
        <a:p>
          <a:endParaRPr lang="en-US"/>
        </a:p>
      </dgm:t>
    </dgm:pt>
    <dgm:pt modelId="{22C82DC2-C2A8-48D0-AEE6-0FBF24C60E02}">
      <dgm:prSet/>
      <dgm:spPr/>
      <dgm:t>
        <a:bodyPr/>
        <a:lstStyle/>
        <a:p>
          <a:r>
            <a:rPr kumimoji="1" lang="ko-KR"/>
            <a:t>가중치는 다음 공식을 사용하여 조정</a:t>
          </a:r>
          <a:endParaRPr lang="en-US"/>
        </a:p>
      </dgm:t>
    </dgm:pt>
    <dgm:pt modelId="{468463B2-92DC-48D1-9F04-4A600BF43773}" type="parTrans" cxnId="{B707263D-2EB2-4289-B413-DB66AB585B8A}">
      <dgm:prSet/>
      <dgm:spPr/>
      <dgm:t>
        <a:bodyPr/>
        <a:lstStyle/>
        <a:p>
          <a:endParaRPr lang="en-US"/>
        </a:p>
      </dgm:t>
    </dgm:pt>
    <dgm:pt modelId="{CA4771EB-B6C6-4C76-8EFF-4CF0BE7F93A1}" type="sibTrans" cxnId="{B707263D-2EB2-4289-B413-DB66AB585B8A}">
      <dgm:prSet/>
      <dgm:spPr/>
      <dgm:t>
        <a:bodyPr/>
        <a:lstStyle/>
        <a:p>
          <a:endParaRPr lang="en-US"/>
        </a:p>
      </dgm:t>
    </dgm:pt>
    <dgm:pt modelId="{85217AB8-DE15-459A-8766-AEBDB87284CE}">
      <dgm:prSet/>
      <dgm:spPr/>
      <dgm:t>
        <a:bodyPr/>
        <a:lstStyle/>
        <a:p>
          <a:r>
            <a:rPr lang="en-US" b="0" i="0"/>
            <a:t>w</a:t>
          </a:r>
          <a:r>
            <a:rPr lang="en-US" b="0" i="0" baseline="30000"/>
            <a:t>t+1</a:t>
          </a:r>
          <a:r>
            <a:rPr lang="en-US" b="0" i="0"/>
            <a:t> = w</a:t>
          </a:r>
          <a:r>
            <a:rPr lang="en-US" b="0" i="0" baseline="30000"/>
            <a:t>t</a:t>
          </a:r>
          <a:r>
            <a:rPr lang="en-US" b="0" i="0"/>
            <a:t> - </a:t>
          </a:r>
          <a:r>
            <a:rPr lang="el-GR" b="0" i="0"/>
            <a:t>η∇ℒ</a:t>
          </a:r>
          <a:endParaRPr lang="en-US"/>
        </a:p>
      </dgm:t>
    </dgm:pt>
    <dgm:pt modelId="{0139B9CD-D87E-4C8F-8298-27DCF81E3210}" type="parTrans" cxnId="{C9F6C013-D3CB-4631-AA64-C280143D507E}">
      <dgm:prSet/>
      <dgm:spPr/>
      <dgm:t>
        <a:bodyPr/>
        <a:lstStyle/>
        <a:p>
          <a:endParaRPr lang="en-US"/>
        </a:p>
      </dgm:t>
    </dgm:pt>
    <dgm:pt modelId="{A48DCB35-66E7-4146-A30B-11FEE703B8FC}" type="sibTrans" cxnId="{C9F6C013-D3CB-4631-AA64-C280143D507E}">
      <dgm:prSet/>
      <dgm:spPr/>
      <dgm:t>
        <a:bodyPr/>
        <a:lstStyle/>
        <a:p>
          <a:endParaRPr lang="en-US"/>
        </a:p>
      </dgm:t>
    </dgm:pt>
    <dgm:pt modelId="{7376AB82-AD29-F14B-8608-A3F03F633973}" type="pres">
      <dgm:prSet presAssocID="{C65A3565-2FD2-46A8-8AEF-1D36043A29B5}" presName="Name0" presStyleCnt="0">
        <dgm:presLayoutVars>
          <dgm:dir/>
          <dgm:animLvl val="lvl"/>
          <dgm:resizeHandles val="exact"/>
        </dgm:presLayoutVars>
      </dgm:prSet>
      <dgm:spPr/>
    </dgm:pt>
    <dgm:pt modelId="{C49B3E0D-CB4B-E54C-BD7E-CB65EDC53948}" type="pres">
      <dgm:prSet presAssocID="{D17BD6DB-31C3-4D0E-A31B-427F706A60FA}" presName="linNode" presStyleCnt="0"/>
      <dgm:spPr/>
    </dgm:pt>
    <dgm:pt modelId="{7660DEB6-298B-4648-B3AD-00646B61F489}" type="pres">
      <dgm:prSet presAssocID="{D17BD6DB-31C3-4D0E-A31B-427F706A60FA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0574F064-1B4B-4C4E-8415-A4B6DF6E684E}" type="pres">
      <dgm:prSet presAssocID="{D17BD6DB-31C3-4D0E-A31B-427F706A60FA}" presName="descendantText" presStyleLbl="alignAccFollowNode1" presStyleIdx="0" presStyleCnt="2">
        <dgm:presLayoutVars>
          <dgm:bulletEnabled val="1"/>
        </dgm:presLayoutVars>
      </dgm:prSet>
      <dgm:spPr/>
    </dgm:pt>
    <dgm:pt modelId="{F776F164-D1ED-0B49-ACF4-0A6F7DFABE7E}" type="pres">
      <dgm:prSet presAssocID="{B459B86E-6A3C-4DC5-AE6F-B86A2CF12F9B}" presName="sp" presStyleCnt="0"/>
      <dgm:spPr/>
    </dgm:pt>
    <dgm:pt modelId="{A9EB6C41-3E7F-1441-A133-D979F2FE7C95}" type="pres">
      <dgm:prSet presAssocID="{C236A348-4486-4EB9-83DA-C129397B2C45}" presName="linNode" presStyleCnt="0"/>
      <dgm:spPr/>
    </dgm:pt>
    <dgm:pt modelId="{EE7BE75D-6DF9-A742-95A8-34E8EDE4FB6B}" type="pres">
      <dgm:prSet presAssocID="{C236A348-4486-4EB9-83DA-C129397B2C45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ED1B4457-79C2-6846-9031-2A231573D4DA}" type="pres">
      <dgm:prSet presAssocID="{C236A348-4486-4EB9-83DA-C129397B2C45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B55D470D-2FDD-1A4C-876D-844DD127A4FC}" type="presOf" srcId="{C6BADAAC-80F2-4F8A-91AE-E15888908965}" destId="{0574F064-1B4B-4C4E-8415-A4B6DF6E684E}" srcOrd="0" destOrd="0" presId="urn:microsoft.com/office/officeart/2005/8/layout/vList5"/>
    <dgm:cxn modelId="{C9F6C013-D3CB-4631-AA64-C280143D507E}" srcId="{C236A348-4486-4EB9-83DA-C129397B2C45}" destId="{85217AB8-DE15-459A-8766-AEBDB87284CE}" srcOrd="1" destOrd="0" parTransId="{0139B9CD-D87E-4C8F-8298-27DCF81E3210}" sibTransId="{A48DCB35-66E7-4146-A30B-11FEE703B8FC}"/>
    <dgm:cxn modelId="{A6A50F32-B116-45F0-877B-A736A18EA5D9}" srcId="{D17BD6DB-31C3-4D0E-A31B-427F706A60FA}" destId="{C6BADAAC-80F2-4F8A-91AE-E15888908965}" srcOrd="0" destOrd="0" parTransId="{2FC80658-2E5A-4D22-8C5B-5044BD5D1FB5}" sibTransId="{6FC1D86C-4B4A-44D7-B440-BBDE6B854A87}"/>
    <dgm:cxn modelId="{B707263D-2EB2-4289-B413-DB66AB585B8A}" srcId="{C236A348-4486-4EB9-83DA-C129397B2C45}" destId="{22C82DC2-C2A8-48D0-AEE6-0FBF24C60E02}" srcOrd="0" destOrd="0" parTransId="{468463B2-92DC-48D1-9F04-4A600BF43773}" sibTransId="{CA4771EB-B6C6-4C76-8EFF-4CF0BE7F93A1}"/>
    <dgm:cxn modelId="{3DC5005B-1245-AC4C-8E0C-C41CA354B540}" type="presOf" srcId="{D17BD6DB-31C3-4D0E-A31B-427F706A60FA}" destId="{7660DEB6-298B-4648-B3AD-00646B61F489}" srcOrd="0" destOrd="0" presId="urn:microsoft.com/office/officeart/2005/8/layout/vList5"/>
    <dgm:cxn modelId="{F3E61269-BCBC-5241-91F0-84CF2C235BB8}" type="presOf" srcId="{C236A348-4486-4EB9-83DA-C129397B2C45}" destId="{EE7BE75D-6DF9-A742-95A8-34E8EDE4FB6B}" srcOrd="0" destOrd="0" presId="urn:microsoft.com/office/officeart/2005/8/layout/vList5"/>
    <dgm:cxn modelId="{65BBE29F-EB7B-4635-96B2-F14DD85CE504}" srcId="{C65A3565-2FD2-46A8-8AEF-1D36043A29B5}" destId="{C236A348-4486-4EB9-83DA-C129397B2C45}" srcOrd="1" destOrd="0" parTransId="{E366266C-1D9F-4B60-B280-30402E5DB67A}" sibTransId="{C23D85A9-1272-4FAF-AE7F-4A1DBCEB620B}"/>
    <dgm:cxn modelId="{B3A5D0B4-3144-5C48-85F8-0961E55B1DA4}" type="presOf" srcId="{C65A3565-2FD2-46A8-8AEF-1D36043A29B5}" destId="{7376AB82-AD29-F14B-8608-A3F03F633973}" srcOrd="0" destOrd="0" presId="urn:microsoft.com/office/officeart/2005/8/layout/vList5"/>
    <dgm:cxn modelId="{C1FCF5D3-75A0-46B5-93E0-0E1367E62F9D}" srcId="{C65A3565-2FD2-46A8-8AEF-1D36043A29B5}" destId="{D17BD6DB-31C3-4D0E-A31B-427F706A60FA}" srcOrd="0" destOrd="0" parTransId="{BB15D7F9-D45F-452B-9495-664411AE2B64}" sibTransId="{B459B86E-6A3C-4DC5-AE6F-B86A2CF12F9B}"/>
    <dgm:cxn modelId="{65AD6AD4-4044-A54E-8CBF-8B1E75C3B160}" type="presOf" srcId="{22C82DC2-C2A8-48D0-AEE6-0FBF24C60E02}" destId="{ED1B4457-79C2-6846-9031-2A231573D4DA}" srcOrd="0" destOrd="0" presId="urn:microsoft.com/office/officeart/2005/8/layout/vList5"/>
    <dgm:cxn modelId="{215F51F6-3C96-874E-A5B5-8A116C220832}" type="presOf" srcId="{85217AB8-DE15-459A-8766-AEBDB87284CE}" destId="{ED1B4457-79C2-6846-9031-2A231573D4DA}" srcOrd="0" destOrd="1" presId="urn:microsoft.com/office/officeart/2005/8/layout/vList5"/>
    <dgm:cxn modelId="{7A7A876B-C378-9841-878B-FCB24D1B984D}" type="presParOf" srcId="{7376AB82-AD29-F14B-8608-A3F03F633973}" destId="{C49B3E0D-CB4B-E54C-BD7E-CB65EDC53948}" srcOrd="0" destOrd="0" presId="urn:microsoft.com/office/officeart/2005/8/layout/vList5"/>
    <dgm:cxn modelId="{2BA6B5AD-22A8-8846-B6B7-F5DD9DD5C46C}" type="presParOf" srcId="{C49B3E0D-CB4B-E54C-BD7E-CB65EDC53948}" destId="{7660DEB6-298B-4648-B3AD-00646B61F489}" srcOrd="0" destOrd="0" presId="urn:microsoft.com/office/officeart/2005/8/layout/vList5"/>
    <dgm:cxn modelId="{2D68414A-C1CD-6C43-B26A-53FC9E6E2997}" type="presParOf" srcId="{C49B3E0D-CB4B-E54C-BD7E-CB65EDC53948}" destId="{0574F064-1B4B-4C4E-8415-A4B6DF6E684E}" srcOrd="1" destOrd="0" presId="urn:microsoft.com/office/officeart/2005/8/layout/vList5"/>
    <dgm:cxn modelId="{3120E981-7504-8A42-9ECD-F7C17762F27F}" type="presParOf" srcId="{7376AB82-AD29-F14B-8608-A3F03F633973}" destId="{F776F164-D1ED-0B49-ACF4-0A6F7DFABE7E}" srcOrd="1" destOrd="0" presId="urn:microsoft.com/office/officeart/2005/8/layout/vList5"/>
    <dgm:cxn modelId="{8F5C8E43-304A-0A40-8419-0DB0B4AED250}" type="presParOf" srcId="{7376AB82-AD29-F14B-8608-A3F03F633973}" destId="{A9EB6C41-3E7F-1441-A133-D979F2FE7C95}" srcOrd="2" destOrd="0" presId="urn:microsoft.com/office/officeart/2005/8/layout/vList5"/>
    <dgm:cxn modelId="{66E8DCD6-546E-5F49-BC57-65ED65578CA7}" type="presParOf" srcId="{A9EB6C41-3E7F-1441-A133-D979F2FE7C95}" destId="{EE7BE75D-6DF9-A742-95A8-34E8EDE4FB6B}" srcOrd="0" destOrd="0" presId="urn:microsoft.com/office/officeart/2005/8/layout/vList5"/>
    <dgm:cxn modelId="{8F64D947-B155-5241-AF02-CC49E59CB1A1}" type="presParOf" srcId="{A9EB6C41-3E7F-1441-A133-D979F2FE7C95}" destId="{ED1B4457-79C2-6846-9031-2A231573D4DA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64A8D73-0C38-4BD3-A895-5CD04408B955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FCAF007-9433-4F70-BB82-12B1AB92C45F}">
      <dgm:prSet/>
      <dgm:spPr/>
      <dgm:t>
        <a:bodyPr/>
        <a:lstStyle/>
        <a:p>
          <a:r>
            <a:rPr kumimoji="1" lang="ko-KR"/>
            <a:t>문제에 적합한 네트워크 아키텍처를 선택하는 것은 까다로울 수 있음</a:t>
          </a:r>
          <a:endParaRPr lang="en-US"/>
        </a:p>
      </dgm:t>
    </dgm:pt>
    <dgm:pt modelId="{5ECA81E1-B7EE-418A-9949-EDE159C15CD5}" type="parTrans" cxnId="{3A5B48EF-7542-40CE-AB8D-230081749669}">
      <dgm:prSet/>
      <dgm:spPr/>
      <dgm:t>
        <a:bodyPr/>
        <a:lstStyle/>
        <a:p>
          <a:endParaRPr lang="en-US"/>
        </a:p>
      </dgm:t>
    </dgm:pt>
    <dgm:pt modelId="{4335DBB0-8DB2-49B2-AB4D-7069B8304AE0}" type="sibTrans" cxnId="{3A5B48EF-7542-40CE-AB8D-230081749669}">
      <dgm:prSet/>
      <dgm:spPr/>
      <dgm:t>
        <a:bodyPr/>
        <a:lstStyle/>
        <a:p>
          <a:endParaRPr lang="en-US"/>
        </a:p>
      </dgm:t>
    </dgm:pt>
    <dgm:pt modelId="{051CFE83-F18E-4508-ADF5-93089E641665}">
      <dgm:prSet/>
      <dgm:spPr/>
      <dgm:t>
        <a:bodyPr/>
        <a:lstStyle/>
        <a:p>
          <a:r>
            <a:rPr kumimoji="1" lang="ko-KR"/>
            <a:t>일반적으로 특정 작업</a:t>
          </a:r>
          <a:r>
            <a:rPr kumimoji="1" lang="en-US"/>
            <a:t>(</a:t>
          </a:r>
          <a:r>
            <a:rPr kumimoji="1" lang="ko-KR"/>
            <a:t>또는 유사한 작업</a:t>
          </a:r>
          <a:r>
            <a:rPr kumimoji="1" lang="en-US"/>
            <a:t>)</a:t>
          </a:r>
          <a:r>
            <a:rPr kumimoji="1" lang="ko-KR"/>
            <a:t>에 적합한 것으로 입증된 아키텍처를 선택</a:t>
          </a:r>
          <a:r>
            <a:rPr kumimoji="1" lang="en-US"/>
            <a:t> </a:t>
          </a:r>
          <a:endParaRPr lang="en-US"/>
        </a:p>
      </dgm:t>
    </dgm:pt>
    <dgm:pt modelId="{94021E8B-DC83-4CD6-BA2E-3C646D880CCE}" type="parTrans" cxnId="{D5468AA7-5095-4C78-B12C-1FA16D38AB9F}">
      <dgm:prSet/>
      <dgm:spPr/>
      <dgm:t>
        <a:bodyPr/>
        <a:lstStyle/>
        <a:p>
          <a:endParaRPr lang="en-US"/>
        </a:p>
      </dgm:t>
    </dgm:pt>
    <dgm:pt modelId="{23F486AD-664B-43DE-A79E-B2FA5753C086}" type="sibTrans" cxnId="{D5468AA7-5095-4C78-B12C-1FA16D38AB9F}">
      <dgm:prSet/>
      <dgm:spPr/>
      <dgm:t>
        <a:bodyPr/>
        <a:lstStyle/>
        <a:p>
          <a:endParaRPr lang="en-US"/>
        </a:p>
      </dgm:t>
    </dgm:pt>
    <dgm:pt modelId="{7A92CD59-4567-4D2B-8C05-F3EFEDDA1B33}">
      <dgm:prSet/>
      <dgm:spPr/>
      <dgm:t>
        <a:bodyPr/>
        <a:lstStyle/>
        <a:p>
          <a:r>
            <a:rPr kumimoji="1" lang="ko-KR"/>
            <a:t>보유하고 있는 훈련 샘플 수에 비해 충분히 강력한 아키텍처를 선택하는 것이 중요</a:t>
          </a:r>
          <a:endParaRPr lang="en-US"/>
        </a:p>
      </dgm:t>
    </dgm:pt>
    <dgm:pt modelId="{077C73DF-2DDF-49F2-956E-23720B6EF48B}" type="parTrans" cxnId="{F268E0B3-F2BA-4C26-B1F6-753EB2DAF248}">
      <dgm:prSet/>
      <dgm:spPr/>
      <dgm:t>
        <a:bodyPr/>
        <a:lstStyle/>
        <a:p>
          <a:endParaRPr lang="en-US"/>
        </a:p>
      </dgm:t>
    </dgm:pt>
    <dgm:pt modelId="{9972E24F-09DB-482E-A88F-504DAE39E500}" type="sibTrans" cxnId="{F268E0B3-F2BA-4C26-B1F6-753EB2DAF248}">
      <dgm:prSet/>
      <dgm:spPr/>
      <dgm:t>
        <a:bodyPr/>
        <a:lstStyle/>
        <a:p>
          <a:endParaRPr lang="en-US"/>
        </a:p>
      </dgm:t>
    </dgm:pt>
    <dgm:pt modelId="{B62E6B96-4220-4915-A312-5078567C82F9}">
      <dgm:prSet/>
      <dgm:spPr/>
      <dgm:t>
        <a:bodyPr/>
        <a:lstStyle/>
        <a:p>
          <a:r>
            <a:rPr kumimoji="1" lang="ko-KR"/>
            <a:t>너무 강력한 모델을 선택하면 과적합이 발생할 수 있음</a:t>
          </a:r>
          <a:endParaRPr lang="en-US"/>
        </a:p>
      </dgm:t>
    </dgm:pt>
    <dgm:pt modelId="{90BF3D3A-8399-49C1-B785-32BDF916909B}" type="parTrans" cxnId="{486C28D1-3D9E-4A6F-916B-CC7A64711FC2}">
      <dgm:prSet/>
      <dgm:spPr/>
      <dgm:t>
        <a:bodyPr/>
        <a:lstStyle/>
        <a:p>
          <a:endParaRPr lang="en-US"/>
        </a:p>
      </dgm:t>
    </dgm:pt>
    <dgm:pt modelId="{53191970-D89C-4EF2-A5FF-0A44E531FBDB}" type="sibTrans" cxnId="{486C28D1-3D9E-4A6F-916B-CC7A64711FC2}">
      <dgm:prSet/>
      <dgm:spPr/>
      <dgm:t>
        <a:bodyPr/>
        <a:lstStyle/>
        <a:p>
          <a:endParaRPr lang="en-US"/>
        </a:p>
      </dgm:t>
    </dgm:pt>
    <dgm:pt modelId="{1B64C5B8-FFA4-4B2A-8044-126738F9B71B}">
      <dgm:prSet/>
      <dgm:spPr/>
      <dgm:t>
        <a:bodyPr/>
        <a:lstStyle/>
        <a:p>
          <a:r>
            <a:rPr kumimoji="1" lang="ko-KR"/>
            <a:t>다른 좋은 방법은 필요한 복잡도에 따라 자동으로 조정되는 아키텍처를 사용하는 것</a:t>
          </a:r>
          <a:endParaRPr lang="en-US"/>
        </a:p>
      </dgm:t>
    </dgm:pt>
    <dgm:pt modelId="{0B6E0FE0-8060-4553-A908-B11C733394D5}" type="parTrans" cxnId="{43E31DD7-478F-4C06-AD72-2D87FD7F9477}">
      <dgm:prSet/>
      <dgm:spPr/>
      <dgm:t>
        <a:bodyPr/>
        <a:lstStyle/>
        <a:p>
          <a:endParaRPr lang="en-US"/>
        </a:p>
      </dgm:t>
    </dgm:pt>
    <dgm:pt modelId="{21B3C95F-B141-464B-ABA5-DC862EB02CB7}" type="sibTrans" cxnId="{43E31DD7-478F-4C06-AD72-2D87FD7F9477}">
      <dgm:prSet/>
      <dgm:spPr/>
      <dgm:t>
        <a:bodyPr/>
        <a:lstStyle/>
        <a:p>
          <a:endParaRPr lang="en-US"/>
        </a:p>
      </dgm:t>
    </dgm:pt>
    <dgm:pt modelId="{8EDC886E-3207-46E0-83BB-D75928C733E1}">
      <dgm:prSet/>
      <dgm:spPr/>
      <dgm:t>
        <a:bodyPr/>
        <a:lstStyle/>
        <a:p>
          <a:r>
            <a:rPr kumimoji="1" lang="en-US"/>
            <a:t>ResNet </a:t>
          </a:r>
          <a:r>
            <a:rPr kumimoji="1" lang="ko-KR"/>
            <a:t>아키텍처와 </a:t>
          </a:r>
          <a:r>
            <a:rPr kumimoji="1" lang="en-US"/>
            <a:t>Inception</a:t>
          </a:r>
          <a:r>
            <a:rPr kumimoji="1" lang="ko-KR"/>
            <a:t>은 어느 정도는 자체 조정이 가능</a:t>
          </a:r>
          <a:endParaRPr lang="en-US"/>
        </a:p>
      </dgm:t>
    </dgm:pt>
    <dgm:pt modelId="{B77D3F5F-5371-41BC-824E-C4DD6EDC049D}" type="parTrans" cxnId="{BDE60703-B74D-4DE6-A199-A2207A22F9EE}">
      <dgm:prSet/>
      <dgm:spPr/>
      <dgm:t>
        <a:bodyPr/>
        <a:lstStyle/>
        <a:p>
          <a:endParaRPr lang="en-US"/>
        </a:p>
      </dgm:t>
    </dgm:pt>
    <dgm:pt modelId="{C76430CC-A2CC-40BE-8577-0EAD8A62E076}" type="sibTrans" cxnId="{BDE60703-B74D-4DE6-A199-A2207A22F9EE}">
      <dgm:prSet/>
      <dgm:spPr/>
      <dgm:t>
        <a:bodyPr/>
        <a:lstStyle/>
        <a:p>
          <a:endParaRPr lang="en-US"/>
        </a:p>
      </dgm:t>
    </dgm:pt>
    <dgm:pt modelId="{AF2887A6-6474-1245-AFBC-A834CE4DE115}" type="pres">
      <dgm:prSet presAssocID="{664A8D73-0C38-4BD3-A895-5CD04408B955}" presName="Name0" presStyleCnt="0">
        <dgm:presLayoutVars>
          <dgm:dir/>
          <dgm:animLvl val="lvl"/>
          <dgm:resizeHandles val="exact"/>
        </dgm:presLayoutVars>
      </dgm:prSet>
      <dgm:spPr/>
    </dgm:pt>
    <dgm:pt modelId="{4D8BFD13-EFB6-514B-A1A3-CC064703D959}" type="pres">
      <dgm:prSet presAssocID="{2FCAF007-9433-4F70-BB82-12B1AB92C45F}" presName="composite" presStyleCnt="0"/>
      <dgm:spPr/>
    </dgm:pt>
    <dgm:pt modelId="{5F7352E9-2A41-DD4F-B00E-FAFC273B101E}" type="pres">
      <dgm:prSet presAssocID="{2FCAF007-9433-4F70-BB82-12B1AB92C45F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7E8ADE5B-7F1B-8948-8866-90B81B0C7031}" type="pres">
      <dgm:prSet presAssocID="{2FCAF007-9433-4F70-BB82-12B1AB92C45F}" presName="desTx" presStyleLbl="alignAccFollowNode1" presStyleIdx="0" presStyleCnt="3">
        <dgm:presLayoutVars>
          <dgm:bulletEnabled val="1"/>
        </dgm:presLayoutVars>
      </dgm:prSet>
      <dgm:spPr/>
    </dgm:pt>
    <dgm:pt modelId="{EC6F90F9-10D6-E840-88F2-94693A802C17}" type="pres">
      <dgm:prSet presAssocID="{4335DBB0-8DB2-49B2-AB4D-7069B8304AE0}" presName="space" presStyleCnt="0"/>
      <dgm:spPr/>
    </dgm:pt>
    <dgm:pt modelId="{37009ADD-30F5-7C47-983E-8002CDB4DF90}" type="pres">
      <dgm:prSet presAssocID="{7A92CD59-4567-4D2B-8C05-F3EFEDDA1B33}" presName="composite" presStyleCnt="0"/>
      <dgm:spPr/>
    </dgm:pt>
    <dgm:pt modelId="{52BA3A6A-F9C1-7348-AE60-E7FA6B09E63F}" type="pres">
      <dgm:prSet presAssocID="{7A92CD59-4567-4D2B-8C05-F3EFEDDA1B33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31AC2A27-A2E2-B543-B6E5-7DD6085C74AD}" type="pres">
      <dgm:prSet presAssocID="{7A92CD59-4567-4D2B-8C05-F3EFEDDA1B33}" presName="desTx" presStyleLbl="alignAccFollowNode1" presStyleIdx="1" presStyleCnt="3">
        <dgm:presLayoutVars>
          <dgm:bulletEnabled val="1"/>
        </dgm:presLayoutVars>
      </dgm:prSet>
      <dgm:spPr/>
    </dgm:pt>
    <dgm:pt modelId="{74D23529-14AD-254B-81CC-E1C7E6358740}" type="pres">
      <dgm:prSet presAssocID="{9972E24F-09DB-482E-A88F-504DAE39E500}" presName="space" presStyleCnt="0"/>
      <dgm:spPr/>
    </dgm:pt>
    <dgm:pt modelId="{BE989BCB-0030-F749-8752-E7A50C5B112C}" type="pres">
      <dgm:prSet presAssocID="{1B64C5B8-FFA4-4B2A-8044-126738F9B71B}" presName="composite" presStyleCnt="0"/>
      <dgm:spPr/>
    </dgm:pt>
    <dgm:pt modelId="{48AFF8B1-AE3F-0F47-B05F-E9D328107A0B}" type="pres">
      <dgm:prSet presAssocID="{1B64C5B8-FFA4-4B2A-8044-126738F9B71B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5840CCFF-E0F5-F24C-A821-947C63DDA31B}" type="pres">
      <dgm:prSet presAssocID="{1B64C5B8-FFA4-4B2A-8044-126738F9B71B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BDE60703-B74D-4DE6-A199-A2207A22F9EE}" srcId="{1B64C5B8-FFA4-4B2A-8044-126738F9B71B}" destId="{8EDC886E-3207-46E0-83BB-D75928C733E1}" srcOrd="0" destOrd="0" parTransId="{B77D3F5F-5371-41BC-824E-C4DD6EDC049D}" sibTransId="{C76430CC-A2CC-40BE-8577-0EAD8A62E076}"/>
    <dgm:cxn modelId="{D149B604-B54E-1448-8C73-C13BF5EBB9AB}" type="presOf" srcId="{664A8D73-0C38-4BD3-A895-5CD04408B955}" destId="{AF2887A6-6474-1245-AFBC-A834CE4DE115}" srcOrd="0" destOrd="0" presId="urn:microsoft.com/office/officeart/2005/8/layout/hList1"/>
    <dgm:cxn modelId="{1434383D-CA0C-8D42-95AD-9EFFD73DC661}" type="presOf" srcId="{B62E6B96-4220-4915-A312-5078567C82F9}" destId="{31AC2A27-A2E2-B543-B6E5-7DD6085C74AD}" srcOrd="0" destOrd="0" presId="urn:microsoft.com/office/officeart/2005/8/layout/hList1"/>
    <dgm:cxn modelId="{57D90F5B-8824-C849-A89D-7A687FF2C040}" type="presOf" srcId="{8EDC886E-3207-46E0-83BB-D75928C733E1}" destId="{5840CCFF-E0F5-F24C-A821-947C63DDA31B}" srcOrd="0" destOrd="0" presId="urn:microsoft.com/office/officeart/2005/8/layout/hList1"/>
    <dgm:cxn modelId="{335FAC93-650E-AE48-901A-6912ED89F798}" type="presOf" srcId="{7A92CD59-4567-4D2B-8C05-F3EFEDDA1B33}" destId="{52BA3A6A-F9C1-7348-AE60-E7FA6B09E63F}" srcOrd="0" destOrd="0" presId="urn:microsoft.com/office/officeart/2005/8/layout/hList1"/>
    <dgm:cxn modelId="{D5468AA7-5095-4C78-B12C-1FA16D38AB9F}" srcId="{2FCAF007-9433-4F70-BB82-12B1AB92C45F}" destId="{051CFE83-F18E-4508-ADF5-93089E641665}" srcOrd="0" destOrd="0" parTransId="{94021E8B-DC83-4CD6-BA2E-3C646D880CCE}" sibTransId="{23F486AD-664B-43DE-A79E-B2FA5753C086}"/>
    <dgm:cxn modelId="{F4F0B0A8-CD4F-124F-8EE5-1420499326C3}" type="presOf" srcId="{2FCAF007-9433-4F70-BB82-12B1AB92C45F}" destId="{5F7352E9-2A41-DD4F-B00E-FAFC273B101E}" srcOrd="0" destOrd="0" presId="urn:microsoft.com/office/officeart/2005/8/layout/hList1"/>
    <dgm:cxn modelId="{F268E0B3-F2BA-4C26-B1F6-753EB2DAF248}" srcId="{664A8D73-0C38-4BD3-A895-5CD04408B955}" destId="{7A92CD59-4567-4D2B-8C05-F3EFEDDA1B33}" srcOrd="1" destOrd="0" parTransId="{077C73DF-2DDF-49F2-956E-23720B6EF48B}" sibTransId="{9972E24F-09DB-482E-A88F-504DAE39E500}"/>
    <dgm:cxn modelId="{2DE72FB9-4DD2-4B4B-B046-13F0FB7175A6}" type="presOf" srcId="{051CFE83-F18E-4508-ADF5-93089E641665}" destId="{7E8ADE5B-7F1B-8948-8866-90B81B0C7031}" srcOrd="0" destOrd="0" presId="urn:microsoft.com/office/officeart/2005/8/layout/hList1"/>
    <dgm:cxn modelId="{486C28D1-3D9E-4A6F-916B-CC7A64711FC2}" srcId="{7A92CD59-4567-4D2B-8C05-F3EFEDDA1B33}" destId="{B62E6B96-4220-4915-A312-5078567C82F9}" srcOrd="0" destOrd="0" parTransId="{90BF3D3A-8399-49C1-B785-32BDF916909B}" sibTransId="{53191970-D89C-4EF2-A5FF-0A44E531FBDB}"/>
    <dgm:cxn modelId="{43E31DD7-478F-4C06-AD72-2D87FD7F9477}" srcId="{664A8D73-0C38-4BD3-A895-5CD04408B955}" destId="{1B64C5B8-FFA4-4B2A-8044-126738F9B71B}" srcOrd="2" destOrd="0" parTransId="{0B6E0FE0-8060-4553-A908-B11C733394D5}" sibTransId="{21B3C95F-B141-464B-ABA5-DC862EB02CB7}"/>
    <dgm:cxn modelId="{545B63DD-43D9-634E-8915-C215758832FB}" type="presOf" srcId="{1B64C5B8-FFA4-4B2A-8044-126738F9B71B}" destId="{48AFF8B1-AE3F-0F47-B05F-E9D328107A0B}" srcOrd="0" destOrd="0" presId="urn:microsoft.com/office/officeart/2005/8/layout/hList1"/>
    <dgm:cxn modelId="{3A5B48EF-7542-40CE-AB8D-230081749669}" srcId="{664A8D73-0C38-4BD3-A895-5CD04408B955}" destId="{2FCAF007-9433-4F70-BB82-12B1AB92C45F}" srcOrd="0" destOrd="0" parTransId="{5ECA81E1-B7EE-418A-9949-EDE159C15CD5}" sibTransId="{4335DBB0-8DB2-49B2-AB4D-7069B8304AE0}"/>
    <dgm:cxn modelId="{8B99BEAD-FC3B-C148-AB73-BBDC5F2BD5F2}" type="presParOf" srcId="{AF2887A6-6474-1245-AFBC-A834CE4DE115}" destId="{4D8BFD13-EFB6-514B-A1A3-CC064703D959}" srcOrd="0" destOrd="0" presId="urn:microsoft.com/office/officeart/2005/8/layout/hList1"/>
    <dgm:cxn modelId="{53167C12-8F61-4349-94F9-E22C2CC7A4AB}" type="presParOf" srcId="{4D8BFD13-EFB6-514B-A1A3-CC064703D959}" destId="{5F7352E9-2A41-DD4F-B00E-FAFC273B101E}" srcOrd="0" destOrd="0" presId="urn:microsoft.com/office/officeart/2005/8/layout/hList1"/>
    <dgm:cxn modelId="{66F2615A-ECF0-044A-920A-9C51AC5AE7C5}" type="presParOf" srcId="{4D8BFD13-EFB6-514B-A1A3-CC064703D959}" destId="{7E8ADE5B-7F1B-8948-8866-90B81B0C7031}" srcOrd="1" destOrd="0" presId="urn:microsoft.com/office/officeart/2005/8/layout/hList1"/>
    <dgm:cxn modelId="{4D271938-5CDF-754B-9C52-9FB9AF3CC79D}" type="presParOf" srcId="{AF2887A6-6474-1245-AFBC-A834CE4DE115}" destId="{EC6F90F9-10D6-E840-88F2-94693A802C17}" srcOrd="1" destOrd="0" presId="urn:microsoft.com/office/officeart/2005/8/layout/hList1"/>
    <dgm:cxn modelId="{85CDF9AF-F960-C546-9D9F-5BDF0F7CF74D}" type="presParOf" srcId="{AF2887A6-6474-1245-AFBC-A834CE4DE115}" destId="{37009ADD-30F5-7C47-983E-8002CDB4DF90}" srcOrd="2" destOrd="0" presId="urn:microsoft.com/office/officeart/2005/8/layout/hList1"/>
    <dgm:cxn modelId="{0D2ECCFA-7363-D24F-BE17-9ED3C8F53562}" type="presParOf" srcId="{37009ADD-30F5-7C47-983E-8002CDB4DF90}" destId="{52BA3A6A-F9C1-7348-AE60-E7FA6B09E63F}" srcOrd="0" destOrd="0" presId="urn:microsoft.com/office/officeart/2005/8/layout/hList1"/>
    <dgm:cxn modelId="{1C32B8EC-B90E-814A-A70E-42939E4C9763}" type="presParOf" srcId="{37009ADD-30F5-7C47-983E-8002CDB4DF90}" destId="{31AC2A27-A2E2-B543-B6E5-7DD6085C74AD}" srcOrd="1" destOrd="0" presId="urn:microsoft.com/office/officeart/2005/8/layout/hList1"/>
    <dgm:cxn modelId="{13ACA54C-704E-1E4C-8239-81CD83D4EEC3}" type="presParOf" srcId="{AF2887A6-6474-1245-AFBC-A834CE4DE115}" destId="{74D23529-14AD-254B-81CC-E1C7E6358740}" srcOrd="3" destOrd="0" presId="urn:microsoft.com/office/officeart/2005/8/layout/hList1"/>
    <dgm:cxn modelId="{860021CC-3A71-4145-9E5C-FFFAD9FB3595}" type="presParOf" srcId="{AF2887A6-6474-1245-AFBC-A834CE4DE115}" destId="{BE989BCB-0030-F749-8752-E7A50C5B112C}" srcOrd="4" destOrd="0" presId="urn:microsoft.com/office/officeart/2005/8/layout/hList1"/>
    <dgm:cxn modelId="{5FB5CAE3-56AD-CE4A-846E-E4329BF6A489}" type="presParOf" srcId="{BE989BCB-0030-F749-8752-E7A50C5B112C}" destId="{48AFF8B1-AE3F-0F47-B05F-E9D328107A0B}" srcOrd="0" destOrd="0" presId="urn:microsoft.com/office/officeart/2005/8/layout/hList1"/>
    <dgm:cxn modelId="{285D81D0-63A8-BF4E-8E6B-DED50F237922}" type="presParOf" srcId="{BE989BCB-0030-F749-8752-E7A50C5B112C}" destId="{5840CCFF-E0F5-F24C-A821-947C63DDA31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1572E0-1CE6-8D40-AC1F-D424FEA8CB8E}">
      <dsp:nvSpPr>
        <dsp:cNvPr id="0" name=""/>
        <dsp:cNvSpPr/>
      </dsp:nvSpPr>
      <dsp:spPr>
        <a:xfrm>
          <a:off x="0" y="3366905"/>
          <a:ext cx="6261100" cy="220905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800" kern="1200"/>
            <a:t>대부분의 활성화 함수는 </a:t>
          </a:r>
          <a:r>
            <a:rPr kumimoji="1" lang="en-US" sz="1800" kern="1200"/>
            <a:t>[-1...1] </a:t>
          </a:r>
          <a:r>
            <a:rPr kumimoji="1" lang="ko-KR" sz="1800" kern="1200"/>
            <a:t>주변의 비선형성을 가지므로 모든 입력 데이터를 </a:t>
          </a:r>
          <a:r>
            <a:rPr kumimoji="1" lang="en-US" sz="1800" kern="1200"/>
            <a:t>[-1...1] </a:t>
          </a:r>
          <a:r>
            <a:rPr kumimoji="1" lang="ko-KR" sz="1800" kern="1200"/>
            <a:t>또는 </a:t>
          </a:r>
          <a:r>
            <a:rPr kumimoji="1" lang="en-US" sz="1800" kern="1200"/>
            <a:t>[0...1] </a:t>
          </a:r>
          <a:r>
            <a:rPr kumimoji="1" lang="ko-KR" sz="1800" kern="1200"/>
            <a:t>간격으로 스케일링하는 것이 합리적</a:t>
          </a:r>
          <a:endParaRPr lang="en-US" sz="1800" kern="1200"/>
        </a:p>
      </dsp:txBody>
      <dsp:txXfrm>
        <a:off x="0" y="3366905"/>
        <a:ext cx="6261100" cy="2209054"/>
      </dsp:txXfrm>
    </dsp:sp>
    <dsp:sp modelId="{B5A63909-7D44-1646-B3B7-2AD569EFF733}">
      <dsp:nvSpPr>
        <dsp:cNvPr id="0" name=""/>
        <dsp:cNvSpPr/>
      </dsp:nvSpPr>
      <dsp:spPr>
        <a:xfrm rot="10800000">
          <a:off x="0" y="2515"/>
          <a:ext cx="6261100" cy="3397525"/>
        </a:xfrm>
        <a:prstGeom prst="upArrowCallout">
          <a:avLst/>
        </a:prstGeom>
        <a:gradFill rotWithShape="0">
          <a:gsLst>
            <a:gs pos="0">
              <a:schemeClr val="accent2">
                <a:hueOff val="5542319"/>
                <a:satOff val="-953"/>
                <a:lumOff val="-9804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5542319"/>
                <a:satOff val="-953"/>
                <a:lumOff val="-9804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5542319"/>
                <a:satOff val="-953"/>
                <a:lumOff val="-9804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800" kern="1200"/>
            <a:t>수치 계산의 안정성을 높이기 위해 신경망 내의 모든 값이 일반적으로 </a:t>
          </a:r>
          <a:r>
            <a:rPr kumimoji="1" lang="en-US" sz="1800" kern="1200"/>
            <a:t>[-1...1] </a:t>
          </a:r>
          <a:r>
            <a:rPr kumimoji="1" lang="ko-KR" sz="1800" kern="1200"/>
            <a:t>또는 </a:t>
          </a:r>
          <a:r>
            <a:rPr kumimoji="1" lang="en-US" sz="1800" kern="1200"/>
            <a:t>[0...1] </a:t>
          </a:r>
          <a:r>
            <a:rPr kumimoji="1" lang="ko-KR" sz="1800" kern="1200"/>
            <a:t>범위 내에 있도록 함</a:t>
          </a:r>
          <a:endParaRPr lang="en-US" sz="1800" kern="1200"/>
        </a:p>
      </dsp:txBody>
      <dsp:txXfrm rot="-10800000">
        <a:off x="0" y="2515"/>
        <a:ext cx="6261100" cy="1192531"/>
      </dsp:txXfrm>
    </dsp:sp>
    <dsp:sp modelId="{7E92225F-0C14-434F-92A2-B4496FD1D694}">
      <dsp:nvSpPr>
        <dsp:cNvPr id="0" name=""/>
        <dsp:cNvSpPr/>
      </dsp:nvSpPr>
      <dsp:spPr>
        <a:xfrm>
          <a:off x="0" y="1195046"/>
          <a:ext cx="3130550" cy="101586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200" kern="1200"/>
            <a:t>매우 엄격한 요구 사항은 아니지만</a:t>
          </a:r>
          <a:r>
            <a:rPr kumimoji="1" lang="en-US" sz="1200" kern="1200"/>
            <a:t>, </a:t>
          </a:r>
          <a:r>
            <a:rPr kumimoji="1" lang="ko-KR" sz="1200" kern="1200"/>
            <a:t>부동 소수점 계산의 특성상 크기가 다른 값은 함께 정확하게 조작할 수 없음</a:t>
          </a:r>
          <a:endParaRPr lang="en-US" sz="1200" kern="1200"/>
        </a:p>
      </dsp:txBody>
      <dsp:txXfrm>
        <a:off x="0" y="1195046"/>
        <a:ext cx="3130550" cy="1015860"/>
      </dsp:txXfrm>
    </dsp:sp>
    <dsp:sp modelId="{A9EA3C52-0951-6E40-9E9D-D69EF03C8DE4}">
      <dsp:nvSpPr>
        <dsp:cNvPr id="0" name=""/>
        <dsp:cNvSpPr/>
      </dsp:nvSpPr>
      <dsp:spPr>
        <a:xfrm>
          <a:off x="3130550" y="1195046"/>
          <a:ext cx="3130550" cy="1015860"/>
        </a:xfrm>
        <a:prstGeom prst="rect">
          <a:avLst/>
        </a:prstGeom>
        <a:solidFill>
          <a:schemeClr val="accent2">
            <a:tint val="40000"/>
            <a:alpha val="90000"/>
            <a:hueOff val="5291884"/>
            <a:satOff val="-5406"/>
            <a:lumOff val="-1925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5291884"/>
              <a:satOff val="-5406"/>
              <a:lumOff val="-192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200" kern="1200"/>
            <a:t>예를 들어 </a:t>
          </a:r>
          <a:r>
            <a:rPr kumimoji="1" lang="en-US" sz="1200" kern="1200"/>
            <a:t>10-</a:t>
          </a:r>
          <a:r>
            <a:rPr kumimoji="1" lang="en-US" sz="1200" kern="1200" baseline="30000"/>
            <a:t>10</a:t>
          </a:r>
          <a:r>
            <a:rPr kumimoji="1" lang="ko-KR" sz="1200" kern="1200"/>
            <a:t>과 </a:t>
          </a:r>
          <a:r>
            <a:rPr kumimoji="1" lang="en-US" sz="1200" kern="1200"/>
            <a:t>10</a:t>
          </a:r>
          <a:r>
            <a:rPr kumimoji="1" lang="en-US" sz="1200" kern="1200" baseline="30000"/>
            <a:t>10</a:t>
          </a:r>
          <a:r>
            <a:rPr kumimoji="1" lang="ko-KR" sz="1200" kern="1200"/>
            <a:t>을 더하면 </a:t>
          </a:r>
          <a:r>
            <a:rPr kumimoji="1" lang="en-US" sz="1200" kern="1200"/>
            <a:t>10</a:t>
          </a:r>
          <a:r>
            <a:rPr kumimoji="1" lang="en-US" sz="1200" kern="1200" baseline="30000"/>
            <a:t>10</a:t>
          </a:r>
          <a:r>
            <a:rPr kumimoji="1" lang="ko-KR" sz="1200" kern="1200"/>
            <a:t>이 나올 가능성이 높은데</a:t>
          </a:r>
          <a:r>
            <a:rPr kumimoji="1" lang="en-US" sz="1200" kern="1200"/>
            <a:t>, </a:t>
          </a:r>
          <a:r>
            <a:rPr kumimoji="1" lang="ko-KR" sz="1200" kern="1200"/>
            <a:t>이는 작은 값이 큰 값과 같은 순서로 </a:t>
          </a:r>
          <a:r>
            <a:rPr kumimoji="1" lang="en-US" sz="1200" kern="1200"/>
            <a:t>'</a:t>
          </a:r>
          <a:r>
            <a:rPr kumimoji="1" lang="ko-KR" sz="1200" kern="1200"/>
            <a:t>변환</a:t>
          </a:r>
          <a:r>
            <a:rPr kumimoji="1" lang="en-US" sz="1200" kern="1200"/>
            <a:t>'</a:t>
          </a:r>
          <a:r>
            <a:rPr kumimoji="1" lang="ko-KR" sz="1200" kern="1200"/>
            <a:t>되어 만티사 </a:t>
          </a:r>
          <a:r>
            <a:rPr kumimoji="1" lang="en-US" sz="1200" kern="1200"/>
            <a:t>(</a:t>
          </a:r>
          <a:r>
            <a:rPr kumimoji="1" lang="ko-KR" sz="1200" kern="1200"/>
            <a:t>가수부</a:t>
          </a:r>
          <a:r>
            <a:rPr kumimoji="1" lang="en-US" sz="1200" kern="1200"/>
            <a:t>:</a:t>
          </a:r>
          <a:r>
            <a:rPr kumimoji="1" lang="ko-KR" sz="1200" kern="1200"/>
            <a:t> 로그의 소수 부분</a:t>
          </a:r>
          <a:r>
            <a:rPr kumimoji="1" lang="en-US" sz="1200" kern="1200"/>
            <a:t>)</a:t>
          </a:r>
          <a:r>
            <a:rPr kumimoji="1" lang="ko-KR" sz="1200" kern="1200"/>
            <a:t>가 손실되기 때문</a:t>
          </a:r>
          <a:endParaRPr lang="en-US" sz="1200" kern="1200"/>
        </a:p>
      </dsp:txBody>
      <dsp:txXfrm>
        <a:off x="3130550" y="1195046"/>
        <a:ext cx="3130550" cy="10158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FBA27D-861E-5841-8AC3-95B18E287F12}">
      <dsp:nvSpPr>
        <dsp:cNvPr id="0" name=""/>
        <dsp:cNvSpPr/>
      </dsp:nvSpPr>
      <dsp:spPr>
        <a:xfrm rot="5400000">
          <a:off x="6662635" y="-2588011"/>
          <a:ext cx="1404400" cy="693161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sz="1800" kern="1200"/>
            <a:t>정규화 기법 중 하나를 사용하여 신호를 원래대로 되돌릴 수 있는데</a:t>
          </a:r>
          <a:r>
            <a:rPr kumimoji="1" lang="en-US" sz="1800" kern="1200"/>
            <a:t> </a:t>
          </a:r>
          <a:r>
            <a:rPr kumimoji="1" lang="ko-KR" sz="1800" kern="1200"/>
            <a:t>가중치 정규화</a:t>
          </a:r>
          <a:r>
            <a:rPr kumimoji="1" lang="en-US" sz="1800" kern="1200"/>
            <a:t>, </a:t>
          </a:r>
          <a:r>
            <a:rPr kumimoji="1" lang="ko-KR" sz="1800" kern="1200"/>
            <a:t>레이어 정규화 등 여러 가지가 있지만</a:t>
          </a:r>
          <a:r>
            <a:rPr kumimoji="1" lang="en-US" sz="1800" kern="1200"/>
            <a:t>, </a:t>
          </a:r>
          <a:r>
            <a:rPr kumimoji="1" lang="ko-KR" sz="1800" kern="1200"/>
            <a:t>가장 자주 사용되는 것은 배치 정규화</a:t>
          </a:r>
          <a:endParaRPr lang="en-US" sz="1800" kern="1200"/>
        </a:p>
      </dsp:txBody>
      <dsp:txXfrm rot="-5400000">
        <a:off x="3899031" y="244150"/>
        <a:ext cx="6863053" cy="1267286"/>
      </dsp:txXfrm>
    </dsp:sp>
    <dsp:sp modelId="{976EAEDD-EA1D-924F-8071-6085B8A1AE51}">
      <dsp:nvSpPr>
        <dsp:cNvPr id="0" name=""/>
        <dsp:cNvSpPr/>
      </dsp:nvSpPr>
      <dsp:spPr>
        <a:xfrm>
          <a:off x="0" y="43"/>
          <a:ext cx="3899030" cy="1755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700" kern="1200"/>
            <a:t>가중치를 적절하게 초기화하더라도 훈련 중에 가중치가 임의로 커지거나 작아질 수 있으며</a:t>
          </a:r>
          <a:r>
            <a:rPr kumimoji="1" lang="en-US" sz="1700" kern="1200"/>
            <a:t>, </a:t>
          </a:r>
          <a:r>
            <a:rPr kumimoji="1" lang="ko-KR" sz="1700" kern="1200"/>
            <a:t>이로 인해 신호가 적절한 범위를 벗어날 수 있음</a:t>
          </a:r>
          <a:endParaRPr lang="en-US" sz="1700" kern="1200"/>
        </a:p>
      </dsp:txBody>
      <dsp:txXfrm>
        <a:off x="85696" y="85739"/>
        <a:ext cx="3727638" cy="1584108"/>
      </dsp:txXfrm>
    </dsp:sp>
    <dsp:sp modelId="{4C1F442F-588E-A341-BEB9-CB02BBEE15C0}">
      <dsp:nvSpPr>
        <dsp:cNvPr id="0" name=""/>
        <dsp:cNvSpPr/>
      </dsp:nvSpPr>
      <dsp:spPr>
        <a:xfrm rot="5400000">
          <a:off x="6662635" y="-744736"/>
          <a:ext cx="1404400" cy="693161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sz="1800" kern="1200"/>
            <a:t>가중치를 적용한 후 활성화 함수 이전에 이 정규화를 수행하는 네트워크 계층으로 구현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sz="1800" kern="1200"/>
            <a:t>결과적으로 최종 정확도가 높아지고 학습 속도가 빨라질 수 있음</a:t>
          </a:r>
          <a:endParaRPr lang="en-US" sz="1800" kern="1200"/>
        </a:p>
      </dsp:txBody>
      <dsp:txXfrm rot="-5400000">
        <a:off x="3899031" y="2087425"/>
        <a:ext cx="6863053" cy="1267286"/>
      </dsp:txXfrm>
    </dsp:sp>
    <dsp:sp modelId="{5F1F5335-E011-6040-BFF0-0F3FC6B11DF4}">
      <dsp:nvSpPr>
        <dsp:cNvPr id="0" name=""/>
        <dsp:cNvSpPr/>
      </dsp:nvSpPr>
      <dsp:spPr>
        <a:xfrm>
          <a:off x="0" y="1843319"/>
          <a:ext cx="3899030" cy="1755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700" kern="1200"/>
            <a:t>배치 정규화의 개념은 미니배치 전체의 모든 값을 고려하고 그 값을 기반으로 정규화</a:t>
          </a:r>
          <a:r>
            <a:rPr kumimoji="1" lang="en-US" sz="1700" kern="1200"/>
            <a:t>(</a:t>
          </a:r>
          <a:r>
            <a:rPr kumimoji="1" lang="ko-KR" sz="1700" kern="1200"/>
            <a:t>즉</a:t>
          </a:r>
          <a:r>
            <a:rPr kumimoji="1" lang="en-US" sz="1700" kern="1200"/>
            <a:t>, </a:t>
          </a:r>
          <a:r>
            <a:rPr kumimoji="1" lang="ko-KR" sz="1700" kern="1200"/>
            <a:t>평균을 빼고 표준편차로 나누는 것</a:t>
          </a:r>
          <a:r>
            <a:rPr kumimoji="1" lang="en-US" sz="1700" kern="1200"/>
            <a:t>)</a:t>
          </a:r>
          <a:r>
            <a:rPr kumimoji="1" lang="ko-KR" sz="1700" kern="1200"/>
            <a:t>를 수행하는 것</a:t>
          </a:r>
          <a:endParaRPr lang="en-US" sz="1700" kern="1200"/>
        </a:p>
      </dsp:txBody>
      <dsp:txXfrm>
        <a:off x="85696" y="1929015"/>
        <a:ext cx="3727638" cy="158410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1ACBD3-9BD4-CD4E-918C-3D1900BB10C2}">
      <dsp:nvSpPr>
        <dsp:cNvPr id="0" name=""/>
        <dsp:cNvSpPr/>
      </dsp:nvSpPr>
      <dsp:spPr>
        <a:xfrm>
          <a:off x="3384" y="96196"/>
          <a:ext cx="3299960" cy="102861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500" kern="1200"/>
            <a:t>드롭아웃은 훈련 중에 특정 비율의 무작위 뉴런을 제거하는 기법</a:t>
          </a:r>
          <a:endParaRPr lang="en-US" sz="1500" kern="1200"/>
        </a:p>
      </dsp:txBody>
      <dsp:txXfrm>
        <a:off x="3384" y="96196"/>
        <a:ext cx="3299960" cy="1028614"/>
      </dsp:txXfrm>
    </dsp:sp>
    <dsp:sp modelId="{4316DCAD-9E4A-7F41-8DDB-AF8F4A0A8E3C}">
      <dsp:nvSpPr>
        <dsp:cNvPr id="0" name=""/>
        <dsp:cNvSpPr/>
      </dsp:nvSpPr>
      <dsp:spPr>
        <a:xfrm>
          <a:off x="3384" y="1124810"/>
          <a:ext cx="3299960" cy="237785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sz="1500" kern="1200"/>
            <a:t>하나의 매개변수</a:t>
          </a:r>
          <a:r>
            <a:rPr kumimoji="1" lang="en-US" sz="1500" kern="1200"/>
            <a:t>(</a:t>
          </a:r>
          <a:r>
            <a:rPr kumimoji="1" lang="ko-KR" sz="1500" kern="1200"/>
            <a:t>제거할 뉴런의 비율</a:t>
          </a:r>
          <a:r>
            <a:rPr kumimoji="1" lang="en-US" sz="1500" kern="1200"/>
            <a:t>, </a:t>
          </a:r>
          <a:r>
            <a:rPr kumimoji="1" lang="ko-KR" sz="1500" kern="1200"/>
            <a:t>일반적으로 </a:t>
          </a:r>
          <a:r>
            <a:rPr kumimoji="1" lang="en-US" sz="1500" kern="1200"/>
            <a:t>10%~50%)</a:t>
          </a:r>
          <a:r>
            <a:rPr kumimoji="1" lang="ko-KR" sz="1500" kern="1200"/>
            <a:t>를 가진 레이어로 구현되며</a:t>
          </a:r>
          <a:r>
            <a:rPr kumimoji="1" lang="en-US" sz="1500" kern="1200"/>
            <a:t>, </a:t>
          </a:r>
          <a:r>
            <a:rPr kumimoji="1" lang="ko-KR" sz="1500" kern="1200"/>
            <a:t>훈련 중에 입력 벡터의 임의 요소를 </a:t>
          </a:r>
          <a:r>
            <a:rPr kumimoji="1" lang="en-US" sz="1500" kern="1200"/>
            <a:t>0</a:t>
          </a:r>
          <a:r>
            <a:rPr kumimoji="1" lang="ko-KR" sz="1500" kern="1200"/>
            <a:t>으로 만든 다음 다음 레이어로 전달</a:t>
          </a:r>
          <a:endParaRPr lang="en-US" sz="1500" kern="1200"/>
        </a:p>
      </dsp:txBody>
      <dsp:txXfrm>
        <a:off x="3384" y="1124810"/>
        <a:ext cx="3299960" cy="2377856"/>
      </dsp:txXfrm>
    </dsp:sp>
    <dsp:sp modelId="{3D142FC0-F151-F643-A153-01841884F649}">
      <dsp:nvSpPr>
        <dsp:cNvPr id="0" name=""/>
        <dsp:cNvSpPr/>
      </dsp:nvSpPr>
      <dsp:spPr>
        <a:xfrm>
          <a:off x="3765340" y="96196"/>
          <a:ext cx="3299960" cy="1028614"/>
        </a:xfrm>
        <a:prstGeom prst="rect">
          <a:avLst/>
        </a:prstGeom>
        <a:solidFill>
          <a:schemeClr val="accent2">
            <a:hueOff val="2771159"/>
            <a:satOff val="-477"/>
            <a:lumOff val="-4902"/>
            <a:alphaOff val="0"/>
          </a:schemeClr>
        </a:solidFill>
        <a:ln w="12700" cap="flat" cmpd="sng" algn="ctr">
          <a:solidFill>
            <a:schemeClr val="accent2">
              <a:hueOff val="2771159"/>
              <a:satOff val="-477"/>
              <a:lumOff val="-490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500" kern="1200"/>
            <a:t>드롭아웃을 통해 훈련 속도가 빨라지고 더 적은 훈련 시간으로 더 높은 정확도를 달성할 수 있음</a:t>
          </a:r>
          <a:endParaRPr lang="en-US" sz="1500" kern="1200"/>
        </a:p>
      </dsp:txBody>
      <dsp:txXfrm>
        <a:off x="3765340" y="96196"/>
        <a:ext cx="3299960" cy="1028614"/>
      </dsp:txXfrm>
    </dsp:sp>
    <dsp:sp modelId="{FFAEB3B8-8A16-D143-8CE8-0FF6C38DDEDF}">
      <dsp:nvSpPr>
        <dsp:cNvPr id="0" name=""/>
        <dsp:cNvSpPr/>
      </dsp:nvSpPr>
      <dsp:spPr>
        <a:xfrm>
          <a:off x="3765340" y="1124810"/>
          <a:ext cx="3299960" cy="2377856"/>
        </a:xfrm>
        <a:prstGeom prst="rect">
          <a:avLst/>
        </a:prstGeom>
        <a:solidFill>
          <a:schemeClr val="accent2">
            <a:tint val="40000"/>
            <a:alpha val="90000"/>
            <a:hueOff val="2645942"/>
            <a:satOff val="-2703"/>
            <a:lumOff val="-963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2645942"/>
              <a:satOff val="-2703"/>
              <a:lumOff val="-96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1253C8-8EC4-8545-B4E3-D88777693F53}">
      <dsp:nvSpPr>
        <dsp:cNvPr id="0" name=""/>
        <dsp:cNvSpPr/>
      </dsp:nvSpPr>
      <dsp:spPr>
        <a:xfrm>
          <a:off x="7527295" y="96196"/>
          <a:ext cx="3299960" cy="1028614"/>
        </a:xfrm>
        <a:prstGeom prst="rect">
          <a:avLst/>
        </a:prstGeom>
        <a:solidFill>
          <a:schemeClr val="accent2">
            <a:hueOff val="5542319"/>
            <a:satOff val="-953"/>
            <a:lumOff val="-9804"/>
            <a:alphaOff val="0"/>
          </a:schemeClr>
        </a:solidFill>
        <a:ln w="12700" cap="flat" cmpd="sng" algn="ctr">
          <a:solidFill>
            <a:schemeClr val="accent2">
              <a:hueOff val="5542319"/>
              <a:satOff val="-953"/>
              <a:lumOff val="-980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500" kern="1200"/>
            <a:t>이 효과는 몇 가지 방법으로 설명할 수 있음</a:t>
          </a:r>
          <a:endParaRPr lang="en-US" sz="1500" kern="1200"/>
        </a:p>
      </dsp:txBody>
      <dsp:txXfrm>
        <a:off x="7527295" y="96196"/>
        <a:ext cx="3299960" cy="1028614"/>
      </dsp:txXfrm>
    </dsp:sp>
    <dsp:sp modelId="{4D7CB1CF-E651-D64A-8687-ED3866B6D4D0}">
      <dsp:nvSpPr>
        <dsp:cNvPr id="0" name=""/>
        <dsp:cNvSpPr/>
      </dsp:nvSpPr>
      <dsp:spPr>
        <a:xfrm>
          <a:off x="7527295" y="1124810"/>
          <a:ext cx="3299960" cy="2377856"/>
        </a:xfrm>
        <a:prstGeom prst="rect">
          <a:avLst/>
        </a:prstGeom>
        <a:solidFill>
          <a:schemeClr val="accent2">
            <a:tint val="40000"/>
            <a:alpha val="90000"/>
            <a:hueOff val="5291884"/>
            <a:satOff val="-5406"/>
            <a:lumOff val="-192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5291884"/>
              <a:satOff val="-5406"/>
              <a:lumOff val="-192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sz="1500" kern="1200"/>
            <a:t>모델에 무작위로 충격을 주는 요인으로 간주할 수 있으며</a:t>
          </a:r>
          <a:r>
            <a:rPr kumimoji="1" lang="en-US" sz="1500" kern="1200"/>
            <a:t>, </a:t>
          </a:r>
          <a:r>
            <a:rPr kumimoji="1" lang="ko-KR" sz="1500" kern="1200"/>
            <a:t>이는 로컬 최소값에서 최적화를 제거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sz="1500" kern="1200"/>
            <a:t>드롭아웃 중에 약간 다른 모델을 훈련한다고 말할 수 있기 때문에 암시적 모델 평균화로 간주할 수 있음</a:t>
          </a:r>
          <a:endParaRPr lang="en-US" sz="1500" kern="1200"/>
        </a:p>
      </dsp:txBody>
      <dsp:txXfrm>
        <a:off x="7527295" y="1124810"/>
        <a:ext cx="3299960" cy="237785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8DB4F1-5D54-B34E-AE44-D15578987D76}">
      <dsp:nvSpPr>
        <dsp:cNvPr id="0" name=""/>
        <dsp:cNvSpPr/>
      </dsp:nvSpPr>
      <dsp:spPr>
        <a:xfrm>
          <a:off x="0" y="1013762"/>
          <a:ext cx="6261100" cy="9008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85931" tIns="270764" rIns="485931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sz="1300" kern="1200"/>
            <a:t>강력한 신경망 모델을 사용하고 싶을 수도 있지만</a:t>
          </a:r>
          <a:r>
            <a:rPr kumimoji="1" lang="en-US" sz="1300" kern="1200"/>
            <a:t>, </a:t>
          </a:r>
          <a:r>
            <a:rPr kumimoji="1" lang="ko-KR" sz="1300" kern="1200"/>
            <a:t>항상 모델 매개변수의 수와 훈련 샘플 수의 균형을 맞춰야 힘</a:t>
          </a:r>
          <a:endParaRPr lang="en-US" sz="1300" kern="1200"/>
        </a:p>
      </dsp:txBody>
      <dsp:txXfrm>
        <a:off x="0" y="1013762"/>
        <a:ext cx="6261100" cy="900899"/>
      </dsp:txXfrm>
    </dsp:sp>
    <dsp:sp modelId="{726C8DC1-B072-AE49-8BBF-10670ABF6E2F}">
      <dsp:nvSpPr>
        <dsp:cNvPr id="0" name=""/>
        <dsp:cNvSpPr/>
      </dsp:nvSpPr>
      <dsp:spPr>
        <a:xfrm>
          <a:off x="313055" y="821882"/>
          <a:ext cx="4382770" cy="3837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5658" tIns="0" rIns="165658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300" kern="1200"/>
            <a:t>딥러닝을 사용할 때 조심해야 하는 것은 과적합의 방지</a:t>
          </a:r>
          <a:endParaRPr lang="en-US" sz="1300" kern="1200"/>
        </a:p>
      </dsp:txBody>
      <dsp:txXfrm>
        <a:off x="331789" y="840616"/>
        <a:ext cx="4345302" cy="346292"/>
      </dsp:txXfrm>
    </dsp:sp>
    <dsp:sp modelId="{EB5BC2F2-5790-844A-B9DB-A40E80EE39DC}">
      <dsp:nvSpPr>
        <dsp:cNvPr id="0" name=""/>
        <dsp:cNvSpPr/>
      </dsp:nvSpPr>
      <dsp:spPr>
        <a:xfrm>
          <a:off x="0" y="2176742"/>
          <a:ext cx="6261100" cy="25798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5542319"/>
              <a:satOff val="-953"/>
              <a:lumOff val="-980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85931" tIns="270764" rIns="485931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sz="1300" kern="1200"/>
            <a:t>조기 중지 </a:t>
          </a:r>
          <a:r>
            <a:rPr kumimoji="1" lang="en-US" sz="1300" kern="1200"/>
            <a:t>- </a:t>
          </a:r>
          <a:r>
            <a:rPr kumimoji="1" lang="ko-KR" sz="1300" kern="1200"/>
            <a:t>검증 세트의 오류를 지속적으로 모니터링하고 검증 오류가 증가하기 시작하면 훈련을 중지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sz="1300" kern="1200"/>
            <a:t>명시적 가중치 감쇠</a:t>
          </a:r>
          <a:r>
            <a:rPr kumimoji="1" lang="en-US" sz="1300" kern="1200"/>
            <a:t>/</a:t>
          </a:r>
          <a:r>
            <a:rPr kumimoji="1" lang="ko-KR" sz="1300" kern="1200"/>
            <a:t>정규화 </a:t>
          </a:r>
          <a:r>
            <a:rPr kumimoji="1" lang="en-US" sz="1300" kern="1200"/>
            <a:t>- </a:t>
          </a:r>
          <a:r>
            <a:rPr kumimoji="1" lang="ko-KR" sz="1300" kern="1200"/>
            <a:t>가중치의 절대값이 높을 경우 손실 함수에 추가 페널티를 추가하여 모델이 매우 불안정한 결과를 얻지 못하도록 방지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sz="1300" kern="1200"/>
            <a:t>모델 평균화 </a:t>
          </a:r>
          <a:r>
            <a:rPr kumimoji="1" lang="en-US" sz="1300" kern="1200"/>
            <a:t>- </a:t>
          </a:r>
          <a:r>
            <a:rPr kumimoji="1" lang="ko-KR" sz="1300" kern="1200"/>
            <a:t>여러 모델을 학습시킨 다음 결과를 평균화하는 기능인데 이는 분산을 최소화하는 데 도움이 됨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sz="1300" kern="1200"/>
            <a:t>드롭아웃</a:t>
          </a:r>
          <a:r>
            <a:rPr kumimoji="1" lang="en-US" sz="1300" kern="1200"/>
            <a:t>(</a:t>
          </a:r>
          <a:r>
            <a:rPr kumimoji="1" lang="ko-KR" sz="1300" kern="1200"/>
            <a:t>암시적 모델 평균화</a:t>
          </a:r>
          <a:r>
            <a:rPr kumimoji="1" lang="en-US" sz="1300" kern="1200"/>
            <a:t>)</a:t>
          </a:r>
          <a:endParaRPr lang="en-US" sz="1300" kern="1200"/>
        </a:p>
      </dsp:txBody>
      <dsp:txXfrm>
        <a:off x="0" y="2176742"/>
        <a:ext cx="6261100" cy="2579850"/>
      </dsp:txXfrm>
    </dsp:sp>
    <dsp:sp modelId="{1E270F7D-10FC-DD4C-80D3-87F7A80D136D}">
      <dsp:nvSpPr>
        <dsp:cNvPr id="0" name=""/>
        <dsp:cNvSpPr/>
      </dsp:nvSpPr>
      <dsp:spPr>
        <a:xfrm>
          <a:off x="313055" y="1984862"/>
          <a:ext cx="4382770" cy="383760"/>
        </a:xfrm>
        <a:prstGeom prst="roundRect">
          <a:avLst/>
        </a:prstGeom>
        <a:gradFill rotWithShape="0">
          <a:gsLst>
            <a:gs pos="0">
              <a:schemeClr val="accent2">
                <a:hueOff val="5542319"/>
                <a:satOff val="-953"/>
                <a:lumOff val="-9804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5542319"/>
                <a:satOff val="-953"/>
                <a:lumOff val="-9804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5542319"/>
                <a:satOff val="-953"/>
                <a:lumOff val="-9804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5658" tIns="0" rIns="165658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300" kern="1200"/>
            <a:t>과적합을 방지하는 방법에는 여러 가지가 있음</a:t>
          </a:r>
          <a:endParaRPr lang="en-US" sz="1300" kern="1200"/>
        </a:p>
      </dsp:txBody>
      <dsp:txXfrm>
        <a:off x="331789" y="2003596"/>
        <a:ext cx="4345302" cy="34629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74F064-1B4B-4C4E-8415-A4B6DF6E684E}">
      <dsp:nvSpPr>
        <dsp:cNvPr id="0" name=""/>
        <dsp:cNvSpPr/>
      </dsp:nvSpPr>
      <dsp:spPr>
        <a:xfrm rot="5400000">
          <a:off x="3169091" y="-642913"/>
          <a:ext cx="2176912" cy="4007104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sz="2300" kern="1200"/>
            <a:t>고전적인 경사 하강은 합리적인 선택이지만</a:t>
          </a:r>
          <a:r>
            <a:rPr kumimoji="1" lang="en-US" sz="2300" kern="1200"/>
            <a:t>, </a:t>
          </a:r>
          <a:r>
            <a:rPr kumimoji="1" lang="ko-KR" sz="2300" kern="1200"/>
            <a:t>때로는 너무 느리거나 다른 문제가 발생할 수 있음</a:t>
          </a:r>
          <a:endParaRPr lang="en-US" sz="2300" kern="1200"/>
        </a:p>
      </dsp:txBody>
      <dsp:txXfrm rot="-5400000">
        <a:off x="2253995" y="378451"/>
        <a:ext cx="3900836" cy="1964376"/>
      </dsp:txXfrm>
    </dsp:sp>
    <dsp:sp modelId="{7660DEB6-298B-4648-B3AD-00646B61F489}">
      <dsp:nvSpPr>
        <dsp:cNvPr id="0" name=""/>
        <dsp:cNvSpPr/>
      </dsp:nvSpPr>
      <dsp:spPr>
        <a:xfrm>
          <a:off x="0" y="68"/>
          <a:ext cx="2253996" cy="27211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600" kern="1200"/>
            <a:t>훈련의 또 다른 중요한 측면은 좋은 훈련 알고리즘을 선택하는 것</a:t>
          </a:r>
          <a:endParaRPr lang="en-US" sz="1600" kern="1200"/>
        </a:p>
      </dsp:txBody>
      <dsp:txXfrm>
        <a:off x="110031" y="110099"/>
        <a:ext cx="2033934" cy="2501078"/>
      </dsp:txXfrm>
    </dsp:sp>
    <dsp:sp modelId="{ED1B4457-79C2-6846-9031-2A231573D4DA}">
      <dsp:nvSpPr>
        <dsp:cNvPr id="0" name=""/>
        <dsp:cNvSpPr/>
      </dsp:nvSpPr>
      <dsp:spPr>
        <a:xfrm rot="5400000">
          <a:off x="3169091" y="2214284"/>
          <a:ext cx="2176912" cy="4007104"/>
        </a:xfrm>
        <a:prstGeom prst="round2SameRect">
          <a:avLst/>
        </a:prstGeom>
        <a:solidFill>
          <a:schemeClr val="accent2">
            <a:tint val="40000"/>
            <a:alpha val="90000"/>
            <a:hueOff val="5291884"/>
            <a:satOff val="-5406"/>
            <a:lumOff val="-1925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5291884"/>
              <a:satOff val="-5406"/>
              <a:lumOff val="-192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sz="2300" kern="1200"/>
            <a:t>가중치는 다음 공식을 사용하여 조정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0" i="0" kern="1200"/>
            <a:t>w</a:t>
          </a:r>
          <a:r>
            <a:rPr lang="en-US" sz="2300" b="0" i="0" kern="1200" baseline="30000"/>
            <a:t>t+1</a:t>
          </a:r>
          <a:r>
            <a:rPr lang="en-US" sz="2300" b="0" i="0" kern="1200"/>
            <a:t> = w</a:t>
          </a:r>
          <a:r>
            <a:rPr lang="en-US" sz="2300" b="0" i="0" kern="1200" baseline="30000"/>
            <a:t>t</a:t>
          </a:r>
          <a:r>
            <a:rPr lang="en-US" sz="2300" b="0" i="0" kern="1200"/>
            <a:t> - </a:t>
          </a:r>
          <a:r>
            <a:rPr lang="el-GR" sz="2300" b="0" i="0" kern="1200"/>
            <a:t>η∇ℒ</a:t>
          </a:r>
          <a:endParaRPr lang="en-US" sz="2300" kern="1200"/>
        </a:p>
      </dsp:txBody>
      <dsp:txXfrm rot="-5400000">
        <a:off x="2253995" y="3235648"/>
        <a:ext cx="3900836" cy="1964376"/>
      </dsp:txXfrm>
    </dsp:sp>
    <dsp:sp modelId="{EE7BE75D-6DF9-A742-95A8-34E8EDE4FB6B}">
      <dsp:nvSpPr>
        <dsp:cNvPr id="0" name=""/>
        <dsp:cNvSpPr/>
      </dsp:nvSpPr>
      <dsp:spPr>
        <a:xfrm>
          <a:off x="0" y="2857266"/>
          <a:ext cx="2253996" cy="2721140"/>
        </a:xfrm>
        <a:prstGeom prst="roundRect">
          <a:avLst/>
        </a:prstGeom>
        <a:gradFill rotWithShape="0">
          <a:gsLst>
            <a:gs pos="0">
              <a:schemeClr val="accent2">
                <a:hueOff val="5542319"/>
                <a:satOff val="-953"/>
                <a:lumOff val="-9804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5542319"/>
                <a:satOff val="-953"/>
                <a:lumOff val="-9804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5542319"/>
                <a:satOff val="-953"/>
                <a:lumOff val="-9804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600" kern="1200"/>
            <a:t>딥러닝에서는 훈련 세트에서 무작위로 선택된 미니 배치에 경사 하강을 적용하는 확률적 경사 하강</a:t>
          </a:r>
          <a:r>
            <a:rPr kumimoji="1" lang="en-US" sz="1600" kern="1200"/>
            <a:t>(SGD, Stochastic Gradient Descent)</a:t>
          </a:r>
          <a:r>
            <a:rPr kumimoji="1" lang="ko-KR" sz="1600" kern="1200"/>
            <a:t>을 사용</a:t>
          </a:r>
          <a:endParaRPr lang="en-US" sz="1600" kern="1200"/>
        </a:p>
      </dsp:txBody>
      <dsp:txXfrm>
        <a:off x="110031" y="2967297"/>
        <a:ext cx="2033934" cy="250107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7352E9-2A41-DD4F-B00E-FAFC273B101E}">
      <dsp:nvSpPr>
        <dsp:cNvPr id="0" name=""/>
        <dsp:cNvSpPr/>
      </dsp:nvSpPr>
      <dsp:spPr>
        <a:xfrm>
          <a:off x="2947" y="579987"/>
          <a:ext cx="2874255" cy="9630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400" kern="1200"/>
            <a:t>문제에 적합한 네트워크 아키텍처를 선택하는 것은 까다로울 수 있음</a:t>
          </a:r>
          <a:endParaRPr lang="en-US" sz="1400" kern="1200"/>
        </a:p>
      </dsp:txBody>
      <dsp:txXfrm>
        <a:off x="2947" y="579987"/>
        <a:ext cx="2874255" cy="963076"/>
      </dsp:txXfrm>
    </dsp:sp>
    <dsp:sp modelId="{7E8ADE5B-7F1B-8948-8866-90B81B0C7031}">
      <dsp:nvSpPr>
        <dsp:cNvPr id="0" name=""/>
        <dsp:cNvSpPr/>
      </dsp:nvSpPr>
      <dsp:spPr>
        <a:xfrm>
          <a:off x="2947" y="1543063"/>
          <a:ext cx="2874255" cy="103760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sz="1400" kern="1200"/>
            <a:t>일반적으로 특정 작업</a:t>
          </a:r>
          <a:r>
            <a:rPr kumimoji="1" lang="en-US" sz="1400" kern="1200"/>
            <a:t>(</a:t>
          </a:r>
          <a:r>
            <a:rPr kumimoji="1" lang="ko-KR" sz="1400" kern="1200"/>
            <a:t>또는 유사한 작업</a:t>
          </a:r>
          <a:r>
            <a:rPr kumimoji="1" lang="en-US" sz="1400" kern="1200"/>
            <a:t>)</a:t>
          </a:r>
          <a:r>
            <a:rPr kumimoji="1" lang="ko-KR" sz="1400" kern="1200"/>
            <a:t>에 적합한 것으로 입증된 아키텍처를 선택</a:t>
          </a:r>
          <a:r>
            <a:rPr kumimoji="1" lang="en-US" sz="1400" kern="1200"/>
            <a:t> </a:t>
          </a:r>
          <a:endParaRPr lang="en-US" sz="1400" kern="1200"/>
        </a:p>
      </dsp:txBody>
      <dsp:txXfrm>
        <a:off x="2947" y="1543063"/>
        <a:ext cx="2874255" cy="1037609"/>
      </dsp:txXfrm>
    </dsp:sp>
    <dsp:sp modelId="{52BA3A6A-F9C1-7348-AE60-E7FA6B09E63F}">
      <dsp:nvSpPr>
        <dsp:cNvPr id="0" name=""/>
        <dsp:cNvSpPr/>
      </dsp:nvSpPr>
      <dsp:spPr>
        <a:xfrm>
          <a:off x="3279598" y="579987"/>
          <a:ext cx="2874255" cy="9630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400" kern="1200"/>
            <a:t>보유하고 있는 훈련 샘플 수에 비해 충분히 강력한 아키텍처를 선택하는 것이 중요</a:t>
          </a:r>
          <a:endParaRPr lang="en-US" sz="1400" kern="1200"/>
        </a:p>
      </dsp:txBody>
      <dsp:txXfrm>
        <a:off x="3279598" y="579987"/>
        <a:ext cx="2874255" cy="963076"/>
      </dsp:txXfrm>
    </dsp:sp>
    <dsp:sp modelId="{31AC2A27-A2E2-B543-B6E5-7DD6085C74AD}">
      <dsp:nvSpPr>
        <dsp:cNvPr id="0" name=""/>
        <dsp:cNvSpPr/>
      </dsp:nvSpPr>
      <dsp:spPr>
        <a:xfrm>
          <a:off x="3279598" y="1543063"/>
          <a:ext cx="2874255" cy="103760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sz="1400" kern="1200"/>
            <a:t>너무 강력한 모델을 선택하면 과적합이 발생할 수 있음</a:t>
          </a:r>
          <a:endParaRPr lang="en-US" sz="1400" kern="1200"/>
        </a:p>
      </dsp:txBody>
      <dsp:txXfrm>
        <a:off x="3279598" y="1543063"/>
        <a:ext cx="2874255" cy="1037609"/>
      </dsp:txXfrm>
    </dsp:sp>
    <dsp:sp modelId="{48AFF8B1-AE3F-0F47-B05F-E9D328107A0B}">
      <dsp:nvSpPr>
        <dsp:cNvPr id="0" name=""/>
        <dsp:cNvSpPr/>
      </dsp:nvSpPr>
      <dsp:spPr>
        <a:xfrm>
          <a:off x="6556249" y="579987"/>
          <a:ext cx="2874255" cy="9630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400" kern="1200"/>
            <a:t>다른 좋은 방법은 필요한 복잡도에 따라 자동으로 조정되는 아키텍처를 사용하는 것</a:t>
          </a:r>
          <a:endParaRPr lang="en-US" sz="1400" kern="1200"/>
        </a:p>
      </dsp:txBody>
      <dsp:txXfrm>
        <a:off x="6556249" y="579987"/>
        <a:ext cx="2874255" cy="963076"/>
      </dsp:txXfrm>
    </dsp:sp>
    <dsp:sp modelId="{5840CCFF-E0F5-F24C-A821-947C63DDA31B}">
      <dsp:nvSpPr>
        <dsp:cNvPr id="0" name=""/>
        <dsp:cNvSpPr/>
      </dsp:nvSpPr>
      <dsp:spPr>
        <a:xfrm>
          <a:off x="6556249" y="1543063"/>
          <a:ext cx="2874255" cy="103760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sz="1400" kern="1200"/>
            <a:t>ResNet </a:t>
          </a:r>
          <a:r>
            <a:rPr kumimoji="1" lang="ko-KR" sz="1400" kern="1200"/>
            <a:t>아키텍처와 </a:t>
          </a:r>
          <a:r>
            <a:rPr kumimoji="1" lang="en-US" sz="1400" kern="1200"/>
            <a:t>Inception</a:t>
          </a:r>
          <a:r>
            <a:rPr kumimoji="1" lang="ko-KR" sz="1400" kern="1200"/>
            <a:t>은 어느 정도는 자체 조정이 가능</a:t>
          </a:r>
          <a:endParaRPr lang="en-US" sz="1400" kern="1200"/>
        </a:p>
      </dsp:txBody>
      <dsp:txXfrm>
        <a:off x="6556249" y="1543063"/>
        <a:ext cx="2874255" cy="10376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736BBE-BFAE-9F43-B166-13FEFD314CB3}" type="datetimeFigureOut">
              <a:rPr kumimoji="1" lang="ko-KR" altLang="en-US" smtClean="0"/>
              <a:t>2024. 5. 6.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465AF-F441-2346-A316-A9FE97FE20D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34037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01D8-5128-A44A-8319-D6A9E9B7B21D}" type="datetime1">
              <a:rPr lang="ko-KR" altLang="en-US" smtClean="0"/>
              <a:t>2024. 5. 6.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83249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01D8-5128-A44A-8319-D6A9E9B7B21D}" type="datetime1">
              <a:rPr lang="ko-KR" altLang="en-US" smtClean="0"/>
              <a:t>2024. 5. 6.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86672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01D8-5128-A44A-8319-D6A9E9B7B21D}" type="datetime1">
              <a:rPr lang="ko-KR" altLang="en-US" smtClean="0"/>
              <a:t>2024. 5. 6.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5535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01D8-5128-A44A-8319-D6A9E9B7B21D}" type="datetime1">
              <a:rPr lang="ko-KR" altLang="en-US" smtClean="0"/>
              <a:t>2024. 5. 6.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67293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01D8-5128-A44A-8319-D6A9E9B7B21D}" type="datetime1">
              <a:rPr lang="ko-KR" altLang="en-US" smtClean="0"/>
              <a:t>2024. 5. 6.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68214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01D8-5128-A44A-8319-D6A9E9B7B21D}" type="datetime1">
              <a:rPr lang="ko-KR" altLang="en-US" smtClean="0"/>
              <a:t>2024. 5. 6.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990082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01D8-5128-A44A-8319-D6A9E9B7B21D}" type="datetime1">
              <a:rPr lang="ko-KR" altLang="en-US" smtClean="0"/>
              <a:t>2024. 5. 6.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29590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01D8-5128-A44A-8319-D6A9E9B7B21D}" type="datetime1">
              <a:rPr lang="ko-KR" altLang="en-US" smtClean="0"/>
              <a:t>2024. 5. 6.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097646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01D8-5128-A44A-8319-D6A9E9B7B21D}" type="datetime1">
              <a:rPr lang="ko-KR" altLang="en-US" smtClean="0"/>
              <a:t>2024. 5. 6.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02569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01D8-5128-A44A-8319-D6A9E9B7B21D}" type="datetime1">
              <a:rPr lang="ko-KR" altLang="en-US" smtClean="0"/>
              <a:t>2024. 5. 6.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60194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01D8-5128-A44A-8319-D6A9E9B7B21D}" type="datetime1">
              <a:rPr lang="ko-KR" altLang="en-US" smtClean="0"/>
              <a:t>2024. 5. 6.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4415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01D8-5128-A44A-8319-D6A9E9B7B21D}" type="datetime1">
              <a:rPr lang="ko-KR" altLang="en-US" smtClean="0"/>
              <a:t>2024. 5. 6.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18386192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01D8-5128-A44A-8319-D6A9E9B7B21D}" type="datetime1">
              <a:rPr lang="ko-KR" altLang="en-US" smtClean="0"/>
              <a:t>2024. 5. 6.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5006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01D8-5128-A44A-8319-D6A9E9B7B21D}" type="datetime1">
              <a:rPr lang="ko-KR" altLang="en-US" smtClean="0"/>
              <a:t>2024. 5. 6.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806805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01D8-5128-A44A-8319-D6A9E9B7B21D}" type="datetime1">
              <a:rPr lang="ko-KR" altLang="en-US" smtClean="0"/>
              <a:t>2024. 5. 6.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673044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01D8-5128-A44A-8319-D6A9E9B7B21D}" type="datetime1">
              <a:rPr lang="ko-KR" altLang="en-US" smtClean="0"/>
              <a:t>2024. 5. 6.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549707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4B4401D8-5128-A44A-8319-D6A9E9B7B21D}" type="datetime1">
              <a:rPr lang="ko-KR" altLang="en-US" smtClean="0"/>
              <a:t>2024. 5. 6.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868303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4401D8-5128-A44A-8319-D6A9E9B7B21D}" type="datetime1">
              <a:rPr lang="ko-KR" altLang="en-US" smtClean="0"/>
              <a:t>2024. 5. 6.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6579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  <p:sldLayoutId id="2147483865" r:id="rId4"/>
    <p:sldLayoutId id="2147483866" r:id="rId5"/>
    <p:sldLayoutId id="2147483867" r:id="rId6"/>
    <p:sldLayoutId id="2147483868" r:id="rId7"/>
    <p:sldLayoutId id="2147483869" r:id="rId8"/>
    <p:sldLayoutId id="2147483870" r:id="rId9"/>
    <p:sldLayoutId id="2147483871" r:id="rId10"/>
    <p:sldLayoutId id="2147483872" r:id="rId11"/>
    <p:sldLayoutId id="2147483873" r:id="rId12"/>
    <p:sldLayoutId id="2147483874" r:id="rId13"/>
    <p:sldLayoutId id="2147483875" r:id="rId14"/>
    <p:sldLayoutId id="2147483876" r:id="rId15"/>
    <p:sldLayoutId id="2147483877" r:id="rId16"/>
    <p:sldLayoutId id="2147483878" r:id="rId17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6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6.xml"/><Relationship Id="rId5" Type="http://schemas.openxmlformats.org/officeDocument/2006/relationships/diagramData" Target="../diagrams/data6.xml"/><Relationship Id="rId4" Type="http://schemas.openxmlformats.org/officeDocument/2006/relationships/image" Target="../media/image3.png"/><Relationship Id="rId9" Type="http://schemas.microsoft.com/office/2007/relationships/diagramDrawing" Target="../diagrams/drawin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D3E715-BBCA-5C4B-2692-46B8628A25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652585"/>
            <a:ext cx="4800600" cy="3766268"/>
          </a:xfrm>
        </p:spPr>
        <p:txBody>
          <a:bodyPr anchor="t">
            <a:normAutofit/>
          </a:bodyPr>
          <a:lstStyle/>
          <a:p>
            <a:pPr algn="l"/>
            <a:r>
              <a:rPr kumimoji="1" lang="en-US" altLang="ko-KR" dirty="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Deep Learning Training Tricks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E3CA5E-7C02-301E-B4E8-D028991509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762000"/>
            <a:ext cx="4800600" cy="1066800"/>
          </a:xfrm>
        </p:spPr>
        <p:txBody>
          <a:bodyPr>
            <a:normAutofit/>
          </a:bodyPr>
          <a:lstStyle/>
          <a:p>
            <a:pPr algn="l"/>
            <a:r>
              <a:rPr kumimoji="1" lang="en-US" altLang="ko-KR" sz="2200">
                <a:solidFill>
                  <a:schemeClr val="tx2">
                    <a:alpha val="60000"/>
                  </a:schemeClr>
                </a:solidFill>
              </a:rPr>
              <a:t>Foundation of AI</a:t>
            </a:r>
            <a:endParaRPr kumimoji="1" lang="ko-KR" altLang="en-US" sz="2200">
              <a:solidFill>
                <a:schemeClr val="tx2">
                  <a:alpha val="60000"/>
                </a:schemeClr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A9B2E7E-708C-5264-7062-592780F0B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E0BB23-952E-CE3A-6D69-51F800C8F8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l="15523" r="21935"/>
          <a:stretch/>
        </p:blipFill>
        <p:spPr>
          <a:xfrm>
            <a:off x="6096000" y="10"/>
            <a:ext cx="6083807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714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B0FA309-807F-4C17-98EF-A3BA7388E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642A87B-CAE9-4F8F-B293-28388E45D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8FA1749-B91A-40E7-AD01-0B9C9C6AF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B7A934F-FFF7-4353-83D3-4EF66E93E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00676C8-6DE8-47DD-9A23-D42063A12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87BB64E-A43D-23EA-1355-5B534E587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kumimoji="1" lang="en-US" altLang="ko-KR" sz="4400" dirty="0">
                <a:solidFill>
                  <a:srgbClr val="FFFFFF"/>
                </a:solidFill>
              </a:rPr>
              <a:t>Problems</a:t>
            </a:r>
            <a:endParaRPr kumimoji="1" lang="ko-KR" altLang="en-US" sz="4400" dirty="0">
              <a:solidFill>
                <a:srgbClr val="FFFFFF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ABD314-7999-DF8E-3013-4CC265231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7995" y="661106"/>
            <a:ext cx="6257362" cy="5503101"/>
          </a:xfrm>
        </p:spPr>
        <p:txBody>
          <a:bodyPr anchor="ctr">
            <a:normAutofit/>
          </a:bodyPr>
          <a:lstStyle/>
          <a:p>
            <a:r>
              <a:rPr kumimoji="1" lang="ko-KR" altLang="en-US" sz="2000" dirty="0">
                <a:solidFill>
                  <a:srgbClr val="FFFFFF"/>
                </a:solidFill>
              </a:rPr>
              <a:t>신경망이 더 깊어질수록 학습 과정은 점점 더 </a:t>
            </a:r>
            <a:r>
              <a:rPr kumimoji="1" lang="ko-KR" altLang="en-US" sz="2000" dirty="0" err="1">
                <a:solidFill>
                  <a:srgbClr val="FFFFFF"/>
                </a:solidFill>
              </a:rPr>
              <a:t>어려워짐</a:t>
            </a:r>
            <a:endParaRPr kumimoji="1" lang="en-US" altLang="ko-KR" sz="2000" dirty="0">
              <a:solidFill>
                <a:srgbClr val="FFFFFF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kumimoji="1" lang="ko-KR" altLang="en-US" dirty="0">
                <a:solidFill>
                  <a:srgbClr val="FFFFFF"/>
                </a:solidFill>
              </a:rPr>
              <a:t>주요 문제는 사라지는 </a:t>
            </a:r>
            <a:r>
              <a:rPr kumimoji="1" lang="ko-KR" altLang="en-US" dirty="0" err="1">
                <a:solidFill>
                  <a:srgbClr val="FFFFFF"/>
                </a:solidFill>
              </a:rPr>
              <a:t>그라데이션</a:t>
            </a:r>
            <a:r>
              <a:rPr kumimoji="1" lang="ko-KR" altLang="en-US" dirty="0">
                <a:solidFill>
                  <a:srgbClr val="FFFFFF"/>
                </a:solidFill>
              </a:rPr>
              <a:t> </a:t>
            </a:r>
            <a:r>
              <a:rPr kumimoji="1" lang="en-US" altLang="ko-KR" dirty="0">
                <a:solidFill>
                  <a:srgbClr val="FFFFFF"/>
                </a:solidFill>
              </a:rPr>
              <a:t>(vanishing gradient)</a:t>
            </a:r>
            <a:r>
              <a:rPr kumimoji="1" lang="ko-KR" altLang="en-US" dirty="0">
                <a:solidFill>
                  <a:srgbClr val="FFFFFF"/>
                </a:solidFill>
              </a:rPr>
              <a:t> 또는 폭발하는 </a:t>
            </a:r>
            <a:r>
              <a:rPr kumimoji="1" lang="ko-KR" altLang="en-US" dirty="0" err="1">
                <a:solidFill>
                  <a:srgbClr val="FFFFFF"/>
                </a:solidFill>
              </a:rPr>
              <a:t>그라데이션</a:t>
            </a:r>
            <a:r>
              <a:rPr kumimoji="1" lang="en-US" altLang="ko-KR" dirty="0">
                <a:solidFill>
                  <a:srgbClr val="FFFFFF"/>
                </a:solidFill>
              </a:rPr>
              <a:t> (exploding gradient)</a:t>
            </a:r>
            <a:endParaRPr kumimoji="1" lang="ko-KR" altLang="en-US" dirty="0">
              <a:solidFill>
                <a:srgbClr val="FFFFFF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D4D71A-D3C2-6A92-9E3C-1F7862FDE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1776" y="6164207"/>
            <a:ext cx="722655" cy="36576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105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 sz="105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023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2A773CA-28F4-49C2-BFA3-49A5867C7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7C72BA-4476-4E4B-BC37-9A75FD0C5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009A16D-868B-4145-BBC6-555098537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992EB33-38E1-4175-8EE2-9BB8CC159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DCAE5CF-5D29-4779-83E1-BDB64E4F3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76F065D-BB15-34FE-1774-691F41305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kumimoji="1" lang="en" altLang="ko-KR" sz="4400"/>
              <a:t>Keeping values in reasonable interval</a:t>
            </a:r>
            <a:endParaRPr kumimoji="1" lang="ko-KR" altLang="en-US" sz="44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442278-A62E-A3F8-9843-97E23CFA8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1776" y="6336872"/>
            <a:ext cx="722655" cy="36576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14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 sz="1400">
              <a:solidFill>
                <a:srgbClr val="FFFFFF"/>
              </a:solidFill>
            </a:endParaRPr>
          </a:p>
        </p:txBody>
      </p:sp>
      <p:graphicFrame>
        <p:nvGraphicFramePr>
          <p:cNvPr id="6" name="내용 개체 틀 2">
            <a:extLst>
              <a:ext uri="{FF2B5EF4-FFF2-40B4-BE49-F238E27FC236}">
                <a16:creationId xmlns:a16="http://schemas.microsoft.com/office/drawing/2014/main" id="{2FA96921-C20F-39B0-F81D-9838B9D6A2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1861364"/>
              </p:ext>
            </p:extLst>
          </p:nvPr>
        </p:nvGraphicFramePr>
        <p:xfrm>
          <a:off x="5284788" y="639763"/>
          <a:ext cx="6261100" cy="557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404338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B0FA309-807F-4C17-98EF-A3BA7388E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642A87B-CAE9-4F8F-B293-28388E45D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8FA1749-B91A-40E7-AD01-0B9C9C6AF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B7A934F-FFF7-4353-83D3-4EF66E93E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00676C8-6DE8-47DD-9A23-D42063A12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9F71711-7717-7776-59BF-5E2C8EBD0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kumimoji="1" lang="en" altLang="ko-KR" sz="4400">
                <a:solidFill>
                  <a:srgbClr val="FFFFFF"/>
                </a:solidFill>
              </a:rPr>
              <a:t>Initial Weight Initialization</a:t>
            </a:r>
            <a:endParaRPr kumimoji="1" lang="ko-KR" altLang="en-US" sz="4400">
              <a:solidFill>
                <a:srgbClr val="FFFFFF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512DE8-2D42-5825-85C4-A88D290D0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7995" y="661106"/>
            <a:ext cx="6482664" cy="5503101"/>
          </a:xfrm>
        </p:spPr>
        <p:txBody>
          <a:bodyPr anchor="ctr">
            <a:normAutofit/>
          </a:bodyPr>
          <a:lstStyle/>
          <a:p>
            <a:r>
              <a:rPr kumimoji="1" lang="ko-KR" altLang="en-US" sz="2000" dirty="0">
                <a:solidFill>
                  <a:srgbClr val="FFFFFF"/>
                </a:solidFill>
              </a:rPr>
              <a:t>이상적으로는 네트워크 레이어를 통과한 후에도 값이 동일한 범위에 있는 것이 좋음</a:t>
            </a:r>
            <a:endParaRPr kumimoji="1" lang="en-US" altLang="ko-KR" sz="2000" dirty="0">
              <a:solidFill>
                <a:srgbClr val="FFFFFF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kumimoji="1" lang="ko-KR" altLang="en-US" dirty="0">
                <a:solidFill>
                  <a:srgbClr val="FFFFFF"/>
                </a:solidFill>
              </a:rPr>
              <a:t>따라서 값의 분포를 보존하는 방식으로 가중치를 초기화하는 것이 중요</a:t>
            </a:r>
            <a:endParaRPr kumimoji="1" lang="en-US" altLang="ko-KR" dirty="0">
              <a:solidFill>
                <a:srgbClr val="FFFFFF"/>
              </a:solidFill>
            </a:endParaRPr>
          </a:p>
          <a:p>
            <a:r>
              <a:rPr kumimoji="1" lang="ko-KR" altLang="en-US" sz="2000" dirty="0">
                <a:solidFill>
                  <a:srgbClr val="FFFFFF"/>
                </a:solidFill>
              </a:rPr>
              <a:t>정규 분포 </a:t>
            </a:r>
            <a:r>
              <a:rPr kumimoji="1" lang="en" altLang="ko-KR" sz="2000" dirty="0">
                <a:solidFill>
                  <a:srgbClr val="FFFFFF"/>
                </a:solidFill>
              </a:rPr>
              <a:t>N(0,1)</a:t>
            </a:r>
            <a:r>
              <a:rPr kumimoji="1" lang="ko-KR" altLang="en-US" sz="2000" dirty="0">
                <a:solidFill>
                  <a:srgbClr val="FFFFFF"/>
                </a:solidFill>
              </a:rPr>
              <a:t>은 좋지 않은데 입력이 </a:t>
            </a:r>
            <a:r>
              <a:rPr kumimoji="1" lang="en" altLang="ko-KR" sz="2000" dirty="0">
                <a:solidFill>
                  <a:srgbClr val="FFFFFF"/>
                </a:solidFill>
              </a:rPr>
              <a:t>n</a:t>
            </a:r>
            <a:r>
              <a:rPr kumimoji="1" lang="ko-KR" altLang="en-US" sz="2000" dirty="0">
                <a:solidFill>
                  <a:srgbClr val="FFFFFF"/>
                </a:solidFill>
              </a:rPr>
              <a:t>개인 경우 출력의 표준 편차가 </a:t>
            </a:r>
            <a:r>
              <a:rPr kumimoji="1" lang="en" altLang="ko-KR" sz="2000" dirty="0">
                <a:solidFill>
                  <a:srgbClr val="FFFFFF"/>
                </a:solidFill>
              </a:rPr>
              <a:t>n</a:t>
            </a:r>
            <a:r>
              <a:rPr kumimoji="1" lang="ko-KR" altLang="en-US" sz="2000" dirty="0">
                <a:solidFill>
                  <a:srgbClr val="FFFFFF"/>
                </a:solidFill>
              </a:rPr>
              <a:t>이 되고 값이 </a:t>
            </a:r>
            <a:r>
              <a:rPr kumimoji="1" lang="en-US" altLang="ko-KR" sz="2000" dirty="0">
                <a:solidFill>
                  <a:srgbClr val="FFFFFF"/>
                </a:solidFill>
              </a:rPr>
              <a:t>[0..1] </a:t>
            </a:r>
            <a:r>
              <a:rPr kumimoji="1" lang="ko-KR" altLang="en-US" sz="2000" dirty="0">
                <a:solidFill>
                  <a:srgbClr val="FFFFFF"/>
                </a:solidFill>
              </a:rPr>
              <a:t>구간을 벗어날 가능성이 높을 수 있음</a:t>
            </a:r>
            <a:endParaRPr kumimoji="1" lang="en-US" altLang="ko-KR" sz="2000" dirty="0">
              <a:solidFill>
                <a:srgbClr val="FFFFFF"/>
              </a:solidFill>
            </a:endParaRPr>
          </a:p>
          <a:p>
            <a:r>
              <a:rPr kumimoji="1" lang="ko-KR" altLang="en-US" sz="2000" dirty="0">
                <a:solidFill>
                  <a:srgbClr val="FFFFFF"/>
                </a:solidFill>
              </a:rPr>
              <a:t>다음과 같은 초기화가 자주 사용됩니다</a:t>
            </a:r>
            <a:r>
              <a:rPr kumimoji="1" lang="en-US" altLang="ko-KR" sz="2000" dirty="0">
                <a:solidFill>
                  <a:srgbClr val="FFFFFF"/>
                </a:solidFill>
              </a:rPr>
              <a:t>:</a:t>
            </a:r>
          </a:p>
          <a:p>
            <a:pPr lvl="1">
              <a:buFont typeface="Wingdings" pitchFamily="2" charset="2"/>
              <a:buChar char="Ø"/>
            </a:pPr>
            <a:r>
              <a:rPr lang="ko-KR" altLang="en-US" b="0" i="0" dirty="0">
                <a:solidFill>
                  <a:srgbClr val="FFFFFF"/>
                </a:solidFill>
                <a:effectLst/>
                <a:highlight>
                  <a:srgbClr val="0D1117"/>
                </a:highlight>
                <a:latin typeface="-apple-system"/>
              </a:rPr>
              <a:t>균등 분포 </a:t>
            </a:r>
            <a:r>
              <a:rPr lang="en-US" altLang="ko-KR" b="0" i="0" dirty="0">
                <a:solidFill>
                  <a:srgbClr val="FFFFFF"/>
                </a:solidFill>
                <a:effectLst/>
                <a:highlight>
                  <a:srgbClr val="0D1117"/>
                </a:highlight>
                <a:latin typeface="-apple-system"/>
              </a:rPr>
              <a:t>-- </a:t>
            </a:r>
            <a:r>
              <a:rPr lang="ko-KR" altLang="en-US" b="0" i="0" dirty="0">
                <a:solidFill>
                  <a:srgbClr val="FFFFFF"/>
                </a:solidFill>
                <a:effectLst/>
                <a:highlight>
                  <a:srgbClr val="0D1117"/>
                </a:highlight>
                <a:latin typeface="-apple-system"/>
              </a:rPr>
              <a:t>균일</a:t>
            </a:r>
          </a:p>
          <a:p>
            <a:pPr lvl="1">
              <a:buFont typeface="Wingdings" pitchFamily="2" charset="2"/>
              <a:buChar char="Ø"/>
            </a:pPr>
            <a:r>
              <a:rPr lang="en" altLang="ko-KR" b="0" i="0" dirty="0">
                <a:solidFill>
                  <a:srgbClr val="FFFFFF"/>
                </a:solidFill>
                <a:effectLst/>
                <a:highlight>
                  <a:srgbClr val="0D1117"/>
                </a:highlight>
                <a:latin typeface="-apple-system"/>
              </a:rPr>
              <a:t>N(0,1/n) -- </a:t>
            </a:r>
            <a:r>
              <a:rPr lang="ko-KR" altLang="en-US" b="0" i="0" dirty="0" err="1">
                <a:solidFill>
                  <a:srgbClr val="FFFFFF"/>
                </a:solidFill>
                <a:effectLst/>
                <a:highlight>
                  <a:srgbClr val="0D1117"/>
                </a:highlight>
                <a:latin typeface="-apple-system"/>
              </a:rPr>
              <a:t>가우시안</a:t>
            </a:r>
            <a:endParaRPr lang="ko-KR" altLang="en-US" b="0" i="0" dirty="0">
              <a:solidFill>
                <a:srgbClr val="FFFFFF"/>
              </a:solidFill>
              <a:effectLst/>
              <a:highlight>
                <a:srgbClr val="0D1117"/>
              </a:highlight>
              <a:latin typeface="-apple-system"/>
            </a:endParaRPr>
          </a:p>
          <a:p>
            <a:pPr lvl="1">
              <a:buFont typeface="Wingdings" pitchFamily="2" charset="2"/>
              <a:buChar char="Ø"/>
            </a:pPr>
            <a:r>
              <a:rPr lang="en" altLang="ko-KR" b="0" i="0" dirty="0">
                <a:solidFill>
                  <a:srgbClr val="FFFFFF"/>
                </a:solidFill>
                <a:effectLst/>
                <a:highlight>
                  <a:srgbClr val="0D1117"/>
                </a:highlight>
                <a:latin typeface="-apple-system"/>
              </a:rPr>
              <a:t>N(0,1/√</a:t>
            </a:r>
            <a:r>
              <a:rPr lang="en" altLang="ko-KR" b="0" i="0" dirty="0" err="1">
                <a:solidFill>
                  <a:srgbClr val="FFFFFF"/>
                </a:solidFill>
                <a:effectLst/>
                <a:highlight>
                  <a:srgbClr val="0D1117"/>
                </a:highlight>
                <a:latin typeface="-apple-system"/>
              </a:rPr>
              <a:t>n_in</a:t>
            </a:r>
            <a:r>
              <a:rPr lang="en" altLang="ko-KR" b="0" i="0" dirty="0">
                <a:solidFill>
                  <a:srgbClr val="FFFFFF"/>
                </a:solidFill>
                <a:effectLst/>
                <a:highlight>
                  <a:srgbClr val="0D1117"/>
                </a:highlight>
                <a:latin typeface="-apple-system"/>
              </a:rPr>
              <a:t>)</a:t>
            </a:r>
            <a:r>
              <a:rPr lang="ko-KR" altLang="en-US" b="0" i="0" dirty="0">
                <a:solidFill>
                  <a:srgbClr val="FFFFFF"/>
                </a:solidFill>
                <a:effectLst/>
                <a:highlight>
                  <a:srgbClr val="0D1117"/>
                </a:highlight>
                <a:latin typeface="-apple-system"/>
              </a:rPr>
              <a:t>은 평균이 </a:t>
            </a:r>
            <a:r>
              <a:rPr lang="en-US" altLang="ko-KR" b="0" i="0" dirty="0">
                <a:solidFill>
                  <a:srgbClr val="FFFFFF"/>
                </a:solidFill>
                <a:effectLst/>
                <a:highlight>
                  <a:srgbClr val="0D1117"/>
                </a:highlight>
                <a:latin typeface="-apple-system"/>
              </a:rPr>
              <a:t>0</a:t>
            </a:r>
            <a:r>
              <a:rPr lang="ko-KR" altLang="en-US" b="0" i="0" dirty="0">
                <a:solidFill>
                  <a:srgbClr val="FFFFFF"/>
                </a:solidFill>
                <a:effectLst/>
                <a:highlight>
                  <a:srgbClr val="0D1117"/>
                </a:highlight>
                <a:latin typeface="-apple-system"/>
              </a:rPr>
              <a:t>이고 표준편차가 </a:t>
            </a:r>
            <a:r>
              <a:rPr lang="en-US" altLang="ko-KR" b="0" i="0" dirty="0">
                <a:solidFill>
                  <a:srgbClr val="FFFFFF"/>
                </a:solidFill>
                <a:effectLst/>
                <a:highlight>
                  <a:srgbClr val="0D1117"/>
                </a:highlight>
                <a:latin typeface="-apple-system"/>
              </a:rPr>
              <a:t>1</a:t>
            </a:r>
            <a:r>
              <a:rPr lang="ko-KR" altLang="en-US" b="0" i="0" dirty="0">
                <a:solidFill>
                  <a:srgbClr val="FFFFFF"/>
                </a:solidFill>
                <a:effectLst/>
                <a:highlight>
                  <a:srgbClr val="0D1117"/>
                </a:highlight>
                <a:latin typeface="-apple-system"/>
              </a:rPr>
              <a:t>인 입력에 대해 동일한 평균</a:t>
            </a:r>
            <a:r>
              <a:rPr lang="en-US" altLang="ko-KR" b="0" i="0" dirty="0">
                <a:solidFill>
                  <a:srgbClr val="FFFFFF"/>
                </a:solidFill>
                <a:effectLst/>
                <a:highlight>
                  <a:srgbClr val="0D1117"/>
                </a:highlight>
                <a:latin typeface="-apple-system"/>
              </a:rPr>
              <a:t>/</a:t>
            </a:r>
            <a:r>
              <a:rPr lang="ko-KR" altLang="en-US" b="0" i="0" dirty="0">
                <a:solidFill>
                  <a:srgbClr val="FFFFFF"/>
                </a:solidFill>
                <a:effectLst/>
                <a:highlight>
                  <a:srgbClr val="0D1117"/>
                </a:highlight>
                <a:latin typeface="-apple-system"/>
              </a:rPr>
              <a:t>표준편차를 유지하도록 </a:t>
            </a:r>
            <a:r>
              <a:rPr lang="ko-KR" altLang="en-US" dirty="0">
                <a:solidFill>
                  <a:srgbClr val="FFFFFF"/>
                </a:solidFill>
                <a:highlight>
                  <a:srgbClr val="0D1117"/>
                </a:highlight>
                <a:latin typeface="-apple-system"/>
              </a:rPr>
              <a:t>함</a:t>
            </a:r>
            <a:endParaRPr lang="en-US" altLang="ko-KR" b="0" i="0" dirty="0">
              <a:solidFill>
                <a:srgbClr val="FFFFFF"/>
              </a:solidFill>
              <a:effectLst/>
              <a:highlight>
                <a:srgbClr val="0D1117"/>
              </a:highlight>
              <a:latin typeface="-apple-system"/>
            </a:endParaRPr>
          </a:p>
          <a:p>
            <a:pPr lvl="1">
              <a:buFont typeface="Wingdings" pitchFamily="2" charset="2"/>
              <a:buChar char="Ø"/>
            </a:pPr>
            <a:r>
              <a:rPr lang="en" altLang="ko-KR" b="0" i="0" dirty="0">
                <a:solidFill>
                  <a:srgbClr val="FFFFFF"/>
                </a:solidFill>
                <a:effectLst/>
                <a:highlight>
                  <a:srgbClr val="0D1117"/>
                </a:highlight>
                <a:latin typeface="-apple-system"/>
              </a:rPr>
              <a:t>N(0,√2/(</a:t>
            </a:r>
            <a:r>
              <a:rPr lang="en" altLang="ko-KR" b="0" i="0" dirty="0" err="1">
                <a:solidFill>
                  <a:srgbClr val="FFFFFF"/>
                </a:solidFill>
                <a:effectLst/>
                <a:highlight>
                  <a:srgbClr val="0D1117"/>
                </a:highlight>
                <a:latin typeface="-apple-system"/>
              </a:rPr>
              <a:t>n_in+n_out</a:t>
            </a:r>
            <a:r>
              <a:rPr lang="en" altLang="ko-KR" b="0" i="0" dirty="0">
                <a:solidFill>
                  <a:srgbClr val="FFFFFF"/>
                </a:solidFill>
                <a:effectLst/>
                <a:highlight>
                  <a:srgbClr val="0D1117"/>
                </a:highlight>
                <a:latin typeface="-apple-system"/>
              </a:rPr>
              <a:t>)) - </a:t>
            </a:r>
            <a:r>
              <a:rPr lang="ko-KR" altLang="en-US" b="0" i="0" dirty="0">
                <a:solidFill>
                  <a:srgbClr val="FFFFFF"/>
                </a:solidFill>
                <a:effectLst/>
                <a:highlight>
                  <a:srgbClr val="0D1117"/>
                </a:highlight>
                <a:latin typeface="-apple-system"/>
              </a:rPr>
              <a:t>이른바 자비에 초기화</a:t>
            </a:r>
            <a:r>
              <a:rPr lang="en-US" altLang="ko-KR" b="0" i="0" dirty="0">
                <a:solidFill>
                  <a:srgbClr val="FFFFFF"/>
                </a:solidFill>
                <a:effectLst/>
                <a:highlight>
                  <a:srgbClr val="0D1117"/>
                </a:highlight>
                <a:latin typeface="-apple-system"/>
              </a:rPr>
              <a:t>(</a:t>
            </a:r>
            <a:r>
              <a:rPr lang="ko-KR" altLang="en-US" b="0" i="0" dirty="0" err="1">
                <a:solidFill>
                  <a:srgbClr val="FFFFFF"/>
                </a:solidFill>
                <a:effectLst/>
                <a:highlight>
                  <a:srgbClr val="0D1117"/>
                </a:highlight>
                <a:latin typeface="-apple-system"/>
              </a:rPr>
              <a:t>글로롯</a:t>
            </a:r>
            <a:r>
              <a:rPr lang="en-US" altLang="ko-KR" b="0" i="0" dirty="0">
                <a:solidFill>
                  <a:srgbClr val="FFFFFF"/>
                </a:solidFill>
                <a:effectLst/>
                <a:highlight>
                  <a:srgbClr val="0D1117"/>
                </a:highlight>
                <a:latin typeface="-apple-system"/>
              </a:rPr>
              <a:t>)</a:t>
            </a:r>
            <a:r>
              <a:rPr lang="ko-KR" altLang="en-US" b="0" i="0" dirty="0">
                <a:solidFill>
                  <a:srgbClr val="FFFFFF"/>
                </a:solidFill>
                <a:effectLst/>
                <a:highlight>
                  <a:srgbClr val="0D1117"/>
                </a:highlight>
                <a:latin typeface="-apple-system"/>
              </a:rPr>
              <a:t>로</a:t>
            </a:r>
            <a:r>
              <a:rPr lang="en-US" altLang="ko-KR" b="0" i="0" dirty="0">
                <a:solidFill>
                  <a:srgbClr val="FFFFFF"/>
                </a:solidFill>
                <a:effectLst/>
                <a:highlight>
                  <a:srgbClr val="0D1117"/>
                </a:highlight>
                <a:latin typeface="-apple-system"/>
              </a:rPr>
              <a:t>, </a:t>
            </a:r>
            <a:r>
              <a:rPr lang="ko-KR" altLang="en-US" b="0" i="0" dirty="0">
                <a:solidFill>
                  <a:srgbClr val="FFFFFF"/>
                </a:solidFill>
                <a:effectLst/>
                <a:highlight>
                  <a:srgbClr val="0D1117"/>
                </a:highlight>
                <a:latin typeface="-apple-system"/>
              </a:rPr>
              <a:t>순방향 및 역방향 전파 모두에서 신호 범위를 유지하는 데 도움이 됨</a:t>
            </a:r>
            <a:endParaRPr lang="en" altLang="ko-KR" b="0" i="0" dirty="0">
              <a:solidFill>
                <a:srgbClr val="FFFFFF"/>
              </a:solidFill>
              <a:effectLst/>
              <a:highlight>
                <a:srgbClr val="0D1117"/>
              </a:highlight>
              <a:latin typeface="-apple-system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AF837E-DD6C-555C-2A22-57EC1E745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1776" y="6164207"/>
            <a:ext cx="722655" cy="36576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105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 sz="105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8135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93DBBA-9FB7-D3FA-7B8D-950237B23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kumimoji="1" lang="en" altLang="ko-KR" dirty="0"/>
              <a:t>Batch Normalization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2A78EA-4036-57F8-C4E7-02AD99302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9455" y="753227"/>
            <a:ext cx="1154151" cy="1090789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graphicFrame>
        <p:nvGraphicFramePr>
          <p:cNvPr id="6" name="내용 개체 틀 2">
            <a:extLst>
              <a:ext uri="{FF2B5EF4-FFF2-40B4-BE49-F238E27FC236}">
                <a16:creationId xmlns:a16="http://schemas.microsoft.com/office/drawing/2014/main" id="{E7B8736F-2B2D-172C-13DC-4005E47526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6111484"/>
              </p:ext>
            </p:extLst>
          </p:nvPr>
        </p:nvGraphicFramePr>
        <p:xfrm>
          <a:off x="681037" y="2336800"/>
          <a:ext cx="1083064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48953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F2E3BB-94B3-B1F2-0A71-929816A30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Dropout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3601B1-1F75-9F98-AEB3-D94B584F0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9455" y="753227"/>
            <a:ext cx="1154151" cy="1090789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graphicFrame>
        <p:nvGraphicFramePr>
          <p:cNvPr id="6" name="내용 개체 틀 2">
            <a:extLst>
              <a:ext uri="{FF2B5EF4-FFF2-40B4-BE49-F238E27FC236}">
                <a16:creationId xmlns:a16="http://schemas.microsoft.com/office/drawing/2014/main" id="{B8ED6EB1-8D2A-3843-739F-92DB368C02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7783772"/>
              </p:ext>
            </p:extLst>
          </p:nvPr>
        </p:nvGraphicFramePr>
        <p:xfrm>
          <a:off x="681037" y="2336800"/>
          <a:ext cx="1083064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5491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3E6C53-102E-4ACA-BCBB-3CC973B99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7B2B42C-0777-4D6E-9432-535281803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FEAAB60-93E2-4DC6-99AC-939637BCE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EF5ECB8-D49C-48FB-A93E-88EB2FFDF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1B77A2-BD5C-432D-B52E-C12612C74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7C031CB-DEB3-405F-9996-5322C24A6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2031F0E-C3FA-4DAF-BD13-4AC665CFF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E685C68-BF28-4330-A4FE-33ABD8851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49629"/>
            <a:ext cx="11525954" cy="275942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273350E1-40B5-47D9-8DDD-3C2A17B4B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1" y="0"/>
            <a:ext cx="11525954" cy="5379499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6A0990F-0981-AF7F-64EE-FFA1A6A29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3113" y="1997765"/>
            <a:ext cx="5872891" cy="269663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latinLnBrk="0"/>
            <a:r>
              <a:rPr kumimoji="1" lang="en-US" altLang="ko-KR" sz="6000">
                <a:solidFill>
                  <a:srgbClr val="FFFFFF"/>
                </a:solidFill>
              </a:rPr>
              <a:t>Dropout.ipynb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1500D0A-0DCA-4E06-8B25-618E6299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4686838"/>
            <a:ext cx="1602997" cy="14427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108AC4DC-69B5-4DD1-84BC-850C5A2861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3034068"/>
            <a:ext cx="1602997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0148F6-6979-C1FA-4553-94A382EC4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1380" y="3162387"/>
            <a:ext cx="1171888" cy="13564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48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7</a:t>
            </a:fld>
            <a:endParaRPr lang="en-US" sz="48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4896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2A773CA-28F4-49C2-BFA3-49A5867C7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7C72BA-4476-4E4B-BC37-9A75FD0C5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009A16D-868B-4145-BBC6-555098537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992EB33-38E1-4175-8EE2-9BB8CC159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DCAE5CF-5D29-4779-83E1-BDB64E4F3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69DC41A-F356-AEE3-3616-037D33D60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kumimoji="1" lang="en" altLang="ko-KR" sz="4400"/>
              <a:t>Preventing overfitting</a:t>
            </a:r>
            <a:endParaRPr kumimoji="1" lang="ko-KR" altLang="en-US" sz="44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A26F57-3EEF-B28C-5BB7-BA36A0041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1776" y="6336872"/>
            <a:ext cx="722655" cy="36576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14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 sz="1400">
              <a:solidFill>
                <a:srgbClr val="FFFFFF"/>
              </a:solidFill>
            </a:endParaRPr>
          </a:p>
        </p:txBody>
      </p:sp>
      <p:graphicFrame>
        <p:nvGraphicFramePr>
          <p:cNvPr id="6" name="내용 개체 틀 2">
            <a:extLst>
              <a:ext uri="{FF2B5EF4-FFF2-40B4-BE49-F238E27FC236}">
                <a16:creationId xmlns:a16="http://schemas.microsoft.com/office/drawing/2014/main" id="{9FC42EF6-5675-9E54-8FF2-55E55EAEE1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9858987"/>
              </p:ext>
            </p:extLst>
          </p:nvPr>
        </p:nvGraphicFramePr>
        <p:xfrm>
          <a:off x="5284788" y="639763"/>
          <a:ext cx="6261100" cy="557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225689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2A773CA-28F4-49C2-BFA3-49A5867C7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7C72BA-4476-4E4B-BC37-9A75FD0C5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009A16D-868B-4145-BBC6-555098537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992EB33-38E1-4175-8EE2-9BB8CC159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DCAE5CF-5D29-4779-83E1-BDB64E4F3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F76AA45-EA41-F811-6331-2EFD83AB3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kumimoji="1" lang="en" altLang="ko-KR" sz="4400"/>
              <a:t>Optimizers / Training Algorithms</a:t>
            </a:r>
            <a:endParaRPr kumimoji="1" lang="ko-KR" altLang="en-US" sz="44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E73972-E2E8-A9EF-BF72-623347217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1776" y="6336872"/>
            <a:ext cx="722655" cy="36576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14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 sz="1400">
              <a:solidFill>
                <a:srgbClr val="FFFFFF"/>
              </a:solidFill>
            </a:endParaRPr>
          </a:p>
        </p:txBody>
      </p:sp>
      <p:graphicFrame>
        <p:nvGraphicFramePr>
          <p:cNvPr id="6" name="내용 개체 틀 2">
            <a:extLst>
              <a:ext uri="{FF2B5EF4-FFF2-40B4-BE49-F238E27FC236}">
                <a16:creationId xmlns:a16="http://schemas.microsoft.com/office/drawing/2014/main" id="{80F93204-F555-81EA-DFF8-F93E6A2E52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465963"/>
              </p:ext>
            </p:extLst>
          </p:nvPr>
        </p:nvGraphicFramePr>
        <p:xfrm>
          <a:off x="5284788" y="639763"/>
          <a:ext cx="6261100" cy="557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686044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B0FA309-807F-4C17-98EF-A3BA7388E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642A87B-CAE9-4F8F-B293-28388E45D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8FA1749-B91A-40E7-AD01-0B9C9C6AF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B7A934F-FFF7-4353-83D3-4EF66E93E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00676C8-6DE8-47DD-9A23-D42063A12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E224331-B560-D97C-C2D6-C171CD3B3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kumimoji="1" lang="en" altLang="ko-KR" sz="4400">
                <a:solidFill>
                  <a:srgbClr val="FFFFFF"/>
                </a:solidFill>
              </a:rPr>
              <a:t>Momentum</a:t>
            </a:r>
            <a:endParaRPr kumimoji="1" lang="ko-KR" altLang="en-US" sz="4400">
              <a:solidFill>
                <a:srgbClr val="FFFFFF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D63B34-635B-C71C-CDD6-B9AD713C7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7994" y="661106"/>
            <a:ext cx="6480871" cy="5503101"/>
          </a:xfrm>
        </p:spPr>
        <p:txBody>
          <a:bodyPr anchor="ctr">
            <a:normAutofit/>
          </a:bodyPr>
          <a:lstStyle/>
          <a:p>
            <a:r>
              <a:rPr kumimoji="1" lang="ko-KR" altLang="en-US" sz="2000" dirty="0">
                <a:solidFill>
                  <a:srgbClr val="FFFFFF"/>
                </a:solidFill>
              </a:rPr>
              <a:t>모멘텀 </a:t>
            </a:r>
            <a:r>
              <a:rPr kumimoji="1" lang="en" altLang="ko-KR" sz="2000" dirty="0">
                <a:solidFill>
                  <a:srgbClr val="FFFFFF"/>
                </a:solidFill>
              </a:rPr>
              <a:t>SGD</a:t>
            </a:r>
            <a:r>
              <a:rPr kumimoji="1" lang="ko-KR" altLang="en-US" sz="2000" dirty="0">
                <a:solidFill>
                  <a:srgbClr val="FFFFFF"/>
                </a:solidFill>
              </a:rPr>
              <a:t>에서는 이전 단계의 기울기를 일부 유지</a:t>
            </a:r>
            <a:endParaRPr kumimoji="1" lang="en-US" altLang="ko-KR" sz="2000" dirty="0">
              <a:solidFill>
                <a:srgbClr val="FFFFFF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kumimoji="1" lang="ko-KR" altLang="en-US" dirty="0">
                <a:solidFill>
                  <a:srgbClr val="FFFFFF"/>
                </a:solidFill>
              </a:rPr>
              <a:t>이는 관성으로 어딘가로 이동하다가 다른 방향으로 펀치를 맞았을 때 궤적이 즉시 바뀌지 않고 원래 움직임의 일부를 유지하는 것과 유사</a:t>
            </a:r>
            <a:endParaRPr kumimoji="1" lang="en-US" altLang="ko-KR" dirty="0">
              <a:solidFill>
                <a:srgbClr val="FFFFFF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kumimoji="1" lang="ko-KR" altLang="en-US" dirty="0">
                <a:solidFill>
                  <a:srgbClr val="FFFFFF"/>
                </a:solidFill>
              </a:rPr>
              <a:t>다음은 속도를 나타내는 또 다른 벡터 </a:t>
            </a:r>
            <a:r>
              <a:rPr kumimoji="1" lang="en" altLang="ko-KR" dirty="0">
                <a:solidFill>
                  <a:srgbClr val="FFFFFF"/>
                </a:solidFill>
              </a:rPr>
              <a:t>v</a:t>
            </a:r>
            <a:r>
              <a:rPr kumimoji="1" lang="ko-KR" altLang="en-US" dirty="0" err="1">
                <a:solidFill>
                  <a:srgbClr val="FFFFFF"/>
                </a:solidFill>
              </a:rPr>
              <a:t>를</a:t>
            </a:r>
            <a:r>
              <a:rPr kumimoji="1" lang="ko-KR" altLang="en-US" dirty="0">
                <a:solidFill>
                  <a:srgbClr val="FFFFFF"/>
                </a:solidFill>
              </a:rPr>
              <a:t> 보여줌</a:t>
            </a:r>
            <a:endParaRPr kumimoji="1" lang="en-US" altLang="ko-KR" dirty="0">
              <a:solidFill>
                <a:srgbClr val="FFFFFF"/>
              </a:solidFill>
            </a:endParaRPr>
          </a:p>
          <a:p>
            <a:pPr marL="914400" lvl="2" indent="0">
              <a:buNone/>
            </a:pPr>
            <a:r>
              <a:rPr lang="en" altLang="ko-KR" b="0" i="0" dirty="0">
                <a:solidFill>
                  <a:srgbClr val="FFFFFF"/>
                </a:solidFill>
                <a:effectLst/>
                <a:highlight>
                  <a:srgbClr val="0D1117"/>
                </a:highlight>
                <a:latin typeface="-apple-system"/>
              </a:rPr>
              <a:t>v</a:t>
            </a:r>
            <a:r>
              <a:rPr lang="en" altLang="ko-KR" b="0" i="0" baseline="30000" dirty="0">
                <a:solidFill>
                  <a:srgbClr val="FFFFFF"/>
                </a:solidFill>
                <a:effectLst/>
                <a:highlight>
                  <a:srgbClr val="0D1117"/>
                </a:highlight>
                <a:latin typeface="-apple-system"/>
              </a:rPr>
              <a:t>t+1</a:t>
            </a:r>
            <a:r>
              <a:rPr lang="en" altLang="ko-KR" b="0" i="0" dirty="0">
                <a:solidFill>
                  <a:srgbClr val="FFFFFF"/>
                </a:solidFill>
                <a:effectLst/>
                <a:highlight>
                  <a:srgbClr val="0D1117"/>
                </a:highlight>
                <a:latin typeface="-apple-system"/>
              </a:rPr>
              <a:t> = </a:t>
            </a:r>
            <a:r>
              <a:rPr lang="el-GR" altLang="ko-KR" b="0" i="0" dirty="0">
                <a:solidFill>
                  <a:srgbClr val="FFFFFF"/>
                </a:solidFill>
                <a:effectLst/>
                <a:highlight>
                  <a:srgbClr val="0D1117"/>
                </a:highlight>
                <a:latin typeface="-apple-system"/>
              </a:rPr>
              <a:t>γ </a:t>
            </a:r>
            <a:r>
              <a:rPr lang="en" altLang="ko-KR" b="0" i="0" dirty="0" err="1">
                <a:solidFill>
                  <a:srgbClr val="FFFFFF"/>
                </a:solidFill>
                <a:effectLst/>
                <a:highlight>
                  <a:srgbClr val="0D1117"/>
                </a:highlight>
                <a:latin typeface="-apple-system"/>
              </a:rPr>
              <a:t>v</a:t>
            </a:r>
            <a:r>
              <a:rPr lang="en" altLang="ko-KR" b="0" i="0" baseline="30000" dirty="0" err="1">
                <a:solidFill>
                  <a:srgbClr val="FFFFFF"/>
                </a:solidFill>
                <a:effectLst/>
                <a:highlight>
                  <a:srgbClr val="0D1117"/>
                </a:highlight>
                <a:latin typeface="-apple-system"/>
              </a:rPr>
              <a:t>t</a:t>
            </a:r>
            <a:r>
              <a:rPr lang="en" altLang="ko-KR" b="0" i="0" dirty="0">
                <a:solidFill>
                  <a:srgbClr val="FFFFFF"/>
                </a:solidFill>
                <a:effectLst/>
                <a:highlight>
                  <a:srgbClr val="0D1117"/>
                </a:highlight>
                <a:latin typeface="-apple-system"/>
              </a:rPr>
              <a:t> - </a:t>
            </a:r>
            <a:r>
              <a:rPr lang="el-GR" altLang="ko-KR" b="0" i="0" dirty="0" err="1">
                <a:solidFill>
                  <a:srgbClr val="FFFFFF"/>
                </a:solidFill>
                <a:effectLst/>
                <a:highlight>
                  <a:srgbClr val="0D1117"/>
                </a:highlight>
                <a:latin typeface="-apple-system"/>
              </a:rPr>
              <a:t>η∇ℒ</a:t>
            </a:r>
            <a:endParaRPr lang="el-GR" altLang="ko-KR" b="0" i="0" dirty="0">
              <a:solidFill>
                <a:srgbClr val="FFFFFF"/>
              </a:solidFill>
              <a:effectLst/>
              <a:highlight>
                <a:srgbClr val="0D1117"/>
              </a:highlight>
              <a:latin typeface="-apple-system"/>
            </a:endParaRPr>
          </a:p>
          <a:p>
            <a:pPr marL="914400" lvl="2" indent="0">
              <a:buNone/>
            </a:pPr>
            <a:r>
              <a:rPr lang="en" altLang="ko-KR" b="0" i="0" dirty="0">
                <a:solidFill>
                  <a:srgbClr val="FFFFFF"/>
                </a:solidFill>
                <a:effectLst/>
                <a:highlight>
                  <a:srgbClr val="0D1117"/>
                </a:highlight>
                <a:latin typeface="-apple-system"/>
              </a:rPr>
              <a:t>w</a:t>
            </a:r>
            <a:r>
              <a:rPr lang="en" altLang="ko-KR" b="0" i="0" baseline="30000" dirty="0">
                <a:solidFill>
                  <a:srgbClr val="FFFFFF"/>
                </a:solidFill>
                <a:effectLst/>
                <a:highlight>
                  <a:srgbClr val="0D1117"/>
                </a:highlight>
                <a:latin typeface="-apple-system"/>
              </a:rPr>
              <a:t>t+1</a:t>
            </a:r>
            <a:r>
              <a:rPr lang="en" altLang="ko-KR" b="0" i="0" dirty="0">
                <a:solidFill>
                  <a:srgbClr val="FFFFFF"/>
                </a:solidFill>
                <a:effectLst/>
                <a:highlight>
                  <a:srgbClr val="0D1117"/>
                </a:highlight>
                <a:latin typeface="-apple-system"/>
              </a:rPr>
              <a:t> = w</a:t>
            </a:r>
            <a:r>
              <a:rPr lang="en" altLang="ko-KR" b="0" i="0" baseline="30000" dirty="0">
                <a:solidFill>
                  <a:srgbClr val="FFFFFF"/>
                </a:solidFill>
                <a:effectLst/>
                <a:highlight>
                  <a:srgbClr val="0D1117"/>
                </a:highlight>
                <a:latin typeface="-apple-system"/>
              </a:rPr>
              <a:t>t</a:t>
            </a:r>
            <a:r>
              <a:rPr lang="en" altLang="ko-KR" b="0" i="0" dirty="0">
                <a:solidFill>
                  <a:srgbClr val="FFFFFF"/>
                </a:solidFill>
                <a:effectLst/>
                <a:highlight>
                  <a:srgbClr val="0D1117"/>
                </a:highlight>
                <a:latin typeface="-apple-system"/>
              </a:rPr>
              <a:t>+v</a:t>
            </a:r>
            <a:r>
              <a:rPr lang="en" altLang="ko-KR" b="0" i="0" baseline="30000" dirty="0">
                <a:solidFill>
                  <a:srgbClr val="FFFFFF"/>
                </a:solidFill>
                <a:effectLst/>
                <a:highlight>
                  <a:srgbClr val="0D1117"/>
                </a:highlight>
                <a:latin typeface="-apple-system"/>
              </a:rPr>
              <a:t>t+1</a:t>
            </a:r>
          </a:p>
          <a:p>
            <a:pPr marL="914400" lvl="2" indent="0">
              <a:buNone/>
            </a:pPr>
            <a:endParaRPr lang="en" altLang="ko-KR" b="0" i="0" baseline="30000" dirty="0">
              <a:solidFill>
                <a:srgbClr val="FFFFFF"/>
              </a:solidFill>
              <a:effectLst/>
              <a:highlight>
                <a:srgbClr val="0D1117"/>
              </a:highlight>
              <a:latin typeface="-apple-system"/>
            </a:endParaRPr>
          </a:p>
          <a:p>
            <a:pPr lvl="1">
              <a:buFont typeface="Wingdings" pitchFamily="2" charset="2"/>
              <a:buChar char="Ø"/>
            </a:pPr>
            <a:r>
              <a:rPr lang="ko-KR" altLang="en-US" b="0" i="0" dirty="0">
                <a:solidFill>
                  <a:srgbClr val="FFFFFF"/>
                </a:solidFill>
                <a:effectLst/>
                <a:highlight>
                  <a:srgbClr val="0D1117"/>
                </a:highlight>
                <a:latin typeface="-apple-system"/>
              </a:rPr>
              <a:t>매개변수 </a:t>
            </a:r>
            <a:r>
              <a:rPr lang="el-GR" altLang="ko-KR" b="0" i="0" dirty="0">
                <a:solidFill>
                  <a:srgbClr val="FFFFFF"/>
                </a:solidFill>
                <a:effectLst/>
                <a:highlight>
                  <a:srgbClr val="0D1117"/>
                </a:highlight>
                <a:latin typeface="-apple-system"/>
              </a:rPr>
              <a:t>γ</a:t>
            </a:r>
            <a:r>
              <a:rPr lang="ko-KR" altLang="en-US" b="0" i="0" dirty="0">
                <a:solidFill>
                  <a:srgbClr val="FFFFFF"/>
                </a:solidFill>
                <a:effectLst/>
                <a:highlight>
                  <a:srgbClr val="0D1117"/>
                </a:highlight>
                <a:latin typeface="-apple-system"/>
              </a:rPr>
              <a:t>는 관성을 고려하는 정도를 나타내는데</a:t>
            </a:r>
            <a:r>
              <a:rPr lang="en-US" altLang="ko-KR" b="0" i="0" dirty="0">
                <a:solidFill>
                  <a:srgbClr val="FFFFFF"/>
                </a:solidFill>
                <a:effectLst/>
                <a:highlight>
                  <a:srgbClr val="0D1117"/>
                </a:highlight>
                <a:latin typeface="-apple-system"/>
              </a:rPr>
              <a:t> </a:t>
            </a:r>
            <a:r>
              <a:rPr lang="el-GR" altLang="ko-KR" b="0" i="0" dirty="0">
                <a:solidFill>
                  <a:srgbClr val="FFFFFF"/>
                </a:solidFill>
                <a:effectLst/>
                <a:highlight>
                  <a:srgbClr val="0D1117"/>
                </a:highlight>
                <a:latin typeface="-apple-system"/>
              </a:rPr>
              <a:t>γ=0</a:t>
            </a:r>
            <a:r>
              <a:rPr lang="ko-KR" altLang="en-US" b="0" i="0" dirty="0">
                <a:solidFill>
                  <a:srgbClr val="FFFFFF"/>
                </a:solidFill>
                <a:effectLst/>
                <a:highlight>
                  <a:srgbClr val="0D1117"/>
                </a:highlight>
                <a:latin typeface="-apple-system"/>
              </a:rPr>
              <a:t>은 고전적인 </a:t>
            </a:r>
            <a:r>
              <a:rPr lang="en" altLang="ko-KR" b="0" i="0" dirty="0">
                <a:solidFill>
                  <a:srgbClr val="FFFFFF"/>
                </a:solidFill>
                <a:effectLst/>
                <a:highlight>
                  <a:srgbClr val="0D1117"/>
                </a:highlight>
                <a:latin typeface="-apple-system"/>
              </a:rPr>
              <a:t>SGD</a:t>
            </a:r>
            <a:r>
              <a:rPr lang="ko-KR" altLang="en-US" b="0" i="0" dirty="0">
                <a:solidFill>
                  <a:srgbClr val="FFFFFF"/>
                </a:solidFill>
                <a:effectLst/>
                <a:highlight>
                  <a:srgbClr val="0D1117"/>
                </a:highlight>
                <a:latin typeface="-apple-system"/>
              </a:rPr>
              <a:t>에 해당하며</a:t>
            </a:r>
            <a:r>
              <a:rPr lang="en-US" altLang="ko-KR" b="0" i="0" dirty="0">
                <a:solidFill>
                  <a:srgbClr val="FFFFFF"/>
                </a:solidFill>
                <a:effectLst/>
                <a:highlight>
                  <a:srgbClr val="0D1117"/>
                </a:highlight>
                <a:latin typeface="-apple-system"/>
              </a:rPr>
              <a:t>, </a:t>
            </a:r>
            <a:r>
              <a:rPr lang="el-GR" altLang="ko-KR" b="0" i="0" dirty="0">
                <a:solidFill>
                  <a:srgbClr val="FFFFFF"/>
                </a:solidFill>
                <a:effectLst/>
                <a:highlight>
                  <a:srgbClr val="0D1117"/>
                </a:highlight>
                <a:latin typeface="-apple-system"/>
              </a:rPr>
              <a:t>γ=1</a:t>
            </a:r>
            <a:r>
              <a:rPr lang="ko-KR" altLang="en-US" b="0" i="0" dirty="0">
                <a:solidFill>
                  <a:srgbClr val="FFFFFF"/>
                </a:solidFill>
                <a:effectLst/>
                <a:highlight>
                  <a:srgbClr val="0D1117"/>
                </a:highlight>
                <a:latin typeface="-apple-system"/>
              </a:rPr>
              <a:t>은 순수 </a:t>
            </a:r>
            <a:r>
              <a:rPr lang="ko-KR" altLang="en-US" dirty="0">
                <a:solidFill>
                  <a:srgbClr val="FFFFFF"/>
                </a:solidFill>
                <a:highlight>
                  <a:srgbClr val="0D1117"/>
                </a:highlight>
                <a:latin typeface="-apple-system"/>
              </a:rPr>
              <a:t>운동</a:t>
            </a:r>
            <a:r>
              <a:rPr lang="ko-KR" altLang="en-US" b="0" i="0" dirty="0">
                <a:solidFill>
                  <a:srgbClr val="FFFFFF"/>
                </a:solidFill>
                <a:effectLst/>
                <a:highlight>
                  <a:srgbClr val="0D1117"/>
                </a:highlight>
                <a:latin typeface="-apple-system"/>
              </a:rPr>
              <a:t>방정식</a:t>
            </a:r>
            <a:endParaRPr lang="en" altLang="ko-KR" b="0" i="0" dirty="0">
              <a:solidFill>
                <a:srgbClr val="FFFFFF"/>
              </a:solidFill>
              <a:effectLst/>
              <a:highlight>
                <a:srgbClr val="0D1117"/>
              </a:highlight>
              <a:latin typeface="-apple-system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A8EB17-0430-0C48-1927-2C6D6E1A9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1776" y="6164207"/>
            <a:ext cx="722655" cy="36576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105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 sz="105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8359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64DAFB-AD9A-4E52-B026-8641CCD67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747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3B1C8FC-E1FE-470B-AB3B-D4B1D8C9D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E3F785F-3C90-7D04-F79A-77B16ED41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2" y="321733"/>
            <a:ext cx="9256566" cy="845983"/>
          </a:xfrm>
          <a:effectLst>
            <a:outerShdw blurRad="88900" dist="38100" dir="2700000" algn="tl" rotWithShape="0">
              <a:prstClr val="black">
                <a:alpha val="30000"/>
              </a:prstClr>
            </a:outerShdw>
          </a:effectLst>
        </p:spPr>
        <p:txBody>
          <a:bodyPr anchor="b">
            <a:normAutofit/>
          </a:bodyPr>
          <a:lstStyle/>
          <a:p>
            <a:r>
              <a:rPr kumimoji="1" lang="en" altLang="ko-KR" dirty="0"/>
              <a:t>Adam, </a:t>
            </a:r>
            <a:r>
              <a:rPr kumimoji="1" lang="en" altLang="ko-KR" dirty="0" err="1"/>
              <a:t>Adagrad</a:t>
            </a:r>
            <a:r>
              <a:rPr kumimoji="1" lang="en" altLang="ko-KR" dirty="0"/>
              <a:t>, etc.</a:t>
            </a:r>
            <a:endParaRPr kumimoji="1" lang="ko-KR" alt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6ED1086-4FBF-41E3-B23D-0AF086E76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2846786"/>
            <a:ext cx="1602997" cy="14427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900C04C-9973-40F3-8121-55AC6A4726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851041"/>
            <a:ext cx="9936886" cy="32116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D6B57F6-C734-4FDA-9495-94E602DC5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89448"/>
            <a:ext cx="9936887" cy="4381221"/>
          </a:xfrm>
          <a:prstGeom prst="rect">
            <a:avLst/>
          </a:prstGeom>
          <a:solidFill>
            <a:srgbClr val="0D0D0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74590D-F50F-F5B8-4833-E36B94B67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1960966"/>
            <a:ext cx="8601055" cy="3418626"/>
          </a:xfrm>
        </p:spPr>
        <p:txBody>
          <a:bodyPr anchor="t">
            <a:normAutofit/>
          </a:bodyPr>
          <a:lstStyle/>
          <a:p>
            <a:r>
              <a:rPr kumimoji="1" lang="ko-KR" altLang="en-US" sz="1700" dirty="0">
                <a:solidFill>
                  <a:srgbClr val="FFFFFF"/>
                </a:solidFill>
              </a:rPr>
              <a:t>각 레이어에서 신호에 어떤 특정한 행렬 </a:t>
            </a:r>
            <a:r>
              <a:rPr kumimoji="1" lang="en" altLang="ko-KR" sz="1700" dirty="0">
                <a:solidFill>
                  <a:srgbClr val="FFFFFF"/>
                </a:solidFill>
              </a:rPr>
              <a:t>Wi</a:t>
            </a:r>
            <a:r>
              <a:rPr kumimoji="1" lang="ko-KR" altLang="en-US" sz="1700" dirty="0" err="1">
                <a:solidFill>
                  <a:srgbClr val="FFFFFF"/>
                </a:solidFill>
              </a:rPr>
              <a:t>를</a:t>
            </a:r>
            <a:r>
              <a:rPr kumimoji="1" lang="ko-KR" altLang="en-US" sz="1700" dirty="0">
                <a:solidFill>
                  <a:srgbClr val="FFFFFF"/>
                </a:solidFill>
              </a:rPr>
              <a:t> 곱하면 </a:t>
            </a:r>
            <a:r>
              <a:rPr kumimoji="1" lang="en-US" altLang="ko-KR" sz="1700" dirty="0">
                <a:solidFill>
                  <a:srgbClr val="FFFFFF"/>
                </a:solidFill>
              </a:rPr>
              <a:t>||</a:t>
            </a:r>
            <a:r>
              <a:rPr kumimoji="1" lang="en" altLang="ko-KR" sz="1700" dirty="0">
                <a:solidFill>
                  <a:srgbClr val="FFFFFF"/>
                </a:solidFill>
              </a:rPr>
              <a:t>Wi||</a:t>
            </a:r>
            <a:r>
              <a:rPr kumimoji="1" lang="ko-KR" altLang="en-US" sz="1700" dirty="0">
                <a:solidFill>
                  <a:srgbClr val="FFFFFF"/>
                </a:solidFill>
              </a:rPr>
              <a:t>에 따라 </a:t>
            </a:r>
            <a:r>
              <a:rPr kumimoji="1" lang="ko-KR" altLang="en-US" sz="1700" dirty="0" err="1">
                <a:solidFill>
                  <a:srgbClr val="FFFFFF"/>
                </a:solidFill>
              </a:rPr>
              <a:t>그라데이션은</a:t>
            </a:r>
            <a:r>
              <a:rPr kumimoji="1" lang="ko-KR" altLang="en-US" sz="1700" dirty="0">
                <a:solidFill>
                  <a:srgbClr val="FFFFFF"/>
                </a:solidFill>
              </a:rPr>
              <a:t> 감소하여 </a:t>
            </a:r>
            <a:r>
              <a:rPr kumimoji="1" lang="en-US" altLang="ko-KR" sz="1700" dirty="0">
                <a:solidFill>
                  <a:srgbClr val="FFFFFF"/>
                </a:solidFill>
              </a:rPr>
              <a:t>0</a:t>
            </a:r>
            <a:r>
              <a:rPr kumimoji="1" lang="ko-KR" altLang="en-US" sz="1700" dirty="0">
                <a:solidFill>
                  <a:srgbClr val="FFFFFF"/>
                </a:solidFill>
              </a:rPr>
              <a:t>에 가까워지거나 무한히 상승할 수 있음</a:t>
            </a:r>
            <a:endParaRPr kumimoji="1" lang="en-US" altLang="ko-KR" sz="1700" dirty="0">
              <a:solidFill>
                <a:srgbClr val="FFFFFF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kumimoji="1" lang="ko-KR" altLang="en-US" sz="1700" dirty="0">
                <a:solidFill>
                  <a:srgbClr val="FFFFFF"/>
                </a:solidFill>
              </a:rPr>
              <a:t>이것이 바로 폭발</a:t>
            </a:r>
            <a:r>
              <a:rPr kumimoji="1" lang="en-US" altLang="ko-KR" sz="1700" dirty="0">
                <a:solidFill>
                  <a:srgbClr val="FFFFFF"/>
                </a:solidFill>
              </a:rPr>
              <a:t>/</a:t>
            </a:r>
            <a:r>
              <a:rPr kumimoji="1" lang="ko-KR" altLang="en-US" sz="1700" dirty="0">
                <a:solidFill>
                  <a:srgbClr val="FFFFFF"/>
                </a:solidFill>
              </a:rPr>
              <a:t>소멸 </a:t>
            </a:r>
            <a:r>
              <a:rPr kumimoji="1" lang="ko-KR" altLang="en-US" sz="1700" dirty="0" err="1">
                <a:solidFill>
                  <a:srgbClr val="FFFFFF"/>
                </a:solidFill>
              </a:rPr>
              <a:t>그라데이션</a:t>
            </a:r>
            <a:r>
              <a:rPr kumimoji="1" lang="ko-KR" altLang="en-US" sz="1700" dirty="0">
                <a:solidFill>
                  <a:srgbClr val="FFFFFF"/>
                </a:solidFill>
              </a:rPr>
              <a:t> 문제의 원인</a:t>
            </a:r>
            <a:endParaRPr kumimoji="1" lang="en-US" altLang="ko-KR" sz="1700" dirty="0">
              <a:solidFill>
                <a:srgbClr val="FFFFFF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kumimoji="1" lang="ko-KR" altLang="en-US" sz="1700" dirty="0">
                <a:solidFill>
                  <a:srgbClr val="FFFFFF"/>
                </a:solidFill>
              </a:rPr>
              <a:t>이 문제에 대한 해결책 중 하나는 방정식에서 </a:t>
            </a:r>
            <a:r>
              <a:rPr kumimoji="1" lang="ko-KR" altLang="en-US" sz="1700" dirty="0" err="1">
                <a:solidFill>
                  <a:srgbClr val="FFFFFF"/>
                </a:solidFill>
              </a:rPr>
              <a:t>그라데이션의</a:t>
            </a:r>
            <a:r>
              <a:rPr kumimoji="1" lang="ko-KR" altLang="en-US" sz="1700" dirty="0">
                <a:solidFill>
                  <a:srgbClr val="FFFFFF"/>
                </a:solidFill>
              </a:rPr>
              <a:t> 방향만 사용하고 절대값은 무시하는 것</a:t>
            </a:r>
            <a:endParaRPr kumimoji="1" lang="en-US" altLang="ko-KR" sz="1700" dirty="0">
              <a:solidFill>
                <a:srgbClr val="FFFFFF"/>
              </a:solidFill>
            </a:endParaRPr>
          </a:p>
          <a:p>
            <a:pPr marL="457200" lvl="1" indent="0">
              <a:buNone/>
            </a:pPr>
            <a:r>
              <a:rPr kumimoji="1" lang="en-US" altLang="ko-KR" sz="1700" dirty="0">
                <a:solidFill>
                  <a:srgbClr val="FFFFFF"/>
                </a:solidFill>
              </a:rPr>
              <a:t>	</a:t>
            </a:r>
          </a:p>
          <a:p>
            <a:pPr marL="457200" lvl="1" indent="0">
              <a:buNone/>
            </a:pPr>
            <a:r>
              <a:rPr kumimoji="1" lang="en-US" altLang="ko-KR" sz="1700" dirty="0">
                <a:solidFill>
                  <a:srgbClr val="FFFFFF"/>
                </a:solidFill>
              </a:rPr>
              <a:t>wt+1 = </a:t>
            </a:r>
            <a:r>
              <a:rPr kumimoji="1" lang="en-US" altLang="ko-KR" sz="1700" dirty="0" err="1">
                <a:solidFill>
                  <a:srgbClr val="FFFFFF"/>
                </a:solidFill>
              </a:rPr>
              <a:t>wt</a:t>
            </a:r>
            <a:r>
              <a:rPr kumimoji="1" lang="en-US" altLang="ko-KR" sz="1700" dirty="0">
                <a:solidFill>
                  <a:srgbClr val="FFFFFF"/>
                </a:solidFill>
              </a:rPr>
              <a:t> - </a:t>
            </a:r>
            <a:r>
              <a:rPr kumimoji="1" lang="el-GR" altLang="ko-KR" sz="1700" dirty="0">
                <a:solidFill>
                  <a:srgbClr val="FFFFFF"/>
                </a:solidFill>
              </a:rPr>
              <a:t>η(</a:t>
            </a:r>
            <a:r>
              <a:rPr kumimoji="1" lang="el-GR" altLang="ko-KR" sz="1700" dirty="0" err="1">
                <a:solidFill>
                  <a:srgbClr val="FFFFFF"/>
                </a:solidFill>
              </a:rPr>
              <a:t>ℒ</a:t>
            </a:r>
            <a:r>
              <a:rPr kumimoji="1" lang="el-GR" altLang="ko-KR" sz="1700" dirty="0">
                <a:solidFill>
                  <a:srgbClr val="FFFFFF"/>
                </a:solidFill>
              </a:rPr>
              <a:t>/||∇</a:t>
            </a:r>
            <a:r>
              <a:rPr kumimoji="1" lang="el-GR" altLang="ko-KR" sz="1700" dirty="0" err="1">
                <a:solidFill>
                  <a:srgbClr val="FFFFFF"/>
                </a:solidFill>
              </a:rPr>
              <a:t>ℒ</a:t>
            </a:r>
            <a:r>
              <a:rPr kumimoji="1" lang="el-GR" altLang="ko-KR" sz="1700" dirty="0">
                <a:solidFill>
                  <a:srgbClr val="FFFFFF"/>
                </a:solidFill>
              </a:rPr>
              <a:t>||), </a:t>
            </a:r>
            <a:r>
              <a:rPr kumimoji="1" lang="ko-KR" altLang="en-US" sz="1700" dirty="0">
                <a:solidFill>
                  <a:srgbClr val="FFFFFF"/>
                </a:solidFill>
              </a:rPr>
              <a:t>여기서 </a:t>
            </a:r>
            <a:r>
              <a:rPr kumimoji="1" lang="en-US" altLang="ko-KR" sz="1700" dirty="0">
                <a:solidFill>
                  <a:srgbClr val="FFFFFF"/>
                </a:solidFill>
              </a:rPr>
              <a:t>||∇ℒ|| = √∑(∇ℒ)2</a:t>
            </a:r>
          </a:p>
          <a:p>
            <a:pPr marL="457200" lvl="1" indent="0">
              <a:buNone/>
            </a:pPr>
            <a:endParaRPr kumimoji="1" lang="en-US" altLang="ko-KR" sz="1700" dirty="0">
              <a:solidFill>
                <a:srgbClr val="FFFFFF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kumimoji="1" lang="ko-KR" altLang="en-US" sz="1700" dirty="0">
                <a:solidFill>
                  <a:srgbClr val="FFFFFF"/>
                </a:solidFill>
              </a:rPr>
              <a:t>이 알고리즘을 </a:t>
            </a:r>
            <a:r>
              <a:rPr kumimoji="1" lang="ko-KR" altLang="en-US" sz="1700" dirty="0" err="1">
                <a:solidFill>
                  <a:srgbClr val="FFFFFF"/>
                </a:solidFill>
              </a:rPr>
              <a:t>아다그라드라고</a:t>
            </a:r>
            <a:r>
              <a:rPr kumimoji="1" lang="ko-KR" altLang="en-US" sz="1700" dirty="0">
                <a:solidFill>
                  <a:srgbClr val="FFFFFF"/>
                </a:solidFill>
              </a:rPr>
              <a:t> 함</a:t>
            </a:r>
            <a:endParaRPr kumimoji="1" lang="en-US" altLang="ko-KR" sz="1700" dirty="0">
              <a:solidFill>
                <a:srgbClr val="FFFFFF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kumimoji="1" lang="ko-KR" altLang="en-US" sz="1700" dirty="0">
                <a:solidFill>
                  <a:srgbClr val="FFFFFF"/>
                </a:solidFill>
              </a:rPr>
              <a:t>같은 아이디어를 사용하는 다른 알고리즘도 있음</a:t>
            </a:r>
            <a:r>
              <a:rPr kumimoji="1" lang="en-US" altLang="ko-KR" sz="1700" dirty="0">
                <a:solidFill>
                  <a:srgbClr val="FFFFFF"/>
                </a:solidFill>
              </a:rPr>
              <a:t>: </a:t>
            </a:r>
            <a:r>
              <a:rPr kumimoji="1" lang="en-US" altLang="ko-KR" sz="1700" dirty="0" err="1">
                <a:solidFill>
                  <a:srgbClr val="FFFFFF"/>
                </a:solidFill>
              </a:rPr>
              <a:t>RMSProp</a:t>
            </a:r>
            <a:r>
              <a:rPr kumimoji="1" lang="en-US" altLang="ko-KR" sz="1700" dirty="0">
                <a:solidFill>
                  <a:srgbClr val="FFFFFF"/>
                </a:solidFill>
              </a:rPr>
              <a:t>, Adam</a:t>
            </a:r>
          </a:p>
          <a:p>
            <a:pPr lvl="1">
              <a:buFont typeface="Wingdings" pitchFamily="2" charset="2"/>
              <a:buChar char="Ø"/>
            </a:pPr>
            <a:r>
              <a:rPr kumimoji="1" lang="en-US" altLang="ko-KR" sz="1700" dirty="0">
                <a:solidFill>
                  <a:srgbClr val="FFFFFF"/>
                </a:solidFill>
              </a:rPr>
              <a:t>Adam</a:t>
            </a:r>
            <a:r>
              <a:rPr kumimoji="1" lang="ko-KR" altLang="en-US" sz="1700" dirty="0">
                <a:solidFill>
                  <a:srgbClr val="FFFFFF"/>
                </a:solidFill>
              </a:rPr>
              <a:t>은 많은 애플리케이션에서 매우 효율적인 알고리즘으로 간주되므로 어떤 알고리즘을 사용해야 할지 잘 모르겠다면 </a:t>
            </a:r>
            <a:r>
              <a:rPr kumimoji="1" lang="en-US" altLang="ko-KR" sz="1700" dirty="0">
                <a:solidFill>
                  <a:srgbClr val="FFFFFF"/>
                </a:solidFill>
              </a:rPr>
              <a:t>Adam</a:t>
            </a:r>
            <a:r>
              <a:rPr kumimoji="1" lang="ko-KR" altLang="en-US" sz="1700" dirty="0">
                <a:solidFill>
                  <a:srgbClr val="FFFFFF"/>
                </a:solidFill>
              </a:rPr>
              <a:t>을 사용</a:t>
            </a:r>
            <a:endParaRPr kumimoji="1" lang="en-US" altLang="ko-KR" sz="1700" dirty="0">
              <a:solidFill>
                <a:srgbClr val="FFFFFF"/>
              </a:solidFill>
            </a:endParaRPr>
          </a:p>
          <a:p>
            <a:pPr marL="457200" lvl="1" indent="0">
              <a:buNone/>
            </a:pPr>
            <a:endParaRPr kumimoji="1" lang="en-US" altLang="ko-KR" sz="1700" dirty="0">
              <a:solidFill>
                <a:srgbClr val="FFFFFF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6C984CB-7FE4-4AD0-8CF7-11AD55736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9003" y="148944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4C7276-13BC-DD14-5075-0B4103959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9455" y="1628152"/>
            <a:ext cx="1154151" cy="1090789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59425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64DAFB-AD9A-4E52-B026-8641CCD67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747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3B1C8FC-E1FE-470B-AB3B-D4B1D8C9D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2BE8868-2967-8169-4B01-C2FF494BB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2" y="321733"/>
            <a:ext cx="9256566" cy="845983"/>
          </a:xfrm>
          <a:effectLst>
            <a:outerShdw blurRad="88900" dist="38100" dir="2700000" algn="tl" rotWithShape="0">
              <a:prstClr val="black">
                <a:alpha val="30000"/>
              </a:prstClr>
            </a:outerShdw>
          </a:effectLst>
        </p:spPr>
        <p:txBody>
          <a:bodyPr anchor="b">
            <a:normAutofit/>
          </a:bodyPr>
          <a:lstStyle/>
          <a:p>
            <a:r>
              <a:rPr kumimoji="1" lang="en" altLang="ko-KR" dirty="0"/>
              <a:t>Gradient clipping</a:t>
            </a:r>
            <a:endParaRPr kumimoji="1" lang="ko-KR" alt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6ED1086-4FBF-41E3-B23D-0AF086E76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2846786"/>
            <a:ext cx="1602997" cy="14427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900C04C-9973-40F3-8121-55AC6A4726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851041"/>
            <a:ext cx="9936886" cy="32116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D6B57F6-C734-4FDA-9495-94E602DC5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89448"/>
            <a:ext cx="9936887" cy="4381221"/>
          </a:xfrm>
          <a:prstGeom prst="rect">
            <a:avLst/>
          </a:prstGeom>
          <a:solidFill>
            <a:srgbClr val="0D0D0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BA220A-5B5A-CEF4-75CF-EB8C5E974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1960966"/>
            <a:ext cx="8601055" cy="3418626"/>
          </a:xfrm>
        </p:spPr>
        <p:txBody>
          <a:bodyPr anchor="t">
            <a:normAutofit/>
          </a:bodyPr>
          <a:lstStyle/>
          <a:p>
            <a:r>
              <a:rPr kumimoji="1" lang="ko-KR" altLang="en-US" sz="2000" dirty="0" err="1">
                <a:solidFill>
                  <a:srgbClr val="FFFFFF"/>
                </a:solidFill>
              </a:rPr>
              <a:t>그라데이션</a:t>
            </a:r>
            <a:r>
              <a:rPr kumimoji="1" lang="ko-KR" altLang="en-US" sz="2000" dirty="0">
                <a:solidFill>
                  <a:srgbClr val="FFFFFF"/>
                </a:solidFill>
              </a:rPr>
              <a:t> </a:t>
            </a:r>
            <a:r>
              <a:rPr kumimoji="1" lang="ko-KR" altLang="en-US" sz="2000" dirty="0" err="1">
                <a:solidFill>
                  <a:srgbClr val="FFFFFF"/>
                </a:solidFill>
              </a:rPr>
              <a:t>클리핑은</a:t>
            </a:r>
            <a:r>
              <a:rPr kumimoji="1" lang="ko-KR" altLang="en-US" sz="2000" dirty="0">
                <a:solidFill>
                  <a:srgbClr val="FFFFFF"/>
                </a:solidFill>
              </a:rPr>
              <a:t> 위의 아이디어를 확장한 것</a:t>
            </a:r>
            <a:endParaRPr kumimoji="1" lang="en-US" altLang="ko-KR" sz="2000" dirty="0">
              <a:solidFill>
                <a:srgbClr val="FFFFFF"/>
              </a:solidFill>
            </a:endParaRPr>
          </a:p>
          <a:p>
            <a:pPr lvl="1"/>
            <a:r>
              <a:rPr kumimoji="1" lang="en-US" altLang="ko-KR" dirty="0">
                <a:solidFill>
                  <a:srgbClr val="FFFFFF"/>
                </a:solidFill>
              </a:rPr>
              <a:t>||∇ℒ|| ≤ </a:t>
            </a:r>
            <a:r>
              <a:rPr kumimoji="1" lang="el-GR" altLang="ko-KR" dirty="0">
                <a:solidFill>
                  <a:srgbClr val="FFFFFF"/>
                </a:solidFill>
              </a:rPr>
              <a:t>θ</a:t>
            </a:r>
            <a:r>
              <a:rPr kumimoji="1" lang="ko-KR" altLang="en-US" dirty="0">
                <a:solidFill>
                  <a:srgbClr val="FFFFFF"/>
                </a:solidFill>
              </a:rPr>
              <a:t>일 때는 가중치 최적화에서 원래 </a:t>
            </a:r>
            <a:r>
              <a:rPr kumimoji="1" lang="ko-KR" altLang="en-US" dirty="0" err="1">
                <a:solidFill>
                  <a:srgbClr val="FFFFFF"/>
                </a:solidFill>
              </a:rPr>
              <a:t>그라데이션을</a:t>
            </a:r>
            <a:r>
              <a:rPr kumimoji="1" lang="ko-KR" altLang="en-US" dirty="0">
                <a:solidFill>
                  <a:srgbClr val="FFFFFF"/>
                </a:solidFill>
              </a:rPr>
              <a:t> 고려하고</a:t>
            </a:r>
            <a:r>
              <a:rPr kumimoji="1" lang="en-US" altLang="ko-KR" dirty="0">
                <a:solidFill>
                  <a:srgbClr val="FFFFFF"/>
                </a:solidFill>
              </a:rPr>
              <a:t>, ||∇ℒ|| &gt; </a:t>
            </a:r>
            <a:r>
              <a:rPr kumimoji="1" lang="el-GR" altLang="ko-KR" dirty="0">
                <a:solidFill>
                  <a:srgbClr val="FFFFFF"/>
                </a:solidFill>
              </a:rPr>
              <a:t>θ</a:t>
            </a:r>
            <a:r>
              <a:rPr kumimoji="1" lang="ko-KR" altLang="en-US" dirty="0">
                <a:solidFill>
                  <a:srgbClr val="FFFFFF"/>
                </a:solidFill>
              </a:rPr>
              <a:t>일 때는 </a:t>
            </a:r>
            <a:r>
              <a:rPr kumimoji="1" lang="ko-KR" altLang="en-US" dirty="0" err="1">
                <a:solidFill>
                  <a:srgbClr val="FFFFFF"/>
                </a:solidFill>
              </a:rPr>
              <a:t>그라데이션을</a:t>
            </a:r>
            <a:r>
              <a:rPr kumimoji="1" lang="ko-KR" altLang="en-US" dirty="0">
                <a:solidFill>
                  <a:srgbClr val="FFFFFF"/>
                </a:solidFill>
              </a:rPr>
              <a:t> 그 표준으로 나눔</a:t>
            </a:r>
            <a:endParaRPr kumimoji="1" lang="en-US" altLang="ko-KR" dirty="0">
              <a:solidFill>
                <a:srgbClr val="FFFFFF"/>
              </a:solidFill>
            </a:endParaRPr>
          </a:p>
          <a:p>
            <a:pPr lvl="1"/>
            <a:r>
              <a:rPr kumimoji="1" lang="ko-KR" altLang="en-US" dirty="0">
                <a:solidFill>
                  <a:srgbClr val="FFFFFF"/>
                </a:solidFill>
              </a:rPr>
              <a:t>여기서 </a:t>
            </a:r>
            <a:r>
              <a:rPr kumimoji="1" lang="el-GR" altLang="ko-KR" dirty="0">
                <a:solidFill>
                  <a:srgbClr val="FFFFFF"/>
                </a:solidFill>
              </a:rPr>
              <a:t>θ</a:t>
            </a:r>
            <a:r>
              <a:rPr kumimoji="1" lang="ko-KR" altLang="en-US" dirty="0">
                <a:solidFill>
                  <a:srgbClr val="FFFFFF"/>
                </a:solidFill>
              </a:rPr>
              <a:t>는 매개변수이며</a:t>
            </a:r>
            <a:r>
              <a:rPr kumimoji="1" lang="en-US" altLang="ko-KR" dirty="0">
                <a:solidFill>
                  <a:srgbClr val="FFFFFF"/>
                </a:solidFill>
              </a:rPr>
              <a:t>, </a:t>
            </a:r>
            <a:r>
              <a:rPr kumimoji="1" lang="ko-KR" altLang="en-US" dirty="0">
                <a:solidFill>
                  <a:srgbClr val="FFFFFF"/>
                </a:solidFill>
              </a:rPr>
              <a:t>대부분의 경우 </a:t>
            </a:r>
            <a:r>
              <a:rPr kumimoji="1" lang="el-GR" altLang="ko-KR" dirty="0">
                <a:solidFill>
                  <a:srgbClr val="FFFFFF"/>
                </a:solidFill>
              </a:rPr>
              <a:t>θ=1 </a:t>
            </a:r>
            <a:r>
              <a:rPr kumimoji="1" lang="ko-KR" altLang="en-US" dirty="0">
                <a:solidFill>
                  <a:srgbClr val="FFFFFF"/>
                </a:solidFill>
              </a:rPr>
              <a:t>또는 </a:t>
            </a:r>
            <a:r>
              <a:rPr kumimoji="1" lang="el-GR" altLang="ko-KR" dirty="0">
                <a:solidFill>
                  <a:srgbClr val="FFFFFF"/>
                </a:solidFill>
              </a:rPr>
              <a:t>θ=10</a:t>
            </a:r>
            <a:r>
              <a:rPr kumimoji="1" lang="ko-KR" altLang="en-US" dirty="0">
                <a:solidFill>
                  <a:srgbClr val="FFFFFF"/>
                </a:solidFill>
              </a:rPr>
              <a:t>을 사용할 수 있음</a:t>
            </a:r>
            <a:endParaRPr kumimoji="1" lang="en-US" altLang="ko-KR" dirty="0">
              <a:solidFill>
                <a:srgbClr val="FFFFFF"/>
              </a:solidFill>
            </a:endParaRPr>
          </a:p>
          <a:p>
            <a:endParaRPr kumimoji="1" lang="ko-KR" altLang="en-US" sz="2000" dirty="0">
              <a:solidFill>
                <a:srgbClr val="FFFFFF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6C984CB-7FE4-4AD0-8CF7-11AD55736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9003" y="148944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FDD134-0E7F-2F72-B162-4D1E221C8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9455" y="1628152"/>
            <a:ext cx="1154151" cy="1090789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12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5465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64DAFB-AD9A-4E52-B026-8641CCD67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747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3B1C8FC-E1FE-470B-AB3B-D4B1D8C9D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6093D7E-33D2-5E0F-D622-02A3B06A8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2" y="321733"/>
            <a:ext cx="9256566" cy="845983"/>
          </a:xfrm>
          <a:effectLst>
            <a:outerShdw blurRad="88900" dist="38100" dir="2700000" algn="tl" rotWithShape="0">
              <a:prstClr val="black">
                <a:alpha val="30000"/>
              </a:prstClr>
            </a:outerShdw>
          </a:effectLst>
        </p:spPr>
        <p:txBody>
          <a:bodyPr anchor="b">
            <a:normAutofit/>
          </a:bodyPr>
          <a:lstStyle/>
          <a:p>
            <a:r>
              <a:rPr kumimoji="1" lang="en" altLang="ko-KR" dirty="0"/>
              <a:t>Learning rate decay</a:t>
            </a:r>
            <a:endParaRPr kumimoji="1" lang="ko-KR" alt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6ED1086-4FBF-41E3-B23D-0AF086E76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2846786"/>
            <a:ext cx="1602997" cy="14427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900C04C-9973-40F3-8121-55AC6A4726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851041"/>
            <a:ext cx="9936886" cy="32116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D6B57F6-C734-4FDA-9495-94E602DC5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89448"/>
            <a:ext cx="9936887" cy="4381221"/>
          </a:xfrm>
          <a:prstGeom prst="rect">
            <a:avLst/>
          </a:prstGeom>
          <a:solidFill>
            <a:srgbClr val="0D0D0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959ABC-8D06-264F-237D-E1F242525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1960966"/>
            <a:ext cx="8601055" cy="3418626"/>
          </a:xfrm>
        </p:spPr>
        <p:txBody>
          <a:bodyPr anchor="t">
            <a:normAutofit/>
          </a:bodyPr>
          <a:lstStyle/>
          <a:p>
            <a:r>
              <a:rPr kumimoji="1" lang="ko-KR" altLang="en-US" sz="2000" dirty="0">
                <a:solidFill>
                  <a:srgbClr val="FFFFFF"/>
                </a:solidFill>
              </a:rPr>
              <a:t>학습 성공 여부는 학습 속도 매개변수 </a:t>
            </a:r>
            <a:r>
              <a:rPr kumimoji="1" lang="el-GR" altLang="ko-KR" sz="2000" dirty="0">
                <a:solidFill>
                  <a:srgbClr val="FFFFFF"/>
                </a:solidFill>
              </a:rPr>
              <a:t>η</a:t>
            </a:r>
            <a:r>
              <a:rPr kumimoji="1" lang="ko-KR" altLang="en-US" sz="2000" dirty="0">
                <a:solidFill>
                  <a:srgbClr val="FFFFFF"/>
                </a:solidFill>
              </a:rPr>
              <a:t>에 따라 달라지는 경우가 많음</a:t>
            </a:r>
            <a:endParaRPr kumimoji="1" lang="en-US" altLang="ko-KR" sz="2000" dirty="0">
              <a:solidFill>
                <a:srgbClr val="FFFFFF"/>
              </a:solidFill>
            </a:endParaRPr>
          </a:p>
          <a:p>
            <a:pPr lvl="1"/>
            <a:r>
              <a:rPr kumimoji="1" lang="el-GR" altLang="ko-KR" dirty="0">
                <a:solidFill>
                  <a:srgbClr val="FFFFFF"/>
                </a:solidFill>
              </a:rPr>
              <a:t>η </a:t>
            </a:r>
            <a:r>
              <a:rPr kumimoji="1" lang="ko-KR" altLang="en-US" dirty="0">
                <a:solidFill>
                  <a:srgbClr val="FFFFFF"/>
                </a:solidFill>
              </a:rPr>
              <a:t>값이 클수록 훈련 속도가 빨라지고</a:t>
            </a:r>
            <a:r>
              <a:rPr kumimoji="1" lang="en-US" altLang="ko-KR" dirty="0">
                <a:solidFill>
                  <a:srgbClr val="FFFFFF"/>
                </a:solidFill>
              </a:rPr>
              <a:t>, </a:t>
            </a:r>
            <a:r>
              <a:rPr kumimoji="1" lang="ko-KR" altLang="en-US" dirty="0">
                <a:solidFill>
                  <a:srgbClr val="FFFFFF"/>
                </a:solidFill>
              </a:rPr>
              <a:t>이는 일반적으로 훈련 초기에 원하는 것이며</a:t>
            </a:r>
            <a:r>
              <a:rPr kumimoji="1" lang="en-US" altLang="ko-KR" dirty="0">
                <a:solidFill>
                  <a:srgbClr val="FFFFFF"/>
                </a:solidFill>
              </a:rPr>
              <a:t>, </a:t>
            </a:r>
            <a:r>
              <a:rPr kumimoji="1" lang="el-GR" altLang="ko-KR" dirty="0">
                <a:solidFill>
                  <a:srgbClr val="FFFFFF"/>
                </a:solidFill>
              </a:rPr>
              <a:t>η </a:t>
            </a:r>
            <a:r>
              <a:rPr kumimoji="1" lang="ko-KR" altLang="en-US" dirty="0">
                <a:solidFill>
                  <a:srgbClr val="FFFFFF"/>
                </a:solidFill>
              </a:rPr>
              <a:t>값이 작을수록 네트워크를 미세 조정할 수 있다고 가정하는 것은 논리적</a:t>
            </a:r>
            <a:endParaRPr kumimoji="1" lang="en-US" altLang="ko-KR" dirty="0">
              <a:solidFill>
                <a:srgbClr val="FFFFFF"/>
              </a:solidFill>
            </a:endParaRPr>
          </a:p>
          <a:p>
            <a:pPr lvl="1"/>
            <a:r>
              <a:rPr kumimoji="1" lang="ko-KR" altLang="en-US" dirty="0">
                <a:solidFill>
                  <a:srgbClr val="FFFFFF"/>
                </a:solidFill>
              </a:rPr>
              <a:t>따라서 대부분의 경우 훈련 과정에서 </a:t>
            </a:r>
            <a:r>
              <a:rPr kumimoji="1" lang="el-GR" altLang="ko-KR" dirty="0">
                <a:solidFill>
                  <a:srgbClr val="FFFFFF"/>
                </a:solidFill>
              </a:rPr>
              <a:t>η</a:t>
            </a:r>
            <a:r>
              <a:rPr kumimoji="1" lang="ko-KR" altLang="en-US" dirty="0" err="1">
                <a:solidFill>
                  <a:srgbClr val="FFFFFF"/>
                </a:solidFill>
              </a:rPr>
              <a:t>를</a:t>
            </a:r>
            <a:r>
              <a:rPr kumimoji="1" lang="ko-KR" altLang="en-US" dirty="0">
                <a:solidFill>
                  <a:srgbClr val="FFFFFF"/>
                </a:solidFill>
              </a:rPr>
              <a:t> 낮추고자 함</a:t>
            </a:r>
            <a:endParaRPr kumimoji="1" lang="en-US" altLang="ko-KR" dirty="0">
              <a:solidFill>
                <a:srgbClr val="FFFFFF"/>
              </a:solidFill>
            </a:endParaRPr>
          </a:p>
          <a:p>
            <a:r>
              <a:rPr kumimoji="1" lang="ko-KR" altLang="en-US" sz="2000" dirty="0">
                <a:solidFill>
                  <a:srgbClr val="FFFFFF"/>
                </a:solidFill>
              </a:rPr>
              <a:t>이는 학습의 각 </a:t>
            </a:r>
            <a:r>
              <a:rPr kumimoji="1" lang="ko-KR" altLang="en-US" sz="2000" dirty="0" err="1">
                <a:solidFill>
                  <a:srgbClr val="FFFFFF"/>
                </a:solidFill>
              </a:rPr>
              <a:t>에포크마다</a:t>
            </a:r>
            <a:r>
              <a:rPr kumimoji="1" lang="ko-KR" altLang="en-US" sz="2000" dirty="0">
                <a:solidFill>
                  <a:srgbClr val="FFFFFF"/>
                </a:solidFill>
              </a:rPr>
              <a:t> </a:t>
            </a:r>
            <a:r>
              <a:rPr kumimoji="1" lang="el-GR" altLang="ko-KR" sz="2000" dirty="0">
                <a:solidFill>
                  <a:srgbClr val="FFFFFF"/>
                </a:solidFill>
              </a:rPr>
              <a:t>η</a:t>
            </a:r>
            <a:r>
              <a:rPr kumimoji="1" lang="ko-KR" altLang="en-US" sz="2000" dirty="0">
                <a:solidFill>
                  <a:srgbClr val="FFFFFF"/>
                </a:solidFill>
              </a:rPr>
              <a:t>에 일정한 숫자</a:t>
            </a:r>
            <a:r>
              <a:rPr kumimoji="1" lang="en-US" altLang="ko-KR" sz="2000" dirty="0">
                <a:solidFill>
                  <a:srgbClr val="FFFFFF"/>
                </a:solidFill>
              </a:rPr>
              <a:t>(</a:t>
            </a:r>
            <a:r>
              <a:rPr kumimoji="1" lang="ko-KR" altLang="en-US" sz="2000" dirty="0">
                <a:solidFill>
                  <a:srgbClr val="FFFFFF"/>
                </a:solidFill>
              </a:rPr>
              <a:t>예</a:t>
            </a:r>
            <a:r>
              <a:rPr kumimoji="1" lang="en-US" altLang="ko-KR" sz="2000" dirty="0">
                <a:solidFill>
                  <a:srgbClr val="FFFFFF"/>
                </a:solidFill>
              </a:rPr>
              <a:t>: 0.98)</a:t>
            </a:r>
            <a:r>
              <a:rPr kumimoji="1" lang="ko-KR" altLang="en-US" sz="2000" dirty="0" err="1">
                <a:solidFill>
                  <a:srgbClr val="FFFFFF"/>
                </a:solidFill>
              </a:rPr>
              <a:t>를</a:t>
            </a:r>
            <a:r>
              <a:rPr kumimoji="1" lang="ko-KR" altLang="en-US" sz="2000" dirty="0">
                <a:solidFill>
                  <a:srgbClr val="FFFFFF"/>
                </a:solidFill>
              </a:rPr>
              <a:t> 곱하거나 더 복잡한 학습 속도 스케줄을 사용하여 수행할 수 있음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6C984CB-7FE4-4AD0-8CF7-11AD55736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9003" y="148944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AA1F92-1994-86C3-F223-11A93A0C0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9455" y="1628152"/>
            <a:ext cx="1154151" cy="1090789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13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84372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CCD89DF-A084-43AD-9824-83BBBFC81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42DB508-57AC-4491-A95B-0A00DE260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1767E27-DCFE-4AA0-B1A2-E019108D7A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95000"/>
              <a:lumOff val="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438C703-752F-89C7-9FCD-378BE4BD7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kumimoji="1" lang="en" altLang="ko-KR" dirty="0"/>
              <a:t>Different Network Architectures</a:t>
            </a:r>
            <a:endParaRPr kumimoji="1" lang="ko-KR" alt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61BEF9-DC90-4AC9-8E25-ED5509D7A1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EFF001-2C1D-7F9B-C771-5FBA572F3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9455" y="753227"/>
            <a:ext cx="1154151" cy="1090789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4306F4-D304-4F4E-9B08-A8036AF82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2116667"/>
            <a:ext cx="10439400" cy="3793206"/>
          </a:xfrm>
          <a:prstGeom prst="rect">
            <a:avLst/>
          </a:prstGeom>
          <a:solidFill>
            <a:schemeClr val="bg1">
              <a:lumMod val="95000"/>
              <a:lumOff val="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FACC571-ABDB-4C1F-8A8B-53E362E11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486E5BD-1557-41D9-A119-D5F62647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graphicFrame>
        <p:nvGraphicFramePr>
          <p:cNvPr id="8" name="내용 개체 틀 2">
            <a:extLst>
              <a:ext uri="{FF2B5EF4-FFF2-40B4-BE49-F238E27FC236}">
                <a16:creationId xmlns:a16="http://schemas.microsoft.com/office/drawing/2014/main" id="{3407AEE8-1BEE-5AF8-1C17-DB0059C6F6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4270083"/>
              </p:ext>
            </p:extLst>
          </p:nvPr>
        </p:nvGraphicFramePr>
        <p:xfrm>
          <a:off x="681038" y="2427478"/>
          <a:ext cx="9433453" cy="31606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4064409646"/>
      </p:ext>
    </p:extLst>
  </p:cSld>
  <p:clrMapOvr>
    <a:masterClrMapping/>
  </p:clrMapOvr>
</p:sld>
</file>

<file path=ppt/theme/theme1.xml><?xml version="1.0" encoding="utf-8"?>
<a:theme xmlns:a="http://schemas.openxmlformats.org/drawingml/2006/main" name="베를린">
  <a:themeElements>
    <a:clrScheme name="베를린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베를린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베를린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1531</TotalTime>
  <Words>1009</Words>
  <Application>Microsoft Macintosh PowerPoint</Application>
  <PresentationFormat>와이드스크린</PresentationFormat>
  <Paragraphs>95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0" baseType="lpstr">
      <vt:lpstr>-apple-system</vt:lpstr>
      <vt:lpstr>맑은 고딕</vt:lpstr>
      <vt:lpstr>Arial</vt:lpstr>
      <vt:lpstr>Trebuchet MS</vt:lpstr>
      <vt:lpstr>Wingdings</vt:lpstr>
      <vt:lpstr>베를린</vt:lpstr>
      <vt:lpstr>Deep Learning Training Tricks</vt:lpstr>
      <vt:lpstr>Problems</vt:lpstr>
      <vt:lpstr>Keeping values in reasonable interval</vt:lpstr>
      <vt:lpstr>Initial Weight Initialization</vt:lpstr>
      <vt:lpstr>Batch Normalization</vt:lpstr>
      <vt:lpstr>Dropout</vt:lpstr>
      <vt:lpstr>Dropout.ipynb</vt:lpstr>
      <vt:lpstr>Preventing overfitting</vt:lpstr>
      <vt:lpstr>Optimizers / Training Algorithms</vt:lpstr>
      <vt:lpstr>Momentum</vt:lpstr>
      <vt:lpstr>Adam, Adagrad, etc.</vt:lpstr>
      <vt:lpstr>Gradient clipping</vt:lpstr>
      <vt:lpstr>Learning rate decay</vt:lpstr>
      <vt:lpstr>Different Network Architectures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Vision</dc:title>
  <dc:creator>백우진</dc:creator>
  <cp:lastModifiedBy>백우진</cp:lastModifiedBy>
  <cp:revision>47</cp:revision>
  <dcterms:created xsi:type="dcterms:W3CDTF">2024-04-09T10:12:03Z</dcterms:created>
  <dcterms:modified xsi:type="dcterms:W3CDTF">2024-05-06T13:34:25Z</dcterms:modified>
</cp:coreProperties>
</file>
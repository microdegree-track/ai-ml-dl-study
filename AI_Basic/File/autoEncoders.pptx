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1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85"/>
    <p:restoredTop sz="94694"/>
  </p:normalViewPr>
  <p:slideViewPr>
    <p:cSldViewPr snapToGrid="0">
      <p:cViewPr varScale="1">
        <p:scale>
          <a:sx n="121" d="100"/>
          <a:sy n="121" d="100"/>
        </p:scale>
        <p:origin x="10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7F5E60-D406-4301-8893-C4B2FD92648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948DC45-8AEE-47E0-A6EE-B0A3CE82AE7B}">
      <dgm:prSet/>
      <dgm:spPr/>
      <dgm:t>
        <a:bodyPr/>
        <a:lstStyle/>
        <a:p>
          <a:r>
            <a:rPr kumimoji="1" lang="en-US"/>
            <a:t>CNN</a:t>
          </a:r>
          <a:r>
            <a:rPr kumimoji="1" lang="ko-KR"/>
            <a:t>을 훈련할 때 발생하는 문제 중 하나는 많은 레이블이 지정된 데이터가 필요하다는 것</a:t>
          </a:r>
          <a:endParaRPr lang="en-US"/>
        </a:p>
      </dgm:t>
    </dgm:pt>
    <dgm:pt modelId="{6D977755-0E1C-4547-A6EC-858800891188}" type="parTrans" cxnId="{62C76697-9028-403B-8D41-17515DE40828}">
      <dgm:prSet/>
      <dgm:spPr/>
      <dgm:t>
        <a:bodyPr/>
        <a:lstStyle/>
        <a:p>
          <a:endParaRPr lang="en-US"/>
        </a:p>
      </dgm:t>
    </dgm:pt>
    <dgm:pt modelId="{D6389E52-BFA7-4CCE-9EA4-A6983FB4B2AB}" type="sibTrans" cxnId="{62C76697-9028-403B-8D41-17515DE40828}">
      <dgm:prSet/>
      <dgm:spPr/>
      <dgm:t>
        <a:bodyPr/>
        <a:lstStyle/>
        <a:p>
          <a:endParaRPr lang="en-US"/>
        </a:p>
      </dgm:t>
    </dgm:pt>
    <dgm:pt modelId="{ED89FFC1-B848-4B90-B5F2-CB30A4D0EF7F}">
      <dgm:prSet/>
      <dgm:spPr/>
      <dgm:t>
        <a:bodyPr/>
        <a:lstStyle/>
        <a:p>
          <a:r>
            <a:rPr kumimoji="1" lang="ko-KR"/>
            <a:t>이미지 분류의 경우 이미지를 여러 클래스로 분리해야 하는데</a:t>
          </a:r>
          <a:r>
            <a:rPr kumimoji="1" lang="en-US"/>
            <a:t>, </a:t>
          </a:r>
          <a:r>
            <a:rPr kumimoji="1" lang="ko-KR"/>
            <a:t>이 작업은 수작업으로 이루어짐</a:t>
          </a:r>
          <a:endParaRPr lang="en-US"/>
        </a:p>
      </dgm:t>
    </dgm:pt>
    <dgm:pt modelId="{1FFFAC80-B021-412D-A1F7-B26D90E19597}" type="parTrans" cxnId="{0624142C-01D2-41DE-B2FD-E0F87AD00407}">
      <dgm:prSet/>
      <dgm:spPr/>
      <dgm:t>
        <a:bodyPr/>
        <a:lstStyle/>
        <a:p>
          <a:endParaRPr lang="en-US"/>
        </a:p>
      </dgm:t>
    </dgm:pt>
    <dgm:pt modelId="{2F57D51C-3001-4EA0-A7DC-0113C7DDFE20}" type="sibTrans" cxnId="{0624142C-01D2-41DE-B2FD-E0F87AD00407}">
      <dgm:prSet/>
      <dgm:spPr/>
      <dgm:t>
        <a:bodyPr/>
        <a:lstStyle/>
        <a:p>
          <a:endParaRPr lang="en-US"/>
        </a:p>
      </dgm:t>
    </dgm:pt>
    <dgm:pt modelId="{E64C4158-A403-4CEF-8C6E-6BA1B7AF20B8}" type="pres">
      <dgm:prSet presAssocID="{687F5E60-D406-4301-8893-C4B2FD926484}" presName="root" presStyleCnt="0">
        <dgm:presLayoutVars>
          <dgm:dir/>
          <dgm:resizeHandles val="exact"/>
        </dgm:presLayoutVars>
      </dgm:prSet>
      <dgm:spPr/>
    </dgm:pt>
    <dgm:pt modelId="{68DA69DF-FC7F-4337-9D76-96A2FB86431A}" type="pres">
      <dgm:prSet presAssocID="{F948DC45-8AEE-47E0-A6EE-B0A3CE82AE7B}" presName="compNode" presStyleCnt="0"/>
      <dgm:spPr/>
    </dgm:pt>
    <dgm:pt modelId="{D52F8B7D-A900-48BE-9291-F1ABC4475E8E}" type="pres">
      <dgm:prSet presAssocID="{F948DC45-8AEE-47E0-A6EE-B0A3CE82AE7B}" presName="bgRect" presStyleLbl="bgShp" presStyleIdx="0" presStyleCnt="2"/>
      <dgm:spPr/>
    </dgm:pt>
    <dgm:pt modelId="{E41281F7-84E1-4961-AEC8-8C54807BD648}" type="pres">
      <dgm:prSet presAssocID="{F948DC45-8AEE-47E0-A6EE-B0A3CE82AE7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레이블"/>
        </a:ext>
      </dgm:extLst>
    </dgm:pt>
    <dgm:pt modelId="{46A31393-A145-4B51-BFAA-53AF539F639B}" type="pres">
      <dgm:prSet presAssocID="{F948DC45-8AEE-47E0-A6EE-B0A3CE82AE7B}" presName="spaceRect" presStyleCnt="0"/>
      <dgm:spPr/>
    </dgm:pt>
    <dgm:pt modelId="{DB72B737-280B-4E83-AC05-AB5DD87B55D3}" type="pres">
      <dgm:prSet presAssocID="{F948DC45-8AEE-47E0-A6EE-B0A3CE82AE7B}" presName="parTx" presStyleLbl="revTx" presStyleIdx="0" presStyleCnt="2">
        <dgm:presLayoutVars>
          <dgm:chMax val="0"/>
          <dgm:chPref val="0"/>
        </dgm:presLayoutVars>
      </dgm:prSet>
      <dgm:spPr/>
    </dgm:pt>
    <dgm:pt modelId="{F3503CEF-4AC5-4721-A9D1-3AA1F4685114}" type="pres">
      <dgm:prSet presAssocID="{D6389E52-BFA7-4CCE-9EA4-A6983FB4B2AB}" presName="sibTrans" presStyleCnt="0"/>
      <dgm:spPr/>
    </dgm:pt>
    <dgm:pt modelId="{E0419426-BD1F-4F0E-A75F-1E1F533FF7BE}" type="pres">
      <dgm:prSet presAssocID="{ED89FFC1-B848-4B90-B5F2-CB30A4D0EF7F}" presName="compNode" presStyleCnt="0"/>
      <dgm:spPr/>
    </dgm:pt>
    <dgm:pt modelId="{EF3CC6D2-E119-419F-8A1B-7E95CCB34591}" type="pres">
      <dgm:prSet presAssocID="{ED89FFC1-B848-4B90-B5F2-CB30A4D0EF7F}" presName="bgRect" presStyleLbl="bgShp" presStyleIdx="1" presStyleCnt="2"/>
      <dgm:spPr/>
    </dgm:pt>
    <dgm:pt modelId="{15104078-55D6-4660-BE35-AFD587D218D7}" type="pres">
      <dgm:prSet presAssocID="{ED89FFC1-B848-4B90-B5F2-CB30A4D0EF7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이미지"/>
        </a:ext>
      </dgm:extLst>
    </dgm:pt>
    <dgm:pt modelId="{E5FC0DDD-A477-4E34-BE88-17BF710D1222}" type="pres">
      <dgm:prSet presAssocID="{ED89FFC1-B848-4B90-B5F2-CB30A4D0EF7F}" presName="spaceRect" presStyleCnt="0"/>
      <dgm:spPr/>
    </dgm:pt>
    <dgm:pt modelId="{E62C5FEE-899E-444E-B354-95E58DBD54F2}" type="pres">
      <dgm:prSet presAssocID="{ED89FFC1-B848-4B90-B5F2-CB30A4D0EF7F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0624142C-01D2-41DE-B2FD-E0F87AD00407}" srcId="{687F5E60-D406-4301-8893-C4B2FD926484}" destId="{ED89FFC1-B848-4B90-B5F2-CB30A4D0EF7F}" srcOrd="1" destOrd="0" parTransId="{1FFFAC80-B021-412D-A1F7-B26D90E19597}" sibTransId="{2F57D51C-3001-4EA0-A7DC-0113C7DDFE20}"/>
    <dgm:cxn modelId="{DC1D6147-AEBB-4653-8DD6-55262CC62477}" type="presOf" srcId="{F948DC45-8AEE-47E0-A6EE-B0A3CE82AE7B}" destId="{DB72B737-280B-4E83-AC05-AB5DD87B55D3}" srcOrd="0" destOrd="0" presId="urn:microsoft.com/office/officeart/2018/2/layout/IconVerticalSolidList"/>
    <dgm:cxn modelId="{6296DF57-1BEB-42FA-B7EF-65E2CED30649}" type="presOf" srcId="{687F5E60-D406-4301-8893-C4B2FD926484}" destId="{E64C4158-A403-4CEF-8C6E-6BA1B7AF20B8}" srcOrd="0" destOrd="0" presId="urn:microsoft.com/office/officeart/2018/2/layout/IconVerticalSolidList"/>
    <dgm:cxn modelId="{62C76697-9028-403B-8D41-17515DE40828}" srcId="{687F5E60-D406-4301-8893-C4B2FD926484}" destId="{F948DC45-8AEE-47E0-A6EE-B0A3CE82AE7B}" srcOrd="0" destOrd="0" parTransId="{6D977755-0E1C-4547-A6EC-858800891188}" sibTransId="{D6389E52-BFA7-4CCE-9EA4-A6983FB4B2AB}"/>
    <dgm:cxn modelId="{0E0917FA-C2DE-4AE8-A949-25935184E5D1}" type="presOf" srcId="{ED89FFC1-B848-4B90-B5F2-CB30A4D0EF7F}" destId="{E62C5FEE-899E-444E-B354-95E58DBD54F2}" srcOrd="0" destOrd="0" presId="urn:microsoft.com/office/officeart/2018/2/layout/IconVerticalSolidList"/>
    <dgm:cxn modelId="{1D130D07-C518-4BDE-BC6E-FFE414E12410}" type="presParOf" srcId="{E64C4158-A403-4CEF-8C6E-6BA1B7AF20B8}" destId="{68DA69DF-FC7F-4337-9D76-96A2FB86431A}" srcOrd="0" destOrd="0" presId="urn:microsoft.com/office/officeart/2018/2/layout/IconVerticalSolidList"/>
    <dgm:cxn modelId="{295A0484-D52E-4B80-8A24-C7A299BE4F24}" type="presParOf" srcId="{68DA69DF-FC7F-4337-9D76-96A2FB86431A}" destId="{D52F8B7D-A900-48BE-9291-F1ABC4475E8E}" srcOrd="0" destOrd="0" presId="urn:microsoft.com/office/officeart/2018/2/layout/IconVerticalSolidList"/>
    <dgm:cxn modelId="{A8D2D410-8EF4-4A3D-B2FA-64B6DE600019}" type="presParOf" srcId="{68DA69DF-FC7F-4337-9D76-96A2FB86431A}" destId="{E41281F7-84E1-4961-AEC8-8C54807BD648}" srcOrd="1" destOrd="0" presId="urn:microsoft.com/office/officeart/2018/2/layout/IconVerticalSolidList"/>
    <dgm:cxn modelId="{E76713CD-20C6-4AE3-9BEB-96F40B0C3194}" type="presParOf" srcId="{68DA69DF-FC7F-4337-9D76-96A2FB86431A}" destId="{46A31393-A145-4B51-BFAA-53AF539F639B}" srcOrd="2" destOrd="0" presId="urn:microsoft.com/office/officeart/2018/2/layout/IconVerticalSolidList"/>
    <dgm:cxn modelId="{EB630362-C65F-432F-BEF8-0588B64BBADE}" type="presParOf" srcId="{68DA69DF-FC7F-4337-9D76-96A2FB86431A}" destId="{DB72B737-280B-4E83-AC05-AB5DD87B55D3}" srcOrd="3" destOrd="0" presId="urn:microsoft.com/office/officeart/2018/2/layout/IconVerticalSolidList"/>
    <dgm:cxn modelId="{7DC569A3-B75B-4966-A506-A89D096B4583}" type="presParOf" srcId="{E64C4158-A403-4CEF-8C6E-6BA1B7AF20B8}" destId="{F3503CEF-4AC5-4721-A9D1-3AA1F4685114}" srcOrd="1" destOrd="0" presId="urn:microsoft.com/office/officeart/2018/2/layout/IconVerticalSolidList"/>
    <dgm:cxn modelId="{DD4AE770-93FA-4CC4-B6EA-D26667508F69}" type="presParOf" srcId="{E64C4158-A403-4CEF-8C6E-6BA1B7AF20B8}" destId="{E0419426-BD1F-4F0E-A75F-1E1F533FF7BE}" srcOrd="2" destOrd="0" presId="urn:microsoft.com/office/officeart/2018/2/layout/IconVerticalSolidList"/>
    <dgm:cxn modelId="{272C261B-669B-4254-A388-679EF1B73B86}" type="presParOf" srcId="{E0419426-BD1F-4F0E-A75F-1E1F533FF7BE}" destId="{EF3CC6D2-E119-419F-8A1B-7E95CCB34591}" srcOrd="0" destOrd="0" presId="urn:microsoft.com/office/officeart/2018/2/layout/IconVerticalSolidList"/>
    <dgm:cxn modelId="{22557430-DA81-4442-B4D7-388F4E26B7FE}" type="presParOf" srcId="{E0419426-BD1F-4F0E-A75F-1E1F533FF7BE}" destId="{15104078-55D6-4660-BE35-AFD587D218D7}" srcOrd="1" destOrd="0" presId="urn:microsoft.com/office/officeart/2018/2/layout/IconVerticalSolidList"/>
    <dgm:cxn modelId="{14DBD9F4-A691-4BA3-8BA6-D960B9340574}" type="presParOf" srcId="{E0419426-BD1F-4F0E-A75F-1E1F533FF7BE}" destId="{E5FC0DDD-A477-4E34-BE88-17BF710D1222}" srcOrd="2" destOrd="0" presId="urn:microsoft.com/office/officeart/2018/2/layout/IconVerticalSolidList"/>
    <dgm:cxn modelId="{43EA3B8C-7CEC-4204-B115-7C9985603011}" type="presParOf" srcId="{E0419426-BD1F-4F0E-A75F-1E1F533FF7BE}" destId="{E62C5FEE-899E-444E-B354-95E58DBD54F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79D7CAB-7EA2-4408-9D82-EBA28C2B9605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4E094CA-B317-4768-AE65-C1420E667127}">
      <dgm:prSet/>
      <dgm:spPr/>
      <dgm:t>
        <a:bodyPr/>
        <a:lstStyle/>
        <a:p>
          <a:r>
            <a:rPr kumimoji="1" lang="ko-KR"/>
            <a:t>시각화 또는 이미지 임베딩 학습을 위해 이미지의 차원을 낮춤</a:t>
          </a:r>
          <a:r>
            <a:rPr kumimoji="1" lang="en-US"/>
            <a:t>:</a:t>
          </a:r>
          <a:r>
            <a:rPr kumimoji="1" lang="ko-KR"/>
            <a:t> 일반적으로 자동 인코더는 이미지의 공간적 특성과 계층적 특징을 고려하기 때문에 </a:t>
          </a:r>
          <a:r>
            <a:rPr kumimoji="1" lang="en-US"/>
            <a:t>PCA</a:t>
          </a:r>
          <a:r>
            <a:rPr kumimoji="1" lang="ko-KR"/>
            <a:t>보다 더 나은 결과를 제공</a:t>
          </a:r>
          <a:endParaRPr lang="en-US"/>
        </a:p>
      </dgm:t>
    </dgm:pt>
    <dgm:pt modelId="{5806C227-9892-4667-99C1-B0EBB15A6EDE}" type="parTrans" cxnId="{2EAB2A86-B2C2-45BA-ACD9-F02DF8728CC9}">
      <dgm:prSet/>
      <dgm:spPr/>
      <dgm:t>
        <a:bodyPr/>
        <a:lstStyle/>
        <a:p>
          <a:endParaRPr lang="en-US"/>
        </a:p>
      </dgm:t>
    </dgm:pt>
    <dgm:pt modelId="{E9AA7F0F-C8FC-47AA-B6D1-70DE4477E23D}" type="sibTrans" cxnId="{2EAB2A86-B2C2-45BA-ACD9-F02DF8728CC9}">
      <dgm:prSet/>
      <dgm:spPr/>
      <dgm:t>
        <a:bodyPr/>
        <a:lstStyle/>
        <a:p>
          <a:endParaRPr lang="en-US"/>
        </a:p>
      </dgm:t>
    </dgm:pt>
    <dgm:pt modelId="{9513201C-EA07-4FB8-AAC2-BAC3662ABEE8}">
      <dgm:prSet/>
      <dgm:spPr/>
      <dgm:t>
        <a:bodyPr/>
        <a:lstStyle/>
        <a:p>
          <a:r>
            <a:rPr kumimoji="1" lang="ko-KR"/>
            <a:t>이미지에서 노이즈 제거</a:t>
          </a:r>
          <a:r>
            <a:rPr kumimoji="1" lang="en-US"/>
            <a:t>:</a:t>
          </a:r>
          <a:r>
            <a:rPr kumimoji="1" lang="ko-KR"/>
            <a:t> 노이즈는 쓸모없는 정보를 많이 포함하고 있기 때문에 자동 인코더는 상대적으로 작은 잠재 공간에 모든 정보를 담을 수 없으므로 이미지의 중요한 부분만 캡처하는데</a:t>
          </a:r>
          <a:r>
            <a:rPr kumimoji="1" lang="en-US"/>
            <a:t> </a:t>
          </a:r>
          <a:r>
            <a:rPr kumimoji="1" lang="ko-KR"/>
            <a:t>디노이저를 훈련할 때는 원본 이미지로 시작하여 인위적으로 노이즈가 추가된 이미지를 자동 인코더의 입력으로 사용</a:t>
          </a:r>
          <a:endParaRPr lang="en-US"/>
        </a:p>
      </dgm:t>
    </dgm:pt>
    <dgm:pt modelId="{040C9D69-050D-4635-A745-0652BB53572B}" type="parTrans" cxnId="{B9A1826F-19AF-4551-9E77-B1221DABCD71}">
      <dgm:prSet/>
      <dgm:spPr/>
      <dgm:t>
        <a:bodyPr/>
        <a:lstStyle/>
        <a:p>
          <a:endParaRPr lang="en-US"/>
        </a:p>
      </dgm:t>
    </dgm:pt>
    <dgm:pt modelId="{7100DBDA-D637-4670-AB35-FD8A6A745125}" type="sibTrans" cxnId="{B9A1826F-19AF-4551-9E77-B1221DABCD71}">
      <dgm:prSet/>
      <dgm:spPr/>
      <dgm:t>
        <a:bodyPr/>
        <a:lstStyle/>
        <a:p>
          <a:endParaRPr lang="en-US"/>
        </a:p>
      </dgm:t>
    </dgm:pt>
    <dgm:pt modelId="{1B730169-0444-4E93-B448-374A9976D032}">
      <dgm:prSet/>
      <dgm:spPr/>
      <dgm:t>
        <a:bodyPr/>
        <a:lstStyle/>
        <a:p>
          <a:r>
            <a:rPr kumimoji="1" lang="ko-KR"/>
            <a:t>이미지 해상도를 높이는 초고해상도</a:t>
          </a:r>
          <a:r>
            <a:rPr kumimoji="1" lang="en-US"/>
            <a:t>:</a:t>
          </a:r>
          <a:r>
            <a:rPr kumimoji="1" lang="ko-KR"/>
            <a:t> 고해상도 이미지로 시작하여 해상도가 낮은 이미지를 자동 인코더 입력으로 사용</a:t>
          </a:r>
          <a:endParaRPr lang="en-US"/>
        </a:p>
      </dgm:t>
    </dgm:pt>
    <dgm:pt modelId="{69E1A4B7-E94B-46FE-9E73-239203C24B6D}" type="parTrans" cxnId="{EEE7D038-8AF5-44DB-9199-4196FE5A3AEA}">
      <dgm:prSet/>
      <dgm:spPr/>
      <dgm:t>
        <a:bodyPr/>
        <a:lstStyle/>
        <a:p>
          <a:endParaRPr lang="en-US"/>
        </a:p>
      </dgm:t>
    </dgm:pt>
    <dgm:pt modelId="{9E0642FF-6382-4A06-815E-B9AB2743D425}" type="sibTrans" cxnId="{EEE7D038-8AF5-44DB-9199-4196FE5A3AEA}">
      <dgm:prSet/>
      <dgm:spPr/>
      <dgm:t>
        <a:bodyPr/>
        <a:lstStyle/>
        <a:p>
          <a:endParaRPr lang="en-US"/>
        </a:p>
      </dgm:t>
    </dgm:pt>
    <dgm:pt modelId="{4B51DEC6-3527-4869-9215-3DAB69F28B52}">
      <dgm:prSet/>
      <dgm:spPr/>
      <dgm:t>
        <a:bodyPr/>
        <a:lstStyle/>
        <a:p>
          <a:r>
            <a:rPr kumimoji="1" lang="ko-KR" dirty="0"/>
            <a:t>생성 모델</a:t>
          </a:r>
          <a:r>
            <a:rPr kumimoji="1" lang="en-US" dirty="0"/>
            <a:t>:</a:t>
          </a:r>
          <a:r>
            <a:rPr kumimoji="1" lang="ko-KR" dirty="0"/>
            <a:t> 자동 인코더를 학습시킨 후 </a:t>
          </a:r>
          <a:r>
            <a:rPr kumimoji="1" lang="ko-KR" dirty="0" err="1"/>
            <a:t>디코더</a:t>
          </a:r>
          <a:r>
            <a:rPr kumimoji="1" lang="ko-KR" dirty="0"/>
            <a:t> 부분을 사용하여 임의의 </a:t>
          </a:r>
          <a:r>
            <a:rPr kumimoji="1" lang="ko-KR" altLang="en-US" dirty="0"/>
            <a:t>잠재 </a:t>
          </a:r>
          <a:r>
            <a:rPr kumimoji="1" lang="en-US" altLang="ko-KR" dirty="0"/>
            <a:t>(latent) </a:t>
          </a:r>
          <a:r>
            <a:rPr kumimoji="1" lang="ko-KR" dirty="0"/>
            <a:t>벡터에서 시작하여 새로운 개체를 생성</a:t>
          </a:r>
          <a:endParaRPr lang="en-US" dirty="0"/>
        </a:p>
      </dgm:t>
    </dgm:pt>
    <dgm:pt modelId="{1C4F3416-5FBB-4D42-88E5-BC9C4D8E229C}" type="parTrans" cxnId="{07CD2ABB-741A-4289-84AE-6BBAAB5AD4EA}">
      <dgm:prSet/>
      <dgm:spPr/>
      <dgm:t>
        <a:bodyPr/>
        <a:lstStyle/>
        <a:p>
          <a:endParaRPr lang="en-US"/>
        </a:p>
      </dgm:t>
    </dgm:pt>
    <dgm:pt modelId="{14126973-B353-4D04-A244-FC4C47E152CB}" type="sibTrans" cxnId="{07CD2ABB-741A-4289-84AE-6BBAAB5AD4EA}">
      <dgm:prSet/>
      <dgm:spPr/>
      <dgm:t>
        <a:bodyPr/>
        <a:lstStyle/>
        <a:p>
          <a:endParaRPr lang="en-US"/>
        </a:p>
      </dgm:t>
    </dgm:pt>
    <dgm:pt modelId="{6A3608DC-8842-594E-86C3-8B4C8958BEF2}" type="pres">
      <dgm:prSet presAssocID="{079D7CAB-7EA2-4408-9D82-EBA28C2B9605}" presName="linear" presStyleCnt="0">
        <dgm:presLayoutVars>
          <dgm:animLvl val="lvl"/>
          <dgm:resizeHandles val="exact"/>
        </dgm:presLayoutVars>
      </dgm:prSet>
      <dgm:spPr/>
    </dgm:pt>
    <dgm:pt modelId="{EED8F13A-3F1B-1046-A58B-6264F44DF1B6}" type="pres">
      <dgm:prSet presAssocID="{A4E094CA-B317-4768-AE65-C1420E66712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2E8AA48-B552-C64C-8E42-B42FB1A73D21}" type="pres">
      <dgm:prSet presAssocID="{E9AA7F0F-C8FC-47AA-B6D1-70DE4477E23D}" presName="spacer" presStyleCnt="0"/>
      <dgm:spPr/>
    </dgm:pt>
    <dgm:pt modelId="{78E72685-12C0-D44C-B3E9-CF2B6CC2A945}" type="pres">
      <dgm:prSet presAssocID="{9513201C-EA07-4FB8-AAC2-BAC3662ABEE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D682FF5-9C56-7447-A1B8-E9E0F9C81ABC}" type="pres">
      <dgm:prSet presAssocID="{7100DBDA-D637-4670-AB35-FD8A6A745125}" presName="spacer" presStyleCnt="0"/>
      <dgm:spPr/>
    </dgm:pt>
    <dgm:pt modelId="{E9AAE324-8D7C-9348-826A-2118301724C2}" type="pres">
      <dgm:prSet presAssocID="{1B730169-0444-4E93-B448-374A9976D03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7B8D6D7-359F-A044-B7DA-21845534BFE7}" type="pres">
      <dgm:prSet presAssocID="{9E0642FF-6382-4A06-815E-B9AB2743D425}" presName="spacer" presStyleCnt="0"/>
      <dgm:spPr/>
    </dgm:pt>
    <dgm:pt modelId="{DBCBD93A-9956-DD4A-BDB7-52077BFB586F}" type="pres">
      <dgm:prSet presAssocID="{4B51DEC6-3527-4869-9215-3DAB69F28B5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F832E06-F8A9-1343-9627-51FCF4EA9ABB}" type="presOf" srcId="{1B730169-0444-4E93-B448-374A9976D032}" destId="{E9AAE324-8D7C-9348-826A-2118301724C2}" srcOrd="0" destOrd="0" presId="urn:microsoft.com/office/officeart/2005/8/layout/vList2"/>
    <dgm:cxn modelId="{4232340B-1BDE-CC48-88F7-6AE6F7A5F4D4}" type="presOf" srcId="{A4E094CA-B317-4768-AE65-C1420E667127}" destId="{EED8F13A-3F1B-1046-A58B-6264F44DF1B6}" srcOrd="0" destOrd="0" presId="urn:microsoft.com/office/officeart/2005/8/layout/vList2"/>
    <dgm:cxn modelId="{A8958229-8E5E-A94A-BA16-02CF9F085ADF}" type="presOf" srcId="{4B51DEC6-3527-4869-9215-3DAB69F28B52}" destId="{DBCBD93A-9956-DD4A-BDB7-52077BFB586F}" srcOrd="0" destOrd="0" presId="urn:microsoft.com/office/officeart/2005/8/layout/vList2"/>
    <dgm:cxn modelId="{EEE7D038-8AF5-44DB-9199-4196FE5A3AEA}" srcId="{079D7CAB-7EA2-4408-9D82-EBA28C2B9605}" destId="{1B730169-0444-4E93-B448-374A9976D032}" srcOrd="2" destOrd="0" parTransId="{69E1A4B7-E94B-46FE-9E73-239203C24B6D}" sibTransId="{9E0642FF-6382-4A06-815E-B9AB2743D425}"/>
    <dgm:cxn modelId="{B9A1826F-19AF-4551-9E77-B1221DABCD71}" srcId="{079D7CAB-7EA2-4408-9D82-EBA28C2B9605}" destId="{9513201C-EA07-4FB8-AAC2-BAC3662ABEE8}" srcOrd="1" destOrd="0" parTransId="{040C9D69-050D-4635-A745-0652BB53572B}" sibTransId="{7100DBDA-D637-4670-AB35-FD8A6A745125}"/>
    <dgm:cxn modelId="{2EAB2A86-B2C2-45BA-ACD9-F02DF8728CC9}" srcId="{079D7CAB-7EA2-4408-9D82-EBA28C2B9605}" destId="{A4E094CA-B317-4768-AE65-C1420E667127}" srcOrd="0" destOrd="0" parTransId="{5806C227-9892-4667-99C1-B0EBB15A6EDE}" sibTransId="{E9AA7F0F-C8FC-47AA-B6D1-70DE4477E23D}"/>
    <dgm:cxn modelId="{07CD2ABB-741A-4289-84AE-6BBAAB5AD4EA}" srcId="{079D7CAB-7EA2-4408-9D82-EBA28C2B9605}" destId="{4B51DEC6-3527-4869-9215-3DAB69F28B52}" srcOrd="3" destOrd="0" parTransId="{1C4F3416-5FBB-4D42-88E5-BC9C4D8E229C}" sibTransId="{14126973-B353-4D04-A244-FC4C47E152CB}"/>
    <dgm:cxn modelId="{E74DDBC0-307E-1F44-9290-A70A67864C04}" type="presOf" srcId="{079D7CAB-7EA2-4408-9D82-EBA28C2B9605}" destId="{6A3608DC-8842-594E-86C3-8B4C8958BEF2}" srcOrd="0" destOrd="0" presId="urn:microsoft.com/office/officeart/2005/8/layout/vList2"/>
    <dgm:cxn modelId="{96A9A8E0-A564-B94F-9B70-5927C4D5E5C9}" type="presOf" srcId="{9513201C-EA07-4FB8-AAC2-BAC3662ABEE8}" destId="{78E72685-12C0-D44C-B3E9-CF2B6CC2A945}" srcOrd="0" destOrd="0" presId="urn:microsoft.com/office/officeart/2005/8/layout/vList2"/>
    <dgm:cxn modelId="{24CE7C2C-3746-214F-B0C7-2A294DDF4C62}" type="presParOf" srcId="{6A3608DC-8842-594E-86C3-8B4C8958BEF2}" destId="{EED8F13A-3F1B-1046-A58B-6264F44DF1B6}" srcOrd="0" destOrd="0" presId="urn:microsoft.com/office/officeart/2005/8/layout/vList2"/>
    <dgm:cxn modelId="{54B17524-CE9C-2F43-8408-772212E3F0DA}" type="presParOf" srcId="{6A3608DC-8842-594E-86C3-8B4C8958BEF2}" destId="{E2E8AA48-B552-C64C-8E42-B42FB1A73D21}" srcOrd="1" destOrd="0" presId="urn:microsoft.com/office/officeart/2005/8/layout/vList2"/>
    <dgm:cxn modelId="{2311619F-BB2B-2E44-AE3F-53D65B8B62D7}" type="presParOf" srcId="{6A3608DC-8842-594E-86C3-8B4C8958BEF2}" destId="{78E72685-12C0-D44C-B3E9-CF2B6CC2A945}" srcOrd="2" destOrd="0" presId="urn:microsoft.com/office/officeart/2005/8/layout/vList2"/>
    <dgm:cxn modelId="{27ABD6BC-EA65-B143-BEB6-F2D44EF4732F}" type="presParOf" srcId="{6A3608DC-8842-594E-86C3-8B4C8958BEF2}" destId="{9D682FF5-9C56-7447-A1B8-E9E0F9C81ABC}" srcOrd="3" destOrd="0" presId="urn:microsoft.com/office/officeart/2005/8/layout/vList2"/>
    <dgm:cxn modelId="{6A84FAF4-63A0-FE44-9ABB-AA78E08A7662}" type="presParOf" srcId="{6A3608DC-8842-594E-86C3-8B4C8958BEF2}" destId="{E9AAE324-8D7C-9348-826A-2118301724C2}" srcOrd="4" destOrd="0" presId="urn:microsoft.com/office/officeart/2005/8/layout/vList2"/>
    <dgm:cxn modelId="{BA6E8E35-3EE3-D04D-9380-FEBE1CBFEC21}" type="presParOf" srcId="{6A3608DC-8842-594E-86C3-8B4C8958BEF2}" destId="{A7B8D6D7-359F-A044-B7DA-21845534BFE7}" srcOrd="5" destOrd="0" presId="urn:microsoft.com/office/officeart/2005/8/layout/vList2"/>
    <dgm:cxn modelId="{137BFF41-163C-3F49-A1A7-1CCC71F4FB76}" type="presParOf" srcId="{6A3608DC-8842-594E-86C3-8B4C8958BEF2}" destId="{DBCBD93A-9956-DD4A-BDB7-52077BFB586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F5A743B-9D46-4E66-AF9B-6B0ECC955D99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7B16105-B48E-4790-B8D5-21FA80FCCD83}">
      <dgm:prSet/>
      <dgm:spPr/>
      <dgm:t>
        <a:bodyPr/>
        <a:lstStyle/>
        <a:p>
          <a:r>
            <a:rPr kumimoji="1" lang="ko-KR"/>
            <a:t>기존의 자동 인코더는 입력 이미지의 중요한 특징을 파악하여 입력 데이터의 크기를 줄임</a:t>
          </a:r>
          <a:endParaRPr lang="en-US"/>
        </a:p>
      </dgm:t>
    </dgm:pt>
    <dgm:pt modelId="{2D63A4D1-B857-4E80-8597-7249B657C846}" type="parTrans" cxnId="{7DA18F85-6B13-4A80-B49D-7C59B9DC8B3C}">
      <dgm:prSet/>
      <dgm:spPr/>
      <dgm:t>
        <a:bodyPr/>
        <a:lstStyle/>
        <a:p>
          <a:endParaRPr lang="en-US"/>
        </a:p>
      </dgm:t>
    </dgm:pt>
    <dgm:pt modelId="{69FB9477-CD18-4B3E-8963-3208B73ECC66}" type="sibTrans" cxnId="{7DA18F85-6B13-4A80-B49D-7C59B9DC8B3C}">
      <dgm:prSet/>
      <dgm:spPr/>
      <dgm:t>
        <a:bodyPr/>
        <a:lstStyle/>
        <a:p>
          <a:endParaRPr lang="en-US"/>
        </a:p>
      </dgm:t>
    </dgm:pt>
    <dgm:pt modelId="{43E69370-6397-49F8-8B2F-CBCBFE41BE0E}">
      <dgm:prSet/>
      <dgm:spPr/>
      <dgm:t>
        <a:bodyPr/>
        <a:lstStyle/>
        <a:p>
          <a:r>
            <a:rPr kumimoji="1" lang="ko-KR"/>
            <a:t>그러나 잠재 </a:t>
          </a:r>
          <a:r>
            <a:rPr kumimoji="1" lang="en-US"/>
            <a:t>(latent) </a:t>
          </a:r>
          <a:r>
            <a:rPr kumimoji="1" lang="ko-KR"/>
            <a:t>벡터는 종종 의미가 없는 경우가 많음</a:t>
          </a:r>
          <a:endParaRPr lang="en-US"/>
        </a:p>
      </dgm:t>
    </dgm:pt>
    <dgm:pt modelId="{4E2BF990-D81D-4C86-8EDA-E0BF96BDC715}" type="parTrans" cxnId="{AA0E1AB1-3C12-4AD5-A7A9-41D6B2D59009}">
      <dgm:prSet/>
      <dgm:spPr/>
      <dgm:t>
        <a:bodyPr/>
        <a:lstStyle/>
        <a:p>
          <a:endParaRPr lang="en-US"/>
        </a:p>
      </dgm:t>
    </dgm:pt>
    <dgm:pt modelId="{6D858EE4-243D-47E3-96EA-B963DB4AE1BA}" type="sibTrans" cxnId="{AA0E1AB1-3C12-4AD5-A7A9-41D6B2D59009}">
      <dgm:prSet/>
      <dgm:spPr/>
      <dgm:t>
        <a:bodyPr/>
        <a:lstStyle/>
        <a:p>
          <a:endParaRPr lang="en-US"/>
        </a:p>
      </dgm:t>
    </dgm:pt>
    <dgm:pt modelId="{79F71780-A076-4DBB-AB9E-AC63EEA4CA00}">
      <dgm:prSet/>
      <dgm:spPr/>
      <dgm:t>
        <a:bodyPr/>
        <a:lstStyle/>
        <a:p>
          <a:r>
            <a:rPr kumimoji="1" lang="ko-KR"/>
            <a:t>즉</a:t>
          </a:r>
          <a:r>
            <a:rPr kumimoji="1" lang="en-US"/>
            <a:t>, </a:t>
          </a:r>
          <a:r>
            <a:rPr kumimoji="1" lang="ko-KR"/>
            <a:t>가까운 잠재 </a:t>
          </a:r>
          <a:r>
            <a:rPr kumimoji="1" lang="en-US"/>
            <a:t>(latent) </a:t>
          </a:r>
          <a:r>
            <a:rPr kumimoji="1" lang="ko-KR"/>
            <a:t>벡터가 반드시 같은 숫자에 해당하는 것은 아니기 때문에 </a:t>
          </a:r>
          <a:r>
            <a:rPr kumimoji="1" lang="en-US"/>
            <a:t>MNIST </a:t>
          </a:r>
          <a:r>
            <a:rPr kumimoji="1" lang="ko-KR"/>
            <a:t>데이터 세트를 예로 들어 어떤 숫자가 다른 잠재 </a:t>
          </a:r>
          <a:r>
            <a:rPr kumimoji="1" lang="en-US"/>
            <a:t>(latent) </a:t>
          </a:r>
          <a:r>
            <a:rPr kumimoji="1" lang="ko-KR"/>
            <a:t>벡터에 해당하는지 파악하는 것은 쉬운 일이 아님</a:t>
          </a:r>
          <a:endParaRPr lang="en-US"/>
        </a:p>
      </dgm:t>
    </dgm:pt>
    <dgm:pt modelId="{72675C08-8544-4711-A372-EC38B4C3ADCE}" type="parTrans" cxnId="{24CD02DD-58C0-4C12-9EB6-6EA2311F9A9D}">
      <dgm:prSet/>
      <dgm:spPr/>
      <dgm:t>
        <a:bodyPr/>
        <a:lstStyle/>
        <a:p>
          <a:endParaRPr lang="en-US"/>
        </a:p>
      </dgm:t>
    </dgm:pt>
    <dgm:pt modelId="{DCDF50C9-A9B3-4AFC-BB81-AAE889167199}" type="sibTrans" cxnId="{24CD02DD-58C0-4C12-9EB6-6EA2311F9A9D}">
      <dgm:prSet/>
      <dgm:spPr/>
      <dgm:t>
        <a:bodyPr/>
        <a:lstStyle/>
        <a:p>
          <a:endParaRPr lang="en-US"/>
        </a:p>
      </dgm:t>
    </dgm:pt>
    <dgm:pt modelId="{54DF558D-1CEA-4A04-ACFE-61FFC9ABD33D}">
      <dgm:prSet/>
      <dgm:spPr/>
      <dgm:t>
        <a:bodyPr/>
        <a:lstStyle/>
        <a:p>
          <a:r>
            <a:rPr kumimoji="1" lang="ko-KR"/>
            <a:t>반면에 생성 모델을 훈련하려면 잠재 공간에 대해 어느 정도 이해하는 것이 좋은데 이 아이디어는 변형 자동 인코더</a:t>
          </a:r>
          <a:r>
            <a:rPr kumimoji="1" lang="en-US"/>
            <a:t>(VAE)</a:t>
          </a:r>
          <a:r>
            <a:rPr kumimoji="1" lang="ko-KR"/>
            <a:t>로 이어짐</a:t>
          </a:r>
          <a:endParaRPr lang="en-US"/>
        </a:p>
      </dgm:t>
    </dgm:pt>
    <dgm:pt modelId="{A4E19B56-9712-4598-8DB9-F19F37E0D3E1}" type="parTrans" cxnId="{351F571E-E38A-458C-9257-0DF49D358199}">
      <dgm:prSet/>
      <dgm:spPr/>
      <dgm:t>
        <a:bodyPr/>
        <a:lstStyle/>
        <a:p>
          <a:endParaRPr lang="en-US"/>
        </a:p>
      </dgm:t>
    </dgm:pt>
    <dgm:pt modelId="{7E787D45-8CC6-4D7A-A086-96A345A76225}" type="sibTrans" cxnId="{351F571E-E38A-458C-9257-0DF49D358199}">
      <dgm:prSet/>
      <dgm:spPr/>
      <dgm:t>
        <a:bodyPr/>
        <a:lstStyle/>
        <a:p>
          <a:endParaRPr lang="en-US"/>
        </a:p>
      </dgm:t>
    </dgm:pt>
    <dgm:pt modelId="{F8BF7B57-29A3-7E4D-95BC-D2C8403778D6}" type="pres">
      <dgm:prSet presAssocID="{7F5A743B-9D46-4E66-AF9B-6B0ECC955D99}" presName="Name0" presStyleCnt="0">
        <dgm:presLayoutVars>
          <dgm:dir/>
          <dgm:animLvl val="lvl"/>
          <dgm:resizeHandles val="exact"/>
        </dgm:presLayoutVars>
      </dgm:prSet>
      <dgm:spPr/>
    </dgm:pt>
    <dgm:pt modelId="{EFADF323-6DD5-CD4A-A185-61A973B6F068}" type="pres">
      <dgm:prSet presAssocID="{D7B16105-B48E-4790-B8D5-21FA80FCCD83}" presName="linNode" presStyleCnt="0"/>
      <dgm:spPr/>
    </dgm:pt>
    <dgm:pt modelId="{B3DC9387-919C-1848-9394-30BC472B1701}" type="pres">
      <dgm:prSet presAssocID="{D7B16105-B48E-4790-B8D5-21FA80FCCD83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E0AE8CA6-7AF6-E14F-847D-AD0242E10256}" type="pres">
      <dgm:prSet presAssocID="{69FB9477-CD18-4B3E-8963-3208B73ECC66}" presName="sp" presStyleCnt="0"/>
      <dgm:spPr/>
    </dgm:pt>
    <dgm:pt modelId="{F12459CB-5FE0-F64E-999C-476F1B1C3801}" type="pres">
      <dgm:prSet presAssocID="{43E69370-6397-49F8-8B2F-CBCBFE41BE0E}" presName="linNode" presStyleCnt="0"/>
      <dgm:spPr/>
    </dgm:pt>
    <dgm:pt modelId="{3BCA6F3B-945A-F741-B7BB-9071C61358C7}" type="pres">
      <dgm:prSet presAssocID="{43E69370-6397-49F8-8B2F-CBCBFE41BE0E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02ADDD76-3D5B-514D-8186-91EE35FF14F0}" type="pres">
      <dgm:prSet presAssocID="{43E69370-6397-49F8-8B2F-CBCBFE41BE0E}" presName="descendantText" presStyleLbl="alignAccFollowNode1" presStyleIdx="0" presStyleCnt="1">
        <dgm:presLayoutVars>
          <dgm:bulletEnabled val="1"/>
        </dgm:presLayoutVars>
      </dgm:prSet>
      <dgm:spPr/>
    </dgm:pt>
    <dgm:pt modelId="{CE7C5EF4-50C6-4D47-9609-95ADCA44B3B4}" type="pres">
      <dgm:prSet presAssocID="{6D858EE4-243D-47E3-96EA-B963DB4AE1BA}" presName="sp" presStyleCnt="0"/>
      <dgm:spPr/>
    </dgm:pt>
    <dgm:pt modelId="{608416D8-267F-D94A-AF0A-170F5E646A58}" type="pres">
      <dgm:prSet presAssocID="{54DF558D-1CEA-4A04-ACFE-61FFC9ABD33D}" presName="linNode" presStyleCnt="0"/>
      <dgm:spPr/>
    </dgm:pt>
    <dgm:pt modelId="{4E87010B-2F02-3E49-BEEC-BF563BE41F6C}" type="pres">
      <dgm:prSet presAssocID="{54DF558D-1CEA-4A04-ACFE-61FFC9ABD33D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351F571E-E38A-458C-9257-0DF49D358199}" srcId="{7F5A743B-9D46-4E66-AF9B-6B0ECC955D99}" destId="{54DF558D-1CEA-4A04-ACFE-61FFC9ABD33D}" srcOrd="2" destOrd="0" parTransId="{A4E19B56-9712-4598-8DB9-F19F37E0D3E1}" sibTransId="{7E787D45-8CC6-4D7A-A086-96A345A76225}"/>
    <dgm:cxn modelId="{01B7BA2F-3A65-4F45-A384-2E0F51EB11C6}" type="presOf" srcId="{54DF558D-1CEA-4A04-ACFE-61FFC9ABD33D}" destId="{4E87010B-2F02-3E49-BEEC-BF563BE41F6C}" srcOrd="0" destOrd="0" presId="urn:microsoft.com/office/officeart/2005/8/layout/vList5"/>
    <dgm:cxn modelId="{7DA18F85-6B13-4A80-B49D-7C59B9DC8B3C}" srcId="{7F5A743B-9D46-4E66-AF9B-6B0ECC955D99}" destId="{D7B16105-B48E-4790-B8D5-21FA80FCCD83}" srcOrd="0" destOrd="0" parTransId="{2D63A4D1-B857-4E80-8597-7249B657C846}" sibTransId="{69FB9477-CD18-4B3E-8963-3208B73ECC66}"/>
    <dgm:cxn modelId="{AA0E1AB1-3C12-4AD5-A7A9-41D6B2D59009}" srcId="{7F5A743B-9D46-4E66-AF9B-6B0ECC955D99}" destId="{43E69370-6397-49F8-8B2F-CBCBFE41BE0E}" srcOrd="1" destOrd="0" parTransId="{4E2BF990-D81D-4C86-8EDA-E0BF96BDC715}" sibTransId="{6D858EE4-243D-47E3-96EA-B963DB4AE1BA}"/>
    <dgm:cxn modelId="{46657BBF-7C4B-4346-97A6-E1D8AF29254A}" type="presOf" srcId="{D7B16105-B48E-4790-B8D5-21FA80FCCD83}" destId="{B3DC9387-919C-1848-9394-30BC472B1701}" srcOrd="0" destOrd="0" presId="urn:microsoft.com/office/officeart/2005/8/layout/vList5"/>
    <dgm:cxn modelId="{729E6CC3-86A8-E145-8D1D-3D4387A6F251}" type="presOf" srcId="{7F5A743B-9D46-4E66-AF9B-6B0ECC955D99}" destId="{F8BF7B57-29A3-7E4D-95BC-D2C8403778D6}" srcOrd="0" destOrd="0" presId="urn:microsoft.com/office/officeart/2005/8/layout/vList5"/>
    <dgm:cxn modelId="{942E8FD2-BB4A-654B-8D47-098DF1153562}" type="presOf" srcId="{43E69370-6397-49F8-8B2F-CBCBFE41BE0E}" destId="{3BCA6F3B-945A-F741-B7BB-9071C61358C7}" srcOrd="0" destOrd="0" presId="urn:microsoft.com/office/officeart/2005/8/layout/vList5"/>
    <dgm:cxn modelId="{24CD02DD-58C0-4C12-9EB6-6EA2311F9A9D}" srcId="{43E69370-6397-49F8-8B2F-CBCBFE41BE0E}" destId="{79F71780-A076-4DBB-AB9E-AC63EEA4CA00}" srcOrd="0" destOrd="0" parTransId="{72675C08-8544-4711-A372-EC38B4C3ADCE}" sibTransId="{DCDF50C9-A9B3-4AFC-BB81-AAE889167199}"/>
    <dgm:cxn modelId="{025BE6E9-A56C-EB44-8DC0-51D2FB667DDB}" type="presOf" srcId="{79F71780-A076-4DBB-AB9E-AC63EEA4CA00}" destId="{02ADDD76-3D5B-514D-8186-91EE35FF14F0}" srcOrd="0" destOrd="0" presId="urn:microsoft.com/office/officeart/2005/8/layout/vList5"/>
    <dgm:cxn modelId="{779E7843-A2F0-D848-A7D8-7E6EFF9AE47F}" type="presParOf" srcId="{F8BF7B57-29A3-7E4D-95BC-D2C8403778D6}" destId="{EFADF323-6DD5-CD4A-A185-61A973B6F068}" srcOrd="0" destOrd="0" presId="urn:microsoft.com/office/officeart/2005/8/layout/vList5"/>
    <dgm:cxn modelId="{00015BFE-4CE5-EE4F-BD4A-4AC91D460DD8}" type="presParOf" srcId="{EFADF323-6DD5-CD4A-A185-61A973B6F068}" destId="{B3DC9387-919C-1848-9394-30BC472B1701}" srcOrd="0" destOrd="0" presId="urn:microsoft.com/office/officeart/2005/8/layout/vList5"/>
    <dgm:cxn modelId="{C0F1B8D4-4349-4249-B180-B3CDCB7E54B6}" type="presParOf" srcId="{F8BF7B57-29A3-7E4D-95BC-D2C8403778D6}" destId="{E0AE8CA6-7AF6-E14F-847D-AD0242E10256}" srcOrd="1" destOrd="0" presId="urn:microsoft.com/office/officeart/2005/8/layout/vList5"/>
    <dgm:cxn modelId="{86B079CE-E140-3840-9DF7-F394225CC564}" type="presParOf" srcId="{F8BF7B57-29A3-7E4D-95BC-D2C8403778D6}" destId="{F12459CB-5FE0-F64E-999C-476F1B1C3801}" srcOrd="2" destOrd="0" presId="urn:microsoft.com/office/officeart/2005/8/layout/vList5"/>
    <dgm:cxn modelId="{7133AE1F-B7CA-D845-ACAA-5DF2EBAFFCD2}" type="presParOf" srcId="{F12459CB-5FE0-F64E-999C-476F1B1C3801}" destId="{3BCA6F3B-945A-F741-B7BB-9071C61358C7}" srcOrd="0" destOrd="0" presId="urn:microsoft.com/office/officeart/2005/8/layout/vList5"/>
    <dgm:cxn modelId="{6A9740C8-34AC-784E-9411-28CC7E73354A}" type="presParOf" srcId="{F12459CB-5FE0-F64E-999C-476F1B1C3801}" destId="{02ADDD76-3D5B-514D-8186-91EE35FF14F0}" srcOrd="1" destOrd="0" presId="urn:microsoft.com/office/officeart/2005/8/layout/vList5"/>
    <dgm:cxn modelId="{357C9867-61F8-0941-AE7E-F5372C4CE681}" type="presParOf" srcId="{F8BF7B57-29A3-7E4D-95BC-D2C8403778D6}" destId="{CE7C5EF4-50C6-4D47-9609-95ADCA44B3B4}" srcOrd="3" destOrd="0" presId="urn:microsoft.com/office/officeart/2005/8/layout/vList5"/>
    <dgm:cxn modelId="{033ED6E0-2CBB-8647-8ED4-F15F6D76296A}" type="presParOf" srcId="{F8BF7B57-29A3-7E4D-95BC-D2C8403778D6}" destId="{608416D8-267F-D94A-AF0A-170F5E646A58}" srcOrd="4" destOrd="0" presId="urn:microsoft.com/office/officeart/2005/8/layout/vList5"/>
    <dgm:cxn modelId="{0806AB6E-5658-9543-BC89-45E457FB3BCF}" type="presParOf" srcId="{608416D8-267F-D94A-AF0A-170F5E646A58}" destId="{4E87010B-2F02-3E49-BEEC-BF563BE41F6C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A6F601C-304B-41AB-AFD7-B7C60052C9C6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9F533C9-33F9-4CF8-B7CD-0E11F80D1C95}">
      <dgm:prSet/>
      <dgm:spPr/>
      <dgm:t>
        <a:bodyPr/>
        <a:lstStyle/>
        <a:p>
          <a:r>
            <a:rPr kumimoji="1" lang="ko-KR"/>
            <a:t>재구성 손실은 재구성된 이미지가 대상에 얼마나 가까운지를 나타내는 손실 함수</a:t>
          </a:r>
          <a:endParaRPr lang="en-US"/>
        </a:p>
      </dgm:t>
    </dgm:pt>
    <dgm:pt modelId="{E349E58E-1BC6-4585-9505-1542F62A9661}" type="parTrans" cxnId="{529E50D5-DD9C-4485-B05A-BAB935C159AB}">
      <dgm:prSet/>
      <dgm:spPr/>
      <dgm:t>
        <a:bodyPr/>
        <a:lstStyle/>
        <a:p>
          <a:endParaRPr lang="en-US"/>
        </a:p>
      </dgm:t>
    </dgm:pt>
    <dgm:pt modelId="{C85F940A-13D2-4B2D-B0A2-998365DF2A5D}" type="sibTrans" cxnId="{529E50D5-DD9C-4485-B05A-BAB935C159AB}">
      <dgm:prSet/>
      <dgm:spPr/>
      <dgm:t>
        <a:bodyPr/>
        <a:lstStyle/>
        <a:p>
          <a:endParaRPr lang="en-US"/>
        </a:p>
      </dgm:t>
    </dgm:pt>
    <dgm:pt modelId="{7B7DDA88-2234-4EEB-92FB-0743090E4375}">
      <dgm:prSet/>
      <dgm:spPr/>
      <dgm:t>
        <a:bodyPr/>
        <a:lstStyle/>
        <a:p>
          <a:r>
            <a:rPr kumimoji="1" lang="ko-KR"/>
            <a:t>평균 제곱 오차 또는 </a:t>
          </a:r>
          <a:r>
            <a:rPr kumimoji="1" lang="en-US"/>
            <a:t>MSE</a:t>
          </a:r>
          <a:r>
            <a:rPr kumimoji="1" lang="ko-KR"/>
            <a:t>일 수 있음</a:t>
          </a:r>
          <a:endParaRPr lang="en-US"/>
        </a:p>
      </dgm:t>
    </dgm:pt>
    <dgm:pt modelId="{70E8328F-AC5B-44F7-B89D-C8E7774E1506}" type="parTrans" cxnId="{9DA342FD-8A24-453B-8B0A-BDC424E34E4C}">
      <dgm:prSet/>
      <dgm:spPr/>
      <dgm:t>
        <a:bodyPr/>
        <a:lstStyle/>
        <a:p>
          <a:endParaRPr lang="en-US"/>
        </a:p>
      </dgm:t>
    </dgm:pt>
    <dgm:pt modelId="{2B061FC6-174F-432A-A6D1-744A1E53D200}" type="sibTrans" cxnId="{9DA342FD-8A24-453B-8B0A-BDC424E34E4C}">
      <dgm:prSet/>
      <dgm:spPr/>
      <dgm:t>
        <a:bodyPr/>
        <a:lstStyle/>
        <a:p>
          <a:endParaRPr lang="en-US"/>
        </a:p>
      </dgm:t>
    </dgm:pt>
    <dgm:pt modelId="{4975E68A-4688-4094-A37F-EA1CA82F0F2D}">
      <dgm:prSet/>
      <dgm:spPr/>
      <dgm:t>
        <a:bodyPr/>
        <a:lstStyle/>
        <a:p>
          <a:r>
            <a:rPr kumimoji="1" lang="ko-KR"/>
            <a:t>일반 자동 인코더에서와 동일한 손실 함수</a:t>
          </a:r>
          <a:endParaRPr lang="en-US"/>
        </a:p>
      </dgm:t>
    </dgm:pt>
    <dgm:pt modelId="{5EA99431-045C-4C7F-8416-ADC12F303846}" type="parTrans" cxnId="{717879D2-6BBE-45AE-A56C-E9BA4C589FBD}">
      <dgm:prSet/>
      <dgm:spPr/>
      <dgm:t>
        <a:bodyPr/>
        <a:lstStyle/>
        <a:p>
          <a:endParaRPr lang="en-US"/>
        </a:p>
      </dgm:t>
    </dgm:pt>
    <dgm:pt modelId="{6273A222-EB31-4932-92C5-9AF895044C81}" type="sibTrans" cxnId="{717879D2-6BBE-45AE-A56C-E9BA4C589FBD}">
      <dgm:prSet/>
      <dgm:spPr/>
      <dgm:t>
        <a:bodyPr/>
        <a:lstStyle/>
        <a:p>
          <a:endParaRPr lang="en-US"/>
        </a:p>
      </dgm:t>
    </dgm:pt>
    <dgm:pt modelId="{F6AC470A-F154-47D9-998E-E289B8143C1A}">
      <dgm:prSet/>
      <dgm:spPr/>
      <dgm:t>
        <a:bodyPr/>
        <a:lstStyle/>
        <a:p>
          <a:r>
            <a:rPr kumimoji="1" lang="en-US"/>
            <a:t>Kullback-Leibler </a:t>
          </a:r>
          <a:r>
            <a:rPr kumimoji="1" lang="ko-KR"/>
            <a:t>손실은 잠재 변수 분포가 정규 분포에 가깝게 유지되도록 보장</a:t>
          </a:r>
          <a:endParaRPr lang="en-US"/>
        </a:p>
      </dgm:t>
    </dgm:pt>
    <dgm:pt modelId="{6942AC77-FFBB-4D79-97AB-D680188073F2}" type="parTrans" cxnId="{DE3CD771-C4BE-407B-9AE3-A5E549117AF3}">
      <dgm:prSet/>
      <dgm:spPr/>
      <dgm:t>
        <a:bodyPr/>
        <a:lstStyle/>
        <a:p>
          <a:endParaRPr lang="en-US"/>
        </a:p>
      </dgm:t>
    </dgm:pt>
    <dgm:pt modelId="{9D6F74C6-101F-4EA0-82E3-B37D66D4A857}" type="sibTrans" cxnId="{DE3CD771-C4BE-407B-9AE3-A5E549117AF3}">
      <dgm:prSet/>
      <dgm:spPr/>
      <dgm:t>
        <a:bodyPr/>
        <a:lstStyle/>
        <a:p>
          <a:endParaRPr lang="en-US"/>
        </a:p>
      </dgm:t>
    </dgm:pt>
    <dgm:pt modelId="{0708D6B3-8668-431A-B313-FB853053F452}">
      <dgm:prSet/>
      <dgm:spPr/>
      <dgm:t>
        <a:bodyPr/>
        <a:lstStyle/>
        <a:p>
          <a:r>
            <a:rPr kumimoji="1" lang="ko-KR"/>
            <a:t>이는 두 통계 분포가 얼마나 유사한지 추정하는 지표인 </a:t>
          </a:r>
          <a:r>
            <a:rPr kumimoji="1" lang="en-US"/>
            <a:t>Kullback-Leibler Divergence</a:t>
          </a:r>
          <a:r>
            <a:rPr kumimoji="1" lang="ko-KR"/>
            <a:t>개념을 기반으로 함</a:t>
          </a:r>
          <a:endParaRPr lang="en-US"/>
        </a:p>
      </dgm:t>
    </dgm:pt>
    <dgm:pt modelId="{CD546992-0B43-4CEF-BE94-8D935375C498}" type="parTrans" cxnId="{94F3986F-5E49-4156-9B17-3ECA2B9E9C73}">
      <dgm:prSet/>
      <dgm:spPr/>
      <dgm:t>
        <a:bodyPr/>
        <a:lstStyle/>
        <a:p>
          <a:endParaRPr lang="en-US"/>
        </a:p>
      </dgm:t>
    </dgm:pt>
    <dgm:pt modelId="{F235D5F2-0C06-411F-A9F9-7B677424BEA7}" type="sibTrans" cxnId="{94F3986F-5E49-4156-9B17-3ECA2B9E9C73}">
      <dgm:prSet/>
      <dgm:spPr/>
      <dgm:t>
        <a:bodyPr/>
        <a:lstStyle/>
        <a:p>
          <a:endParaRPr lang="en-US"/>
        </a:p>
      </dgm:t>
    </dgm:pt>
    <dgm:pt modelId="{7ECC6795-B9E8-4798-A43A-B39C572F06FA}">
      <dgm:prSet/>
      <dgm:spPr/>
      <dgm:t>
        <a:bodyPr/>
        <a:lstStyle/>
        <a:p>
          <a:r>
            <a:rPr kumimoji="1" lang="ko-KR"/>
            <a:t>근사치를 선택할 때 얼마나 많은 정보가 손실되는지 측정하는 데 도움</a:t>
          </a:r>
          <a:endParaRPr lang="en-US"/>
        </a:p>
      </dgm:t>
    </dgm:pt>
    <dgm:pt modelId="{C7B98957-EC74-4917-B4F4-CA8E01632CBA}" type="parTrans" cxnId="{14C5F940-DD03-4FCC-815D-4FB9D207F725}">
      <dgm:prSet/>
      <dgm:spPr/>
      <dgm:t>
        <a:bodyPr/>
        <a:lstStyle/>
        <a:p>
          <a:endParaRPr lang="en-US"/>
        </a:p>
      </dgm:t>
    </dgm:pt>
    <dgm:pt modelId="{B20AA043-CA26-4285-9BC7-EF2442CF1133}" type="sibTrans" cxnId="{14C5F940-DD03-4FCC-815D-4FB9D207F725}">
      <dgm:prSet/>
      <dgm:spPr/>
      <dgm:t>
        <a:bodyPr/>
        <a:lstStyle/>
        <a:p>
          <a:endParaRPr lang="en-US"/>
        </a:p>
      </dgm:t>
    </dgm:pt>
    <dgm:pt modelId="{E7C75783-1093-3F47-8426-143EE9BB50E9}" type="pres">
      <dgm:prSet presAssocID="{5A6F601C-304B-41AB-AFD7-B7C60052C9C6}" presName="Name0" presStyleCnt="0">
        <dgm:presLayoutVars>
          <dgm:dir/>
          <dgm:animLvl val="lvl"/>
          <dgm:resizeHandles val="exact"/>
        </dgm:presLayoutVars>
      </dgm:prSet>
      <dgm:spPr/>
    </dgm:pt>
    <dgm:pt modelId="{7361C6B9-11DB-494D-A20C-E3272424173A}" type="pres">
      <dgm:prSet presAssocID="{B9F533C9-33F9-4CF8-B7CD-0E11F80D1C95}" presName="linNode" presStyleCnt="0"/>
      <dgm:spPr/>
    </dgm:pt>
    <dgm:pt modelId="{0A1F967C-0343-F14C-923C-F5DCC9509FD9}" type="pres">
      <dgm:prSet presAssocID="{B9F533C9-33F9-4CF8-B7CD-0E11F80D1C95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DB39FD6D-2244-5043-8F44-5AB0F3F4AB78}" type="pres">
      <dgm:prSet presAssocID="{B9F533C9-33F9-4CF8-B7CD-0E11F80D1C95}" presName="descendantText" presStyleLbl="alignAccFollowNode1" presStyleIdx="0" presStyleCnt="2">
        <dgm:presLayoutVars>
          <dgm:bulletEnabled val="1"/>
        </dgm:presLayoutVars>
      </dgm:prSet>
      <dgm:spPr/>
    </dgm:pt>
    <dgm:pt modelId="{7F479336-FED4-1D4A-9873-14A96D7EE9E9}" type="pres">
      <dgm:prSet presAssocID="{C85F940A-13D2-4B2D-B0A2-998365DF2A5D}" presName="sp" presStyleCnt="0"/>
      <dgm:spPr/>
    </dgm:pt>
    <dgm:pt modelId="{58235432-4682-E349-B984-B945D8341609}" type="pres">
      <dgm:prSet presAssocID="{F6AC470A-F154-47D9-998E-E289B8143C1A}" presName="linNode" presStyleCnt="0"/>
      <dgm:spPr/>
    </dgm:pt>
    <dgm:pt modelId="{A5FD15E6-19DA-D947-95C7-B744A191049C}" type="pres">
      <dgm:prSet presAssocID="{F6AC470A-F154-47D9-998E-E289B8143C1A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B3367CF9-04C4-A64F-A293-F542DFAC7408}" type="pres">
      <dgm:prSet presAssocID="{F6AC470A-F154-47D9-998E-E289B8143C1A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297B0117-0A4D-4844-9B75-7B206FB0D2DD}" type="presOf" srcId="{B9F533C9-33F9-4CF8-B7CD-0E11F80D1C95}" destId="{0A1F967C-0343-F14C-923C-F5DCC9509FD9}" srcOrd="0" destOrd="0" presId="urn:microsoft.com/office/officeart/2005/8/layout/vList5"/>
    <dgm:cxn modelId="{14C5F940-DD03-4FCC-815D-4FB9D207F725}" srcId="{F6AC470A-F154-47D9-998E-E289B8143C1A}" destId="{7ECC6795-B9E8-4798-A43A-B39C572F06FA}" srcOrd="1" destOrd="0" parTransId="{C7B98957-EC74-4917-B4F4-CA8E01632CBA}" sibTransId="{B20AA043-CA26-4285-9BC7-EF2442CF1133}"/>
    <dgm:cxn modelId="{94F3986F-5E49-4156-9B17-3ECA2B9E9C73}" srcId="{F6AC470A-F154-47D9-998E-E289B8143C1A}" destId="{0708D6B3-8668-431A-B313-FB853053F452}" srcOrd="0" destOrd="0" parTransId="{CD546992-0B43-4CEF-BE94-8D935375C498}" sibTransId="{F235D5F2-0C06-411F-A9F9-7B677424BEA7}"/>
    <dgm:cxn modelId="{DE3CD771-C4BE-407B-9AE3-A5E549117AF3}" srcId="{5A6F601C-304B-41AB-AFD7-B7C60052C9C6}" destId="{F6AC470A-F154-47D9-998E-E289B8143C1A}" srcOrd="1" destOrd="0" parTransId="{6942AC77-FFBB-4D79-97AB-D680188073F2}" sibTransId="{9D6F74C6-101F-4EA0-82E3-B37D66D4A857}"/>
    <dgm:cxn modelId="{8E5B9C95-335B-F24C-BCEB-18F961FC7E44}" type="presOf" srcId="{0708D6B3-8668-431A-B313-FB853053F452}" destId="{B3367CF9-04C4-A64F-A293-F542DFAC7408}" srcOrd="0" destOrd="0" presId="urn:microsoft.com/office/officeart/2005/8/layout/vList5"/>
    <dgm:cxn modelId="{239011A5-31C3-4641-82F8-A12E49AB3AFA}" type="presOf" srcId="{4975E68A-4688-4094-A37F-EA1CA82F0F2D}" destId="{DB39FD6D-2244-5043-8F44-5AB0F3F4AB78}" srcOrd="0" destOrd="1" presId="urn:microsoft.com/office/officeart/2005/8/layout/vList5"/>
    <dgm:cxn modelId="{4A0114A6-702E-924E-A7F4-E9BA57893F28}" type="presOf" srcId="{5A6F601C-304B-41AB-AFD7-B7C60052C9C6}" destId="{E7C75783-1093-3F47-8426-143EE9BB50E9}" srcOrd="0" destOrd="0" presId="urn:microsoft.com/office/officeart/2005/8/layout/vList5"/>
    <dgm:cxn modelId="{717879D2-6BBE-45AE-A56C-E9BA4C589FBD}" srcId="{B9F533C9-33F9-4CF8-B7CD-0E11F80D1C95}" destId="{4975E68A-4688-4094-A37F-EA1CA82F0F2D}" srcOrd="1" destOrd="0" parTransId="{5EA99431-045C-4C7F-8416-ADC12F303846}" sibTransId="{6273A222-EB31-4932-92C5-9AF895044C81}"/>
    <dgm:cxn modelId="{529E50D5-DD9C-4485-B05A-BAB935C159AB}" srcId="{5A6F601C-304B-41AB-AFD7-B7C60052C9C6}" destId="{B9F533C9-33F9-4CF8-B7CD-0E11F80D1C95}" srcOrd="0" destOrd="0" parTransId="{E349E58E-1BC6-4585-9505-1542F62A9661}" sibTransId="{C85F940A-13D2-4B2D-B0A2-998365DF2A5D}"/>
    <dgm:cxn modelId="{91D591E5-56D4-5547-9DE6-37AFB4DEAD40}" type="presOf" srcId="{F6AC470A-F154-47D9-998E-E289B8143C1A}" destId="{A5FD15E6-19DA-D947-95C7-B744A191049C}" srcOrd="0" destOrd="0" presId="urn:microsoft.com/office/officeart/2005/8/layout/vList5"/>
    <dgm:cxn modelId="{1C0FD4E5-F6B5-F146-A3C5-12858E0E53E4}" type="presOf" srcId="{7B7DDA88-2234-4EEB-92FB-0743090E4375}" destId="{DB39FD6D-2244-5043-8F44-5AB0F3F4AB78}" srcOrd="0" destOrd="0" presId="urn:microsoft.com/office/officeart/2005/8/layout/vList5"/>
    <dgm:cxn modelId="{A0F7DCE7-40E8-BC47-8890-E4BF36D02F0E}" type="presOf" srcId="{7ECC6795-B9E8-4798-A43A-B39C572F06FA}" destId="{B3367CF9-04C4-A64F-A293-F542DFAC7408}" srcOrd="0" destOrd="1" presId="urn:microsoft.com/office/officeart/2005/8/layout/vList5"/>
    <dgm:cxn modelId="{9DA342FD-8A24-453B-8B0A-BDC424E34E4C}" srcId="{B9F533C9-33F9-4CF8-B7CD-0E11F80D1C95}" destId="{7B7DDA88-2234-4EEB-92FB-0743090E4375}" srcOrd="0" destOrd="0" parTransId="{70E8328F-AC5B-44F7-B89D-C8E7774E1506}" sibTransId="{2B061FC6-174F-432A-A6D1-744A1E53D200}"/>
    <dgm:cxn modelId="{F52671E9-A170-F249-AC61-7D959C6440AA}" type="presParOf" srcId="{E7C75783-1093-3F47-8426-143EE9BB50E9}" destId="{7361C6B9-11DB-494D-A20C-E3272424173A}" srcOrd="0" destOrd="0" presId="urn:microsoft.com/office/officeart/2005/8/layout/vList5"/>
    <dgm:cxn modelId="{3E7173D2-D580-F841-A0CD-4F4A4849EDDB}" type="presParOf" srcId="{7361C6B9-11DB-494D-A20C-E3272424173A}" destId="{0A1F967C-0343-F14C-923C-F5DCC9509FD9}" srcOrd="0" destOrd="0" presId="urn:microsoft.com/office/officeart/2005/8/layout/vList5"/>
    <dgm:cxn modelId="{690D36C0-7D58-9D4D-8354-3DB2B19EFF25}" type="presParOf" srcId="{7361C6B9-11DB-494D-A20C-E3272424173A}" destId="{DB39FD6D-2244-5043-8F44-5AB0F3F4AB78}" srcOrd="1" destOrd="0" presId="urn:microsoft.com/office/officeart/2005/8/layout/vList5"/>
    <dgm:cxn modelId="{00F30C2A-33B5-E846-BBDC-05B26CBCB5E4}" type="presParOf" srcId="{E7C75783-1093-3F47-8426-143EE9BB50E9}" destId="{7F479336-FED4-1D4A-9873-14A96D7EE9E9}" srcOrd="1" destOrd="0" presId="urn:microsoft.com/office/officeart/2005/8/layout/vList5"/>
    <dgm:cxn modelId="{C7FF66B1-BDBD-4249-977A-F73284D0F39D}" type="presParOf" srcId="{E7C75783-1093-3F47-8426-143EE9BB50E9}" destId="{58235432-4682-E349-B984-B945D8341609}" srcOrd="2" destOrd="0" presId="urn:microsoft.com/office/officeart/2005/8/layout/vList5"/>
    <dgm:cxn modelId="{47AC111E-6DFC-0141-BB0F-6843150D2839}" type="presParOf" srcId="{58235432-4682-E349-B984-B945D8341609}" destId="{A5FD15E6-19DA-D947-95C7-B744A191049C}" srcOrd="0" destOrd="0" presId="urn:microsoft.com/office/officeart/2005/8/layout/vList5"/>
    <dgm:cxn modelId="{EBD55DF3-FC37-2146-8EA0-47C7D8966A35}" type="presParOf" srcId="{58235432-4682-E349-B984-B945D8341609}" destId="{B3367CF9-04C4-A64F-A293-F542DFAC740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4B9038E-6297-447A-8D4C-9E50BD58BBF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5B91B01-F18C-4F23-9CE8-FFFC15D7164E}">
      <dgm:prSet/>
      <dgm:spPr/>
      <dgm:t>
        <a:bodyPr/>
        <a:lstStyle/>
        <a:p>
          <a:r>
            <a:rPr kumimoji="1" lang="ko-KR"/>
            <a:t>데이터 특정 </a:t>
          </a:r>
          <a:r>
            <a:rPr kumimoji="1" lang="en-US"/>
            <a:t>- </a:t>
          </a:r>
          <a:r>
            <a:rPr kumimoji="1" lang="ko-KR"/>
            <a:t>학습된 이미지 유형에 대해서만 잘 작동</a:t>
          </a:r>
          <a:endParaRPr lang="en-US"/>
        </a:p>
      </dgm:t>
    </dgm:pt>
    <dgm:pt modelId="{5938AF4F-C35D-40E5-B98D-EB535B0FEC51}" type="parTrans" cxnId="{E415FE9D-02DF-4C59-AFCB-5D600D6E7416}">
      <dgm:prSet/>
      <dgm:spPr/>
      <dgm:t>
        <a:bodyPr/>
        <a:lstStyle/>
        <a:p>
          <a:endParaRPr lang="en-US"/>
        </a:p>
      </dgm:t>
    </dgm:pt>
    <dgm:pt modelId="{398D2471-1EDA-4767-853E-E75079BE5701}" type="sibTrans" cxnId="{E415FE9D-02DF-4C59-AFCB-5D600D6E7416}">
      <dgm:prSet/>
      <dgm:spPr/>
      <dgm:t>
        <a:bodyPr/>
        <a:lstStyle/>
        <a:p>
          <a:endParaRPr lang="en-US"/>
        </a:p>
      </dgm:t>
    </dgm:pt>
    <dgm:pt modelId="{C70B75C2-36DF-4DFD-8F9A-83EFEB9EEAFE}">
      <dgm:prSet/>
      <dgm:spPr/>
      <dgm:t>
        <a:bodyPr/>
        <a:lstStyle/>
        <a:p>
          <a:r>
            <a:rPr kumimoji="1" lang="ko-KR"/>
            <a:t>예를 들어 꽃에 대해 초고해상도 네트워크를 학습시킨 경우 인물 사진에서는 잘 작동하지 않음</a:t>
          </a:r>
          <a:endParaRPr lang="en-US"/>
        </a:p>
      </dgm:t>
    </dgm:pt>
    <dgm:pt modelId="{1514C416-3063-457F-97BB-4B77324B36B2}" type="parTrans" cxnId="{979F4D66-D1DA-48C7-8AC4-CB94A7141A1E}">
      <dgm:prSet/>
      <dgm:spPr/>
      <dgm:t>
        <a:bodyPr/>
        <a:lstStyle/>
        <a:p>
          <a:endParaRPr lang="en-US"/>
        </a:p>
      </dgm:t>
    </dgm:pt>
    <dgm:pt modelId="{4CB595E4-7BFE-4033-B4A5-CC615567ABAA}" type="sibTrans" cxnId="{979F4D66-D1DA-48C7-8AC4-CB94A7141A1E}">
      <dgm:prSet/>
      <dgm:spPr/>
      <dgm:t>
        <a:bodyPr/>
        <a:lstStyle/>
        <a:p>
          <a:endParaRPr lang="en-US"/>
        </a:p>
      </dgm:t>
    </dgm:pt>
    <dgm:pt modelId="{5CE393FD-82E1-4D3C-8A96-868BC81D4E7E}">
      <dgm:prSet/>
      <dgm:spPr/>
      <dgm:t>
        <a:bodyPr/>
        <a:lstStyle/>
        <a:p>
          <a:r>
            <a:rPr kumimoji="1" lang="ko-KR"/>
            <a:t>네트워크는 훈련 데이터 세트에서 학습한 특징에서 미세한 디테일을 가져와서 더 높은 해상도의 이미지를 생성할 수 있기 때문</a:t>
          </a:r>
          <a:endParaRPr lang="en-US"/>
        </a:p>
      </dgm:t>
    </dgm:pt>
    <dgm:pt modelId="{A52E159D-8203-49DD-9F51-7500A403A292}" type="parTrans" cxnId="{8F5963F2-8E63-4F23-B4CD-30FE61CCE0CB}">
      <dgm:prSet/>
      <dgm:spPr/>
      <dgm:t>
        <a:bodyPr/>
        <a:lstStyle/>
        <a:p>
          <a:endParaRPr lang="en-US"/>
        </a:p>
      </dgm:t>
    </dgm:pt>
    <dgm:pt modelId="{6E363C9F-C2A5-4C93-B587-2077F52421EA}" type="sibTrans" cxnId="{8F5963F2-8E63-4F23-B4CD-30FE61CCE0CB}">
      <dgm:prSet/>
      <dgm:spPr/>
      <dgm:t>
        <a:bodyPr/>
        <a:lstStyle/>
        <a:p>
          <a:endParaRPr lang="en-US"/>
        </a:p>
      </dgm:t>
    </dgm:pt>
    <dgm:pt modelId="{A1DC28BC-B0F6-4735-8ED9-2EE31F501381}">
      <dgm:prSet/>
      <dgm:spPr/>
      <dgm:t>
        <a:bodyPr/>
        <a:lstStyle/>
        <a:p>
          <a:r>
            <a:rPr kumimoji="1" lang="ko-KR"/>
            <a:t>손실 </a:t>
          </a:r>
          <a:r>
            <a:rPr kumimoji="1" lang="en-US"/>
            <a:t>- </a:t>
          </a:r>
          <a:r>
            <a:rPr kumimoji="1" lang="ko-KR"/>
            <a:t>재구성된 이미지가 원본 이미지와 동일하지 않음</a:t>
          </a:r>
          <a:endParaRPr lang="en-US"/>
        </a:p>
      </dgm:t>
    </dgm:pt>
    <dgm:pt modelId="{55790139-748C-44B3-806B-2BF476C6BF62}" type="parTrans" cxnId="{8DD47779-20B9-4492-85B4-6252E7C77B4A}">
      <dgm:prSet/>
      <dgm:spPr/>
      <dgm:t>
        <a:bodyPr/>
        <a:lstStyle/>
        <a:p>
          <a:endParaRPr lang="en-US"/>
        </a:p>
      </dgm:t>
    </dgm:pt>
    <dgm:pt modelId="{A5A91C5A-3055-4F51-BE3C-F1B1B3EA39C8}" type="sibTrans" cxnId="{8DD47779-20B9-4492-85B4-6252E7C77B4A}">
      <dgm:prSet/>
      <dgm:spPr/>
      <dgm:t>
        <a:bodyPr/>
        <a:lstStyle/>
        <a:p>
          <a:endParaRPr lang="en-US"/>
        </a:p>
      </dgm:t>
    </dgm:pt>
    <dgm:pt modelId="{9E48FF98-6F51-4972-B32B-BA135C27CAF1}">
      <dgm:prSet/>
      <dgm:spPr/>
      <dgm:t>
        <a:bodyPr/>
        <a:lstStyle/>
        <a:p>
          <a:r>
            <a:rPr kumimoji="1" lang="ko-KR"/>
            <a:t>손실의 특성은 훈련 중에 사용된 손실 함수에 의해 정의됨</a:t>
          </a:r>
          <a:endParaRPr lang="en-US"/>
        </a:p>
      </dgm:t>
    </dgm:pt>
    <dgm:pt modelId="{1C14CD9A-A92B-414C-A995-168236FD4DE8}" type="parTrans" cxnId="{89607D54-CDD3-4324-B2D3-43A53DD449CE}">
      <dgm:prSet/>
      <dgm:spPr/>
      <dgm:t>
        <a:bodyPr/>
        <a:lstStyle/>
        <a:p>
          <a:endParaRPr lang="en-US"/>
        </a:p>
      </dgm:t>
    </dgm:pt>
    <dgm:pt modelId="{0A067D54-76F0-4656-A3EE-DF4E8C9496FE}" type="sibTrans" cxnId="{89607D54-CDD3-4324-B2D3-43A53DD449CE}">
      <dgm:prSet/>
      <dgm:spPr/>
      <dgm:t>
        <a:bodyPr/>
        <a:lstStyle/>
        <a:p>
          <a:endParaRPr lang="en-US"/>
        </a:p>
      </dgm:t>
    </dgm:pt>
    <dgm:pt modelId="{6109FE67-6725-4033-966D-851DF00D6D02}">
      <dgm:prSet/>
      <dgm:spPr/>
      <dgm:t>
        <a:bodyPr/>
        <a:lstStyle/>
        <a:p>
          <a:r>
            <a:rPr kumimoji="1" lang="ko-KR"/>
            <a:t>레이블이 없는 데이터에서 작동</a:t>
          </a:r>
          <a:endParaRPr lang="en-US"/>
        </a:p>
      </dgm:t>
    </dgm:pt>
    <dgm:pt modelId="{816F38BC-4C60-43AB-ADB3-EE3586BE14A3}" type="parTrans" cxnId="{39CBD050-1A34-4F13-BE8C-3D776AB6E2D0}">
      <dgm:prSet/>
      <dgm:spPr/>
      <dgm:t>
        <a:bodyPr/>
        <a:lstStyle/>
        <a:p>
          <a:endParaRPr lang="en-US"/>
        </a:p>
      </dgm:t>
    </dgm:pt>
    <dgm:pt modelId="{25B25152-6960-4F08-9060-8B352CDAFC4F}" type="sibTrans" cxnId="{39CBD050-1A34-4F13-BE8C-3D776AB6E2D0}">
      <dgm:prSet/>
      <dgm:spPr/>
      <dgm:t>
        <a:bodyPr/>
        <a:lstStyle/>
        <a:p>
          <a:endParaRPr lang="en-US"/>
        </a:p>
      </dgm:t>
    </dgm:pt>
    <dgm:pt modelId="{1B0484E2-F02F-9447-A79A-5B1C103936B2}" type="pres">
      <dgm:prSet presAssocID="{E4B9038E-6297-447A-8D4C-9E50BD58BBFC}" presName="linear" presStyleCnt="0">
        <dgm:presLayoutVars>
          <dgm:dir/>
          <dgm:animLvl val="lvl"/>
          <dgm:resizeHandles val="exact"/>
        </dgm:presLayoutVars>
      </dgm:prSet>
      <dgm:spPr/>
    </dgm:pt>
    <dgm:pt modelId="{823E0D05-77F5-F245-A4EB-B0886A5C7991}" type="pres">
      <dgm:prSet presAssocID="{35B91B01-F18C-4F23-9CE8-FFFC15D7164E}" presName="parentLin" presStyleCnt="0"/>
      <dgm:spPr/>
    </dgm:pt>
    <dgm:pt modelId="{51A68430-C02C-EA4C-9FB8-5CB5B5746702}" type="pres">
      <dgm:prSet presAssocID="{35B91B01-F18C-4F23-9CE8-FFFC15D7164E}" presName="parentLeftMargin" presStyleLbl="node1" presStyleIdx="0" presStyleCnt="3"/>
      <dgm:spPr/>
    </dgm:pt>
    <dgm:pt modelId="{4328F320-17A9-E74D-BF91-54BAD03195B0}" type="pres">
      <dgm:prSet presAssocID="{35B91B01-F18C-4F23-9CE8-FFFC15D7164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C823E25-0CCC-9A43-976E-E46E5FAB25C9}" type="pres">
      <dgm:prSet presAssocID="{35B91B01-F18C-4F23-9CE8-FFFC15D7164E}" presName="negativeSpace" presStyleCnt="0"/>
      <dgm:spPr/>
    </dgm:pt>
    <dgm:pt modelId="{656FACD6-29D0-C841-BCF1-3611E4751A45}" type="pres">
      <dgm:prSet presAssocID="{35B91B01-F18C-4F23-9CE8-FFFC15D7164E}" presName="childText" presStyleLbl="conFgAcc1" presStyleIdx="0" presStyleCnt="3">
        <dgm:presLayoutVars>
          <dgm:bulletEnabled val="1"/>
        </dgm:presLayoutVars>
      </dgm:prSet>
      <dgm:spPr/>
    </dgm:pt>
    <dgm:pt modelId="{75C1EBAE-F33A-4045-829C-0F408E301D70}" type="pres">
      <dgm:prSet presAssocID="{398D2471-1EDA-4767-853E-E75079BE5701}" presName="spaceBetweenRectangles" presStyleCnt="0"/>
      <dgm:spPr/>
    </dgm:pt>
    <dgm:pt modelId="{5EEFD448-47F7-EA49-9DB1-D0AAD1A531BD}" type="pres">
      <dgm:prSet presAssocID="{A1DC28BC-B0F6-4735-8ED9-2EE31F501381}" presName="parentLin" presStyleCnt="0"/>
      <dgm:spPr/>
    </dgm:pt>
    <dgm:pt modelId="{41AF7517-4D93-D84D-9B41-C96193890AFF}" type="pres">
      <dgm:prSet presAssocID="{A1DC28BC-B0F6-4735-8ED9-2EE31F501381}" presName="parentLeftMargin" presStyleLbl="node1" presStyleIdx="0" presStyleCnt="3"/>
      <dgm:spPr/>
    </dgm:pt>
    <dgm:pt modelId="{2CA72E72-A19F-3B40-B322-1F9318615D62}" type="pres">
      <dgm:prSet presAssocID="{A1DC28BC-B0F6-4735-8ED9-2EE31F50138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5008D65-A75F-8F42-98C0-188E9C8D64AA}" type="pres">
      <dgm:prSet presAssocID="{A1DC28BC-B0F6-4735-8ED9-2EE31F501381}" presName="negativeSpace" presStyleCnt="0"/>
      <dgm:spPr/>
    </dgm:pt>
    <dgm:pt modelId="{DE4D763C-B4EE-D84D-86AD-790D97590748}" type="pres">
      <dgm:prSet presAssocID="{A1DC28BC-B0F6-4735-8ED9-2EE31F501381}" presName="childText" presStyleLbl="conFgAcc1" presStyleIdx="1" presStyleCnt="3">
        <dgm:presLayoutVars>
          <dgm:bulletEnabled val="1"/>
        </dgm:presLayoutVars>
      </dgm:prSet>
      <dgm:spPr/>
    </dgm:pt>
    <dgm:pt modelId="{0070B7DD-7E75-434E-AB45-934B02C37FD0}" type="pres">
      <dgm:prSet presAssocID="{A5A91C5A-3055-4F51-BE3C-F1B1B3EA39C8}" presName="spaceBetweenRectangles" presStyleCnt="0"/>
      <dgm:spPr/>
    </dgm:pt>
    <dgm:pt modelId="{F182E7F8-1D36-5447-9D8D-803A28A7125C}" type="pres">
      <dgm:prSet presAssocID="{6109FE67-6725-4033-966D-851DF00D6D02}" presName="parentLin" presStyleCnt="0"/>
      <dgm:spPr/>
    </dgm:pt>
    <dgm:pt modelId="{75AED1F9-C2FA-8E4F-93F8-713BC287BB51}" type="pres">
      <dgm:prSet presAssocID="{6109FE67-6725-4033-966D-851DF00D6D02}" presName="parentLeftMargin" presStyleLbl="node1" presStyleIdx="1" presStyleCnt="3"/>
      <dgm:spPr/>
    </dgm:pt>
    <dgm:pt modelId="{0F8515D3-14BD-D040-8A42-92A4152673E6}" type="pres">
      <dgm:prSet presAssocID="{6109FE67-6725-4033-966D-851DF00D6D02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C0471F84-3521-924E-8E94-85D9920B1BE0}" type="pres">
      <dgm:prSet presAssocID="{6109FE67-6725-4033-966D-851DF00D6D02}" presName="negativeSpace" presStyleCnt="0"/>
      <dgm:spPr/>
    </dgm:pt>
    <dgm:pt modelId="{7C13A9D6-8986-304A-B07D-B0201EE717E0}" type="pres">
      <dgm:prSet presAssocID="{6109FE67-6725-4033-966D-851DF00D6D02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B0C1E1E-6851-3947-9818-6CD7C19E0044}" type="presOf" srcId="{A1DC28BC-B0F6-4735-8ED9-2EE31F501381}" destId="{2CA72E72-A19F-3B40-B322-1F9318615D62}" srcOrd="1" destOrd="0" presId="urn:microsoft.com/office/officeart/2005/8/layout/list1"/>
    <dgm:cxn modelId="{DDB61829-4D19-264C-8456-1E86B0063874}" type="presOf" srcId="{C70B75C2-36DF-4DFD-8F9A-83EFEB9EEAFE}" destId="{656FACD6-29D0-C841-BCF1-3611E4751A45}" srcOrd="0" destOrd="0" presId="urn:microsoft.com/office/officeart/2005/8/layout/list1"/>
    <dgm:cxn modelId="{55A71E3D-2DAB-2644-B431-7451C21309FD}" type="presOf" srcId="{35B91B01-F18C-4F23-9CE8-FFFC15D7164E}" destId="{51A68430-C02C-EA4C-9FB8-5CB5B5746702}" srcOrd="0" destOrd="0" presId="urn:microsoft.com/office/officeart/2005/8/layout/list1"/>
    <dgm:cxn modelId="{39CBD050-1A34-4F13-BE8C-3D776AB6E2D0}" srcId="{E4B9038E-6297-447A-8D4C-9E50BD58BBFC}" destId="{6109FE67-6725-4033-966D-851DF00D6D02}" srcOrd="2" destOrd="0" parTransId="{816F38BC-4C60-43AB-ADB3-EE3586BE14A3}" sibTransId="{25B25152-6960-4F08-9060-8B352CDAFC4F}"/>
    <dgm:cxn modelId="{89607D54-CDD3-4324-B2D3-43A53DD449CE}" srcId="{A1DC28BC-B0F6-4735-8ED9-2EE31F501381}" destId="{9E48FF98-6F51-4972-B32B-BA135C27CAF1}" srcOrd="0" destOrd="0" parTransId="{1C14CD9A-A92B-414C-A995-168236FD4DE8}" sibTransId="{0A067D54-76F0-4656-A3EE-DF4E8C9496FE}"/>
    <dgm:cxn modelId="{979F4D66-D1DA-48C7-8AC4-CB94A7141A1E}" srcId="{35B91B01-F18C-4F23-9CE8-FFFC15D7164E}" destId="{C70B75C2-36DF-4DFD-8F9A-83EFEB9EEAFE}" srcOrd="0" destOrd="0" parTransId="{1514C416-3063-457F-97BB-4B77324B36B2}" sibTransId="{4CB595E4-7BFE-4033-B4A5-CC615567ABAA}"/>
    <dgm:cxn modelId="{F31EF177-399C-6D46-BC36-AE3E67A0C9F1}" type="presOf" srcId="{9E48FF98-6F51-4972-B32B-BA135C27CAF1}" destId="{DE4D763C-B4EE-D84D-86AD-790D97590748}" srcOrd="0" destOrd="0" presId="urn:microsoft.com/office/officeart/2005/8/layout/list1"/>
    <dgm:cxn modelId="{B0667379-4DC3-6640-BD19-324BDBD3BBEE}" type="presOf" srcId="{6109FE67-6725-4033-966D-851DF00D6D02}" destId="{0F8515D3-14BD-D040-8A42-92A4152673E6}" srcOrd="1" destOrd="0" presId="urn:microsoft.com/office/officeart/2005/8/layout/list1"/>
    <dgm:cxn modelId="{8DD47779-20B9-4492-85B4-6252E7C77B4A}" srcId="{E4B9038E-6297-447A-8D4C-9E50BD58BBFC}" destId="{A1DC28BC-B0F6-4735-8ED9-2EE31F501381}" srcOrd="1" destOrd="0" parTransId="{55790139-748C-44B3-806B-2BF476C6BF62}" sibTransId="{A5A91C5A-3055-4F51-BE3C-F1B1B3EA39C8}"/>
    <dgm:cxn modelId="{AD46A186-E439-5D49-912D-ED307044AED8}" type="presOf" srcId="{35B91B01-F18C-4F23-9CE8-FFFC15D7164E}" destId="{4328F320-17A9-E74D-BF91-54BAD03195B0}" srcOrd="1" destOrd="0" presId="urn:microsoft.com/office/officeart/2005/8/layout/list1"/>
    <dgm:cxn modelId="{428D7590-C3A4-B54C-8C99-72493221597D}" type="presOf" srcId="{A1DC28BC-B0F6-4735-8ED9-2EE31F501381}" destId="{41AF7517-4D93-D84D-9B41-C96193890AFF}" srcOrd="0" destOrd="0" presId="urn:microsoft.com/office/officeart/2005/8/layout/list1"/>
    <dgm:cxn modelId="{E415FE9D-02DF-4C59-AFCB-5D600D6E7416}" srcId="{E4B9038E-6297-447A-8D4C-9E50BD58BBFC}" destId="{35B91B01-F18C-4F23-9CE8-FFFC15D7164E}" srcOrd="0" destOrd="0" parTransId="{5938AF4F-C35D-40E5-B98D-EB535B0FEC51}" sibTransId="{398D2471-1EDA-4767-853E-E75079BE5701}"/>
    <dgm:cxn modelId="{C9C85BC1-3B4D-0A4E-9744-4D0571823A18}" type="presOf" srcId="{5CE393FD-82E1-4D3C-8A96-868BC81D4E7E}" destId="{656FACD6-29D0-C841-BCF1-3611E4751A45}" srcOrd="0" destOrd="1" presId="urn:microsoft.com/office/officeart/2005/8/layout/list1"/>
    <dgm:cxn modelId="{F08186C4-2385-3E4C-800D-435AD72886E5}" type="presOf" srcId="{6109FE67-6725-4033-966D-851DF00D6D02}" destId="{75AED1F9-C2FA-8E4F-93F8-713BC287BB51}" srcOrd="0" destOrd="0" presId="urn:microsoft.com/office/officeart/2005/8/layout/list1"/>
    <dgm:cxn modelId="{8F5963F2-8E63-4F23-B4CD-30FE61CCE0CB}" srcId="{35B91B01-F18C-4F23-9CE8-FFFC15D7164E}" destId="{5CE393FD-82E1-4D3C-8A96-868BC81D4E7E}" srcOrd="1" destOrd="0" parTransId="{A52E159D-8203-49DD-9F51-7500A403A292}" sibTransId="{6E363C9F-C2A5-4C93-B587-2077F52421EA}"/>
    <dgm:cxn modelId="{387933F4-02A3-4646-B4F8-8325FD33472E}" type="presOf" srcId="{E4B9038E-6297-447A-8D4C-9E50BD58BBFC}" destId="{1B0484E2-F02F-9447-A79A-5B1C103936B2}" srcOrd="0" destOrd="0" presId="urn:microsoft.com/office/officeart/2005/8/layout/list1"/>
    <dgm:cxn modelId="{1FF433F4-F780-D343-A185-2ABF31FF0822}" type="presParOf" srcId="{1B0484E2-F02F-9447-A79A-5B1C103936B2}" destId="{823E0D05-77F5-F245-A4EB-B0886A5C7991}" srcOrd="0" destOrd="0" presId="urn:microsoft.com/office/officeart/2005/8/layout/list1"/>
    <dgm:cxn modelId="{6AFCB196-F4E5-8448-B2CB-FAC041D5FB77}" type="presParOf" srcId="{823E0D05-77F5-F245-A4EB-B0886A5C7991}" destId="{51A68430-C02C-EA4C-9FB8-5CB5B5746702}" srcOrd="0" destOrd="0" presId="urn:microsoft.com/office/officeart/2005/8/layout/list1"/>
    <dgm:cxn modelId="{F8920999-46D2-3642-9FCA-2215C28AC6C0}" type="presParOf" srcId="{823E0D05-77F5-F245-A4EB-B0886A5C7991}" destId="{4328F320-17A9-E74D-BF91-54BAD03195B0}" srcOrd="1" destOrd="0" presId="urn:microsoft.com/office/officeart/2005/8/layout/list1"/>
    <dgm:cxn modelId="{2F761273-A8BA-7448-9165-42BAC4C73841}" type="presParOf" srcId="{1B0484E2-F02F-9447-A79A-5B1C103936B2}" destId="{DC823E25-0CCC-9A43-976E-E46E5FAB25C9}" srcOrd="1" destOrd="0" presId="urn:microsoft.com/office/officeart/2005/8/layout/list1"/>
    <dgm:cxn modelId="{5BADECEC-73AC-DC42-AE49-B1CEED4A00AA}" type="presParOf" srcId="{1B0484E2-F02F-9447-A79A-5B1C103936B2}" destId="{656FACD6-29D0-C841-BCF1-3611E4751A45}" srcOrd="2" destOrd="0" presId="urn:microsoft.com/office/officeart/2005/8/layout/list1"/>
    <dgm:cxn modelId="{B093630F-618A-B349-B53C-EE9BAC86918A}" type="presParOf" srcId="{1B0484E2-F02F-9447-A79A-5B1C103936B2}" destId="{75C1EBAE-F33A-4045-829C-0F408E301D70}" srcOrd="3" destOrd="0" presId="urn:microsoft.com/office/officeart/2005/8/layout/list1"/>
    <dgm:cxn modelId="{1351D2DB-7657-8B44-864F-6F66D2926149}" type="presParOf" srcId="{1B0484E2-F02F-9447-A79A-5B1C103936B2}" destId="{5EEFD448-47F7-EA49-9DB1-D0AAD1A531BD}" srcOrd="4" destOrd="0" presId="urn:microsoft.com/office/officeart/2005/8/layout/list1"/>
    <dgm:cxn modelId="{589963CB-07A1-AE42-96F4-F5E121044A18}" type="presParOf" srcId="{5EEFD448-47F7-EA49-9DB1-D0AAD1A531BD}" destId="{41AF7517-4D93-D84D-9B41-C96193890AFF}" srcOrd="0" destOrd="0" presId="urn:microsoft.com/office/officeart/2005/8/layout/list1"/>
    <dgm:cxn modelId="{4195DD87-BB74-FD47-9D47-BE86AA13CFA4}" type="presParOf" srcId="{5EEFD448-47F7-EA49-9DB1-D0AAD1A531BD}" destId="{2CA72E72-A19F-3B40-B322-1F9318615D62}" srcOrd="1" destOrd="0" presId="urn:microsoft.com/office/officeart/2005/8/layout/list1"/>
    <dgm:cxn modelId="{201368E4-3B62-BF4F-89E8-C1035044135D}" type="presParOf" srcId="{1B0484E2-F02F-9447-A79A-5B1C103936B2}" destId="{15008D65-A75F-8F42-98C0-188E9C8D64AA}" srcOrd="5" destOrd="0" presId="urn:microsoft.com/office/officeart/2005/8/layout/list1"/>
    <dgm:cxn modelId="{553A2F0F-D944-D044-A8B1-080940ECA5F3}" type="presParOf" srcId="{1B0484E2-F02F-9447-A79A-5B1C103936B2}" destId="{DE4D763C-B4EE-D84D-86AD-790D97590748}" srcOrd="6" destOrd="0" presId="urn:microsoft.com/office/officeart/2005/8/layout/list1"/>
    <dgm:cxn modelId="{1511C88C-4B4E-404B-AD1F-92998EAFBBB6}" type="presParOf" srcId="{1B0484E2-F02F-9447-A79A-5B1C103936B2}" destId="{0070B7DD-7E75-434E-AB45-934B02C37FD0}" srcOrd="7" destOrd="0" presId="urn:microsoft.com/office/officeart/2005/8/layout/list1"/>
    <dgm:cxn modelId="{97ECFCB5-29F2-3849-93F0-713058E3B274}" type="presParOf" srcId="{1B0484E2-F02F-9447-A79A-5B1C103936B2}" destId="{F182E7F8-1D36-5447-9D8D-803A28A7125C}" srcOrd="8" destOrd="0" presId="urn:microsoft.com/office/officeart/2005/8/layout/list1"/>
    <dgm:cxn modelId="{E9BAF2FA-B1F8-C943-8F12-5101AE039CE8}" type="presParOf" srcId="{F182E7F8-1D36-5447-9D8D-803A28A7125C}" destId="{75AED1F9-C2FA-8E4F-93F8-713BC287BB51}" srcOrd="0" destOrd="0" presId="urn:microsoft.com/office/officeart/2005/8/layout/list1"/>
    <dgm:cxn modelId="{DD6F5678-D487-DC46-AA3A-9FC080600286}" type="presParOf" srcId="{F182E7F8-1D36-5447-9D8D-803A28A7125C}" destId="{0F8515D3-14BD-D040-8A42-92A4152673E6}" srcOrd="1" destOrd="0" presId="urn:microsoft.com/office/officeart/2005/8/layout/list1"/>
    <dgm:cxn modelId="{518B48E7-165E-9F47-B1FF-70F5E3C25398}" type="presParOf" srcId="{1B0484E2-F02F-9447-A79A-5B1C103936B2}" destId="{C0471F84-3521-924E-8E94-85D9920B1BE0}" srcOrd="9" destOrd="0" presId="urn:microsoft.com/office/officeart/2005/8/layout/list1"/>
    <dgm:cxn modelId="{343FD297-C605-B143-A0CC-5490991FEDA7}" type="presParOf" srcId="{1B0484E2-F02F-9447-A79A-5B1C103936B2}" destId="{7C13A9D6-8986-304A-B07D-B0201EE717E0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2F8B7D-A900-48BE-9291-F1ABC4475E8E}">
      <dsp:nvSpPr>
        <dsp:cNvPr id="0" name=""/>
        <dsp:cNvSpPr/>
      </dsp:nvSpPr>
      <dsp:spPr>
        <a:xfrm>
          <a:off x="0" y="906502"/>
          <a:ext cx="6261100" cy="16735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1281F7-84E1-4961-AEC8-8C54807BD648}">
      <dsp:nvSpPr>
        <dsp:cNvPr id="0" name=""/>
        <dsp:cNvSpPr/>
      </dsp:nvSpPr>
      <dsp:spPr>
        <a:xfrm>
          <a:off x="506246" y="1283049"/>
          <a:ext cx="920448" cy="9204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72B737-280B-4E83-AC05-AB5DD87B55D3}">
      <dsp:nvSpPr>
        <dsp:cNvPr id="0" name=""/>
        <dsp:cNvSpPr/>
      </dsp:nvSpPr>
      <dsp:spPr>
        <a:xfrm>
          <a:off x="1932941" y="906502"/>
          <a:ext cx="4328158" cy="1673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117" tIns="177117" rIns="177117" bIns="17711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100" kern="1200"/>
            <a:t>CNN</a:t>
          </a:r>
          <a:r>
            <a:rPr kumimoji="1" lang="ko-KR" sz="2100" kern="1200"/>
            <a:t>을 훈련할 때 발생하는 문제 중 하나는 많은 레이블이 지정된 데이터가 필요하다는 것</a:t>
          </a:r>
          <a:endParaRPr lang="en-US" sz="2100" kern="1200"/>
        </a:p>
      </dsp:txBody>
      <dsp:txXfrm>
        <a:off x="1932941" y="906502"/>
        <a:ext cx="4328158" cy="1673542"/>
      </dsp:txXfrm>
    </dsp:sp>
    <dsp:sp modelId="{EF3CC6D2-E119-419F-8A1B-7E95CCB34591}">
      <dsp:nvSpPr>
        <dsp:cNvPr id="0" name=""/>
        <dsp:cNvSpPr/>
      </dsp:nvSpPr>
      <dsp:spPr>
        <a:xfrm>
          <a:off x="0" y="2998430"/>
          <a:ext cx="6261100" cy="16735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104078-55D6-4660-BE35-AFD587D218D7}">
      <dsp:nvSpPr>
        <dsp:cNvPr id="0" name=""/>
        <dsp:cNvSpPr/>
      </dsp:nvSpPr>
      <dsp:spPr>
        <a:xfrm>
          <a:off x="506246" y="3374977"/>
          <a:ext cx="920448" cy="9204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2C5FEE-899E-444E-B354-95E58DBD54F2}">
      <dsp:nvSpPr>
        <dsp:cNvPr id="0" name=""/>
        <dsp:cNvSpPr/>
      </dsp:nvSpPr>
      <dsp:spPr>
        <a:xfrm>
          <a:off x="1932941" y="2998430"/>
          <a:ext cx="4328158" cy="1673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117" tIns="177117" rIns="177117" bIns="17711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2100" kern="1200"/>
            <a:t>이미지 분류의 경우 이미지를 여러 클래스로 분리해야 하는데</a:t>
          </a:r>
          <a:r>
            <a:rPr kumimoji="1" lang="en-US" sz="2100" kern="1200"/>
            <a:t>, </a:t>
          </a:r>
          <a:r>
            <a:rPr kumimoji="1" lang="ko-KR" sz="2100" kern="1200"/>
            <a:t>이 작업은 수작업으로 이루어짐</a:t>
          </a:r>
          <a:endParaRPr lang="en-US" sz="2100" kern="1200"/>
        </a:p>
      </dsp:txBody>
      <dsp:txXfrm>
        <a:off x="1932941" y="2998430"/>
        <a:ext cx="4328158" cy="16735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D8F13A-3F1B-1046-A58B-6264F44DF1B6}">
      <dsp:nvSpPr>
        <dsp:cNvPr id="0" name=""/>
        <dsp:cNvSpPr/>
      </dsp:nvSpPr>
      <dsp:spPr>
        <a:xfrm>
          <a:off x="0" y="177797"/>
          <a:ext cx="6261100" cy="12776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300" kern="1200"/>
            <a:t>시각화 또는 이미지 임베딩 학습을 위해 이미지의 차원을 낮춤</a:t>
          </a:r>
          <a:r>
            <a:rPr kumimoji="1" lang="en-US" sz="1300" kern="1200"/>
            <a:t>:</a:t>
          </a:r>
          <a:r>
            <a:rPr kumimoji="1" lang="ko-KR" sz="1300" kern="1200"/>
            <a:t> 일반적으로 자동 인코더는 이미지의 공간적 특성과 계층적 특징을 고려하기 때문에 </a:t>
          </a:r>
          <a:r>
            <a:rPr kumimoji="1" lang="en-US" sz="1300" kern="1200"/>
            <a:t>PCA</a:t>
          </a:r>
          <a:r>
            <a:rPr kumimoji="1" lang="ko-KR" sz="1300" kern="1200"/>
            <a:t>보다 더 나은 결과를 제공</a:t>
          </a:r>
          <a:endParaRPr lang="en-US" sz="1300" kern="1200"/>
        </a:p>
      </dsp:txBody>
      <dsp:txXfrm>
        <a:off x="62369" y="240166"/>
        <a:ext cx="6136362" cy="1152902"/>
      </dsp:txXfrm>
    </dsp:sp>
    <dsp:sp modelId="{78E72685-12C0-D44C-B3E9-CF2B6CC2A945}">
      <dsp:nvSpPr>
        <dsp:cNvPr id="0" name=""/>
        <dsp:cNvSpPr/>
      </dsp:nvSpPr>
      <dsp:spPr>
        <a:xfrm>
          <a:off x="0" y="1492877"/>
          <a:ext cx="6261100" cy="1277640"/>
        </a:xfrm>
        <a:prstGeom prst="roundRect">
          <a:avLst/>
        </a:prstGeom>
        <a:gradFill rotWithShape="0">
          <a:gsLst>
            <a:gs pos="0">
              <a:schemeClr val="accent2">
                <a:hueOff val="1847440"/>
                <a:satOff val="-318"/>
                <a:lumOff val="-3268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1847440"/>
                <a:satOff val="-318"/>
                <a:lumOff val="-3268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1847440"/>
                <a:satOff val="-318"/>
                <a:lumOff val="-3268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300" kern="1200"/>
            <a:t>이미지에서 노이즈 제거</a:t>
          </a:r>
          <a:r>
            <a:rPr kumimoji="1" lang="en-US" sz="1300" kern="1200"/>
            <a:t>:</a:t>
          </a:r>
          <a:r>
            <a:rPr kumimoji="1" lang="ko-KR" sz="1300" kern="1200"/>
            <a:t> 노이즈는 쓸모없는 정보를 많이 포함하고 있기 때문에 자동 인코더는 상대적으로 작은 잠재 공간에 모든 정보를 담을 수 없으므로 이미지의 중요한 부분만 캡처하는데</a:t>
          </a:r>
          <a:r>
            <a:rPr kumimoji="1" lang="en-US" sz="1300" kern="1200"/>
            <a:t> </a:t>
          </a:r>
          <a:r>
            <a:rPr kumimoji="1" lang="ko-KR" sz="1300" kern="1200"/>
            <a:t>디노이저를 훈련할 때는 원본 이미지로 시작하여 인위적으로 노이즈가 추가된 이미지를 자동 인코더의 입력으로 사용</a:t>
          </a:r>
          <a:endParaRPr lang="en-US" sz="1300" kern="1200"/>
        </a:p>
      </dsp:txBody>
      <dsp:txXfrm>
        <a:off x="62369" y="1555246"/>
        <a:ext cx="6136362" cy="1152902"/>
      </dsp:txXfrm>
    </dsp:sp>
    <dsp:sp modelId="{E9AAE324-8D7C-9348-826A-2118301724C2}">
      <dsp:nvSpPr>
        <dsp:cNvPr id="0" name=""/>
        <dsp:cNvSpPr/>
      </dsp:nvSpPr>
      <dsp:spPr>
        <a:xfrm>
          <a:off x="0" y="2807957"/>
          <a:ext cx="6261100" cy="1277640"/>
        </a:xfrm>
        <a:prstGeom prst="roundRect">
          <a:avLst/>
        </a:prstGeom>
        <a:gradFill rotWithShape="0">
          <a:gsLst>
            <a:gs pos="0">
              <a:schemeClr val="accent2">
                <a:hueOff val="3694879"/>
                <a:satOff val="-635"/>
                <a:lumOff val="-6536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3694879"/>
                <a:satOff val="-635"/>
                <a:lumOff val="-6536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3694879"/>
                <a:satOff val="-635"/>
                <a:lumOff val="-6536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300" kern="1200"/>
            <a:t>이미지 해상도를 높이는 초고해상도</a:t>
          </a:r>
          <a:r>
            <a:rPr kumimoji="1" lang="en-US" sz="1300" kern="1200"/>
            <a:t>:</a:t>
          </a:r>
          <a:r>
            <a:rPr kumimoji="1" lang="ko-KR" sz="1300" kern="1200"/>
            <a:t> 고해상도 이미지로 시작하여 해상도가 낮은 이미지를 자동 인코더 입력으로 사용</a:t>
          </a:r>
          <a:endParaRPr lang="en-US" sz="1300" kern="1200"/>
        </a:p>
      </dsp:txBody>
      <dsp:txXfrm>
        <a:off x="62369" y="2870326"/>
        <a:ext cx="6136362" cy="1152902"/>
      </dsp:txXfrm>
    </dsp:sp>
    <dsp:sp modelId="{DBCBD93A-9956-DD4A-BDB7-52077BFB586F}">
      <dsp:nvSpPr>
        <dsp:cNvPr id="0" name=""/>
        <dsp:cNvSpPr/>
      </dsp:nvSpPr>
      <dsp:spPr>
        <a:xfrm>
          <a:off x="0" y="4123037"/>
          <a:ext cx="6261100" cy="1277640"/>
        </a:xfrm>
        <a:prstGeom prst="roundRect">
          <a:avLst/>
        </a:prstGeom>
        <a:gradFill rotWithShape="0">
          <a:gsLst>
            <a:gs pos="0">
              <a:schemeClr val="accent2">
                <a:hueOff val="5542319"/>
                <a:satOff val="-953"/>
                <a:lumOff val="-9804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5542319"/>
                <a:satOff val="-953"/>
                <a:lumOff val="-9804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5542319"/>
                <a:satOff val="-953"/>
                <a:lumOff val="-9804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300" kern="1200" dirty="0"/>
            <a:t>생성 모델</a:t>
          </a:r>
          <a:r>
            <a:rPr kumimoji="1" lang="en-US" sz="1300" kern="1200" dirty="0"/>
            <a:t>:</a:t>
          </a:r>
          <a:r>
            <a:rPr kumimoji="1" lang="ko-KR" sz="1300" kern="1200" dirty="0"/>
            <a:t> 자동 인코더를 학습시킨 후 </a:t>
          </a:r>
          <a:r>
            <a:rPr kumimoji="1" lang="ko-KR" sz="1300" kern="1200" dirty="0" err="1"/>
            <a:t>디코더</a:t>
          </a:r>
          <a:r>
            <a:rPr kumimoji="1" lang="ko-KR" sz="1300" kern="1200" dirty="0"/>
            <a:t> 부분을 사용하여 임의의 </a:t>
          </a:r>
          <a:r>
            <a:rPr kumimoji="1" lang="ko-KR" altLang="en-US" sz="1300" kern="1200" dirty="0"/>
            <a:t>잠재 </a:t>
          </a:r>
          <a:r>
            <a:rPr kumimoji="1" lang="en-US" altLang="ko-KR" sz="1300" kern="1200" dirty="0"/>
            <a:t>(latent) </a:t>
          </a:r>
          <a:r>
            <a:rPr kumimoji="1" lang="ko-KR" sz="1300" kern="1200" dirty="0"/>
            <a:t>벡터에서 시작하여 새로운 개체를 생성</a:t>
          </a:r>
          <a:endParaRPr lang="en-US" sz="1300" kern="1200" dirty="0"/>
        </a:p>
      </dsp:txBody>
      <dsp:txXfrm>
        <a:off x="62369" y="4185406"/>
        <a:ext cx="6136362" cy="11529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DC9387-919C-1848-9394-30BC472B1701}">
      <dsp:nvSpPr>
        <dsp:cNvPr id="0" name=""/>
        <dsp:cNvSpPr/>
      </dsp:nvSpPr>
      <dsp:spPr>
        <a:xfrm>
          <a:off x="0" y="1757"/>
          <a:ext cx="3460989" cy="11599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300" kern="1200"/>
            <a:t>기존의 자동 인코더는 입력 이미지의 중요한 특징을 파악하여 입력 데이터의 크기를 줄임</a:t>
          </a:r>
          <a:endParaRPr lang="en-US" sz="1300" kern="1200"/>
        </a:p>
      </dsp:txBody>
      <dsp:txXfrm>
        <a:off x="56623" y="58380"/>
        <a:ext cx="3347743" cy="1046689"/>
      </dsp:txXfrm>
    </dsp:sp>
    <dsp:sp modelId="{02ADDD76-3D5B-514D-8186-91EE35FF14F0}">
      <dsp:nvSpPr>
        <dsp:cNvPr id="0" name=""/>
        <dsp:cNvSpPr/>
      </dsp:nvSpPr>
      <dsp:spPr>
        <a:xfrm rot="5400000">
          <a:off x="6073451" y="-1276777"/>
          <a:ext cx="927948" cy="615287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300" kern="1200"/>
            <a:t>즉</a:t>
          </a:r>
          <a:r>
            <a:rPr kumimoji="1" lang="en-US" sz="1300" kern="1200"/>
            <a:t>, </a:t>
          </a:r>
          <a:r>
            <a:rPr kumimoji="1" lang="ko-KR" sz="1300" kern="1200"/>
            <a:t>가까운 잠재 </a:t>
          </a:r>
          <a:r>
            <a:rPr kumimoji="1" lang="en-US" sz="1300" kern="1200"/>
            <a:t>(latent) </a:t>
          </a:r>
          <a:r>
            <a:rPr kumimoji="1" lang="ko-KR" sz="1300" kern="1200"/>
            <a:t>벡터가 반드시 같은 숫자에 해당하는 것은 아니기 때문에 </a:t>
          </a:r>
          <a:r>
            <a:rPr kumimoji="1" lang="en-US" sz="1300" kern="1200"/>
            <a:t>MNIST </a:t>
          </a:r>
          <a:r>
            <a:rPr kumimoji="1" lang="ko-KR" sz="1300" kern="1200"/>
            <a:t>데이터 세트를 예로 들어 어떤 숫자가 다른 잠재 </a:t>
          </a:r>
          <a:r>
            <a:rPr kumimoji="1" lang="en-US" sz="1300" kern="1200"/>
            <a:t>(latent) </a:t>
          </a:r>
          <a:r>
            <a:rPr kumimoji="1" lang="ko-KR" sz="1300" kern="1200"/>
            <a:t>벡터에 해당하는지 파악하는 것은 쉬운 일이 아님</a:t>
          </a:r>
          <a:endParaRPr lang="en-US" sz="1300" kern="1200"/>
        </a:p>
      </dsp:txBody>
      <dsp:txXfrm rot="-5400000">
        <a:off x="3460990" y="1380983"/>
        <a:ext cx="6107572" cy="837350"/>
      </dsp:txXfrm>
    </dsp:sp>
    <dsp:sp modelId="{3BCA6F3B-945A-F741-B7BB-9071C61358C7}">
      <dsp:nvSpPr>
        <dsp:cNvPr id="0" name=""/>
        <dsp:cNvSpPr/>
      </dsp:nvSpPr>
      <dsp:spPr>
        <a:xfrm>
          <a:off x="0" y="1219690"/>
          <a:ext cx="3460989" cy="11599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300" kern="1200"/>
            <a:t>그러나 잠재 </a:t>
          </a:r>
          <a:r>
            <a:rPr kumimoji="1" lang="en-US" sz="1300" kern="1200"/>
            <a:t>(latent) </a:t>
          </a:r>
          <a:r>
            <a:rPr kumimoji="1" lang="ko-KR" sz="1300" kern="1200"/>
            <a:t>벡터는 종종 의미가 없는 경우가 많음</a:t>
          </a:r>
          <a:endParaRPr lang="en-US" sz="1300" kern="1200"/>
        </a:p>
      </dsp:txBody>
      <dsp:txXfrm>
        <a:off x="56623" y="1276313"/>
        <a:ext cx="3347743" cy="1046689"/>
      </dsp:txXfrm>
    </dsp:sp>
    <dsp:sp modelId="{4E87010B-2F02-3E49-BEEC-BF563BE41F6C}">
      <dsp:nvSpPr>
        <dsp:cNvPr id="0" name=""/>
        <dsp:cNvSpPr/>
      </dsp:nvSpPr>
      <dsp:spPr>
        <a:xfrm>
          <a:off x="0" y="2437622"/>
          <a:ext cx="3460989" cy="11599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300" kern="1200"/>
            <a:t>반면에 생성 모델을 훈련하려면 잠재 공간에 대해 어느 정도 이해하는 것이 좋은데 이 아이디어는 변형 자동 인코더</a:t>
          </a:r>
          <a:r>
            <a:rPr kumimoji="1" lang="en-US" sz="1300" kern="1200"/>
            <a:t>(VAE)</a:t>
          </a:r>
          <a:r>
            <a:rPr kumimoji="1" lang="ko-KR" sz="1300" kern="1200"/>
            <a:t>로 이어짐</a:t>
          </a:r>
          <a:endParaRPr lang="en-US" sz="1300" kern="1200"/>
        </a:p>
      </dsp:txBody>
      <dsp:txXfrm>
        <a:off x="56623" y="2494245"/>
        <a:ext cx="3347743" cy="10466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39FD6D-2244-5043-8F44-5AB0F3F4AB78}">
      <dsp:nvSpPr>
        <dsp:cNvPr id="0" name=""/>
        <dsp:cNvSpPr/>
      </dsp:nvSpPr>
      <dsp:spPr>
        <a:xfrm rot="5400000">
          <a:off x="5835137" y="-2198531"/>
          <a:ext cx="1404576" cy="615287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500" kern="1200"/>
            <a:t>평균 제곱 오차 또는 </a:t>
          </a:r>
          <a:r>
            <a:rPr kumimoji="1" lang="en-US" sz="1500" kern="1200"/>
            <a:t>MSE</a:t>
          </a:r>
          <a:r>
            <a:rPr kumimoji="1" lang="ko-KR" sz="1500" kern="1200"/>
            <a:t>일 수 있음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500" kern="1200"/>
            <a:t>일반 자동 인코더에서와 동일한 손실 함수</a:t>
          </a:r>
          <a:endParaRPr lang="en-US" sz="1500" kern="1200"/>
        </a:p>
      </dsp:txBody>
      <dsp:txXfrm rot="-5400000">
        <a:off x="3460990" y="244182"/>
        <a:ext cx="6084305" cy="1267444"/>
      </dsp:txXfrm>
    </dsp:sp>
    <dsp:sp modelId="{0A1F967C-0343-F14C-923C-F5DCC9509FD9}">
      <dsp:nvSpPr>
        <dsp:cNvPr id="0" name=""/>
        <dsp:cNvSpPr/>
      </dsp:nvSpPr>
      <dsp:spPr>
        <a:xfrm>
          <a:off x="0" y="43"/>
          <a:ext cx="3460989" cy="17557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800" kern="1200"/>
            <a:t>재구성 손실은 재구성된 이미지가 대상에 얼마나 가까운지를 나타내는 손실 함수</a:t>
          </a:r>
          <a:endParaRPr lang="en-US" sz="1800" kern="1200"/>
        </a:p>
      </dsp:txBody>
      <dsp:txXfrm>
        <a:off x="85707" y="85750"/>
        <a:ext cx="3289575" cy="1584307"/>
      </dsp:txXfrm>
    </dsp:sp>
    <dsp:sp modelId="{B3367CF9-04C4-A64F-A293-F542DFAC7408}">
      <dsp:nvSpPr>
        <dsp:cNvPr id="0" name=""/>
        <dsp:cNvSpPr/>
      </dsp:nvSpPr>
      <dsp:spPr>
        <a:xfrm rot="5400000">
          <a:off x="5835137" y="-355023"/>
          <a:ext cx="1404576" cy="615287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500" kern="1200"/>
            <a:t>이는 두 통계 분포가 얼마나 유사한지 추정하는 지표인 </a:t>
          </a:r>
          <a:r>
            <a:rPr kumimoji="1" lang="en-US" sz="1500" kern="1200"/>
            <a:t>Kullback-Leibler Divergence</a:t>
          </a:r>
          <a:r>
            <a:rPr kumimoji="1" lang="ko-KR" sz="1500" kern="1200"/>
            <a:t>개념을 기반으로 함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500" kern="1200"/>
            <a:t>근사치를 선택할 때 얼마나 많은 정보가 손실되는지 측정하는 데 도움</a:t>
          </a:r>
          <a:endParaRPr lang="en-US" sz="1500" kern="1200"/>
        </a:p>
      </dsp:txBody>
      <dsp:txXfrm rot="-5400000">
        <a:off x="3460990" y="2087690"/>
        <a:ext cx="6084305" cy="1267444"/>
      </dsp:txXfrm>
    </dsp:sp>
    <dsp:sp modelId="{A5FD15E6-19DA-D947-95C7-B744A191049C}">
      <dsp:nvSpPr>
        <dsp:cNvPr id="0" name=""/>
        <dsp:cNvSpPr/>
      </dsp:nvSpPr>
      <dsp:spPr>
        <a:xfrm>
          <a:off x="0" y="1843551"/>
          <a:ext cx="3460989" cy="17557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800" kern="1200"/>
            <a:t>Kullback-Leibler </a:t>
          </a:r>
          <a:r>
            <a:rPr kumimoji="1" lang="ko-KR" sz="1800" kern="1200"/>
            <a:t>손실은 잠재 변수 분포가 정규 분포에 가깝게 유지되도록 보장</a:t>
          </a:r>
          <a:endParaRPr lang="en-US" sz="1800" kern="1200"/>
        </a:p>
      </dsp:txBody>
      <dsp:txXfrm>
        <a:off x="85707" y="1929258"/>
        <a:ext cx="3289575" cy="158430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6FACD6-29D0-C841-BCF1-3611E4751A45}">
      <dsp:nvSpPr>
        <dsp:cNvPr id="0" name=""/>
        <dsp:cNvSpPr/>
      </dsp:nvSpPr>
      <dsp:spPr>
        <a:xfrm>
          <a:off x="0" y="367645"/>
          <a:ext cx="9613860" cy="1370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142" tIns="312420" rIns="746142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500" kern="1200"/>
            <a:t>예를 들어 꽃에 대해 초고해상도 네트워크를 학습시킨 경우 인물 사진에서는 잘 작동하지 않음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500" kern="1200"/>
            <a:t>네트워크는 훈련 데이터 세트에서 학습한 특징에서 미세한 디테일을 가져와서 더 높은 해상도의 이미지를 생성할 수 있기 때문</a:t>
          </a:r>
          <a:endParaRPr lang="en-US" sz="1500" kern="1200"/>
        </a:p>
      </dsp:txBody>
      <dsp:txXfrm>
        <a:off x="0" y="367645"/>
        <a:ext cx="9613860" cy="1370250"/>
      </dsp:txXfrm>
    </dsp:sp>
    <dsp:sp modelId="{4328F320-17A9-E74D-BF91-54BAD03195B0}">
      <dsp:nvSpPr>
        <dsp:cNvPr id="0" name=""/>
        <dsp:cNvSpPr/>
      </dsp:nvSpPr>
      <dsp:spPr>
        <a:xfrm>
          <a:off x="480693" y="146245"/>
          <a:ext cx="6729702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367" tIns="0" rIns="25436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500" kern="1200"/>
            <a:t>데이터 특정 </a:t>
          </a:r>
          <a:r>
            <a:rPr kumimoji="1" lang="en-US" sz="1500" kern="1200"/>
            <a:t>- </a:t>
          </a:r>
          <a:r>
            <a:rPr kumimoji="1" lang="ko-KR" sz="1500" kern="1200"/>
            <a:t>학습된 이미지 유형에 대해서만 잘 작동</a:t>
          </a:r>
          <a:endParaRPr lang="en-US" sz="1500" kern="1200"/>
        </a:p>
      </dsp:txBody>
      <dsp:txXfrm>
        <a:off x="502309" y="167861"/>
        <a:ext cx="6686470" cy="399568"/>
      </dsp:txXfrm>
    </dsp:sp>
    <dsp:sp modelId="{DE4D763C-B4EE-D84D-86AD-790D97590748}">
      <dsp:nvSpPr>
        <dsp:cNvPr id="0" name=""/>
        <dsp:cNvSpPr/>
      </dsp:nvSpPr>
      <dsp:spPr>
        <a:xfrm>
          <a:off x="0" y="2040295"/>
          <a:ext cx="9613860" cy="7323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142" tIns="312420" rIns="746142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500" kern="1200"/>
            <a:t>손실의 특성은 훈련 중에 사용된 손실 함수에 의해 정의됨</a:t>
          </a:r>
          <a:endParaRPr lang="en-US" sz="1500" kern="1200"/>
        </a:p>
      </dsp:txBody>
      <dsp:txXfrm>
        <a:off x="0" y="2040295"/>
        <a:ext cx="9613860" cy="732375"/>
      </dsp:txXfrm>
    </dsp:sp>
    <dsp:sp modelId="{2CA72E72-A19F-3B40-B322-1F9318615D62}">
      <dsp:nvSpPr>
        <dsp:cNvPr id="0" name=""/>
        <dsp:cNvSpPr/>
      </dsp:nvSpPr>
      <dsp:spPr>
        <a:xfrm>
          <a:off x="480693" y="1818895"/>
          <a:ext cx="6729702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367" tIns="0" rIns="25436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500" kern="1200"/>
            <a:t>손실 </a:t>
          </a:r>
          <a:r>
            <a:rPr kumimoji="1" lang="en-US" sz="1500" kern="1200"/>
            <a:t>- </a:t>
          </a:r>
          <a:r>
            <a:rPr kumimoji="1" lang="ko-KR" sz="1500" kern="1200"/>
            <a:t>재구성된 이미지가 원본 이미지와 동일하지 않음</a:t>
          </a:r>
          <a:endParaRPr lang="en-US" sz="1500" kern="1200"/>
        </a:p>
      </dsp:txBody>
      <dsp:txXfrm>
        <a:off x="502309" y="1840511"/>
        <a:ext cx="6686470" cy="399568"/>
      </dsp:txXfrm>
    </dsp:sp>
    <dsp:sp modelId="{7C13A9D6-8986-304A-B07D-B0201EE717E0}">
      <dsp:nvSpPr>
        <dsp:cNvPr id="0" name=""/>
        <dsp:cNvSpPr/>
      </dsp:nvSpPr>
      <dsp:spPr>
        <a:xfrm>
          <a:off x="0" y="3075070"/>
          <a:ext cx="961386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8515D3-14BD-D040-8A42-92A4152673E6}">
      <dsp:nvSpPr>
        <dsp:cNvPr id="0" name=""/>
        <dsp:cNvSpPr/>
      </dsp:nvSpPr>
      <dsp:spPr>
        <a:xfrm>
          <a:off x="480693" y="2853670"/>
          <a:ext cx="6729702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367" tIns="0" rIns="25436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500" kern="1200"/>
            <a:t>레이블이 없는 데이터에서 작동</a:t>
          </a:r>
          <a:endParaRPr lang="en-US" sz="1500" kern="1200"/>
        </a:p>
      </dsp:txBody>
      <dsp:txXfrm>
        <a:off x="502309" y="2875286"/>
        <a:ext cx="6686470" cy="399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736BBE-BFAE-9F43-B166-13FEFD314CB3}" type="datetimeFigureOut">
              <a:rPr kumimoji="1" lang="ko-KR" altLang="en-US" smtClean="0"/>
              <a:t>2024. 5. 19.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465AF-F441-2346-A316-A9FE97FE20D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34037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D7F90-C814-0C4D-B292-1B52260158C6}" type="datetime1">
              <a:rPr lang="ko-KR" altLang="en-US" smtClean="0"/>
              <a:t>2024. 5. 19.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832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46631-B2E8-5949-9E3D-AB029F41E8D4}" type="datetime1">
              <a:rPr lang="ko-KR" altLang="en-US" smtClean="0"/>
              <a:t>2024. 5. 19.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866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057F4-5739-B746-B898-0F942E5F0EE3}" type="datetime1">
              <a:rPr lang="ko-KR" altLang="en-US" smtClean="0"/>
              <a:t>2024. 5. 19.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55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C826B-1F54-584A-852E-391B2B687534}" type="datetime1">
              <a:rPr lang="ko-KR" altLang="en-US" smtClean="0"/>
              <a:t>2024. 5. 19.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672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3DAE3-FF81-8546-A688-039B0024C8BD}" type="datetime1">
              <a:rPr lang="ko-KR" altLang="en-US" smtClean="0"/>
              <a:t>2024. 5. 19.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82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DF866-076F-3142-B7C8-09131416A95C}" type="datetime1">
              <a:rPr lang="ko-KR" altLang="en-US" smtClean="0"/>
              <a:t>2024. 5. 19.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990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C9E19-8DB9-C84C-A36A-6FBA44461F64}" type="datetime1">
              <a:rPr lang="ko-KR" altLang="en-US" smtClean="0"/>
              <a:t>2024. 5. 19.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295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C80EF-8F9F-1042-B285-DD6EB5795424}" type="datetime1">
              <a:rPr lang="ko-KR" altLang="en-US" smtClean="0"/>
              <a:t>2024. 5. 19.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097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BBC8A-D7F6-8B4D-928B-18CAAD860692}" type="datetime1">
              <a:rPr lang="ko-KR" altLang="en-US" smtClean="0"/>
              <a:t>2024. 5. 19.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02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E16-056D-A045-9C8A-09D8C93D24F6}" type="datetime1">
              <a:rPr lang="ko-KR" altLang="en-US" smtClean="0"/>
              <a:t>2024. 5. 19.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601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6FE23-DE78-824F-AEB7-9327F603B104}" type="datetime1">
              <a:rPr lang="ko-KR" altLang="en-US" smtClean="0"/>
              <a:t>2024. 5. 19.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441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CBE5-BB0D-5749-A754-D64658E0FC2C}" type="datetime1">
              <a:rPr lang="ko-KR" altLang="en-US" smtClean="0"/>
              <a:t>2024. 5. 19.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83861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D042F-DBA4-7A43-B49D-EC395945E9DE}" type="datetime1">
              <a:rPr lang="ko-KR" altLang="en-US" smtClean="0"/>
              <a:t>2024. 5. 19.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500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6DEF-5881-0D49-AF84-1D7F97D7A773}" type="datetime1">
              <a:rPr lang="ko-KR" altLang="en-US" smtClean="0"/>
              <a:t>2024. 5. 19.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068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CF06F-CD6C-0149-AE1C-BC16F411653C}" type="datetime1">
              <a:rPr lang="ko-KR" altLang="en-US" smtClean="0"/>
              <a:t>2024. 5. 19.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6730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7CBA2-8D22-3840-9729-7D140403E6C2}" type="datetime1">
              <a:rPr lang="ko-KR" altLang="en-US" smtClean="0"/>
              <a:t>2024. 5. 19.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5497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9B250C0B-2BB5-5D47-92EC-F70355769266}" type="datetime1">
              <a:rPr lang="ko-KR" altLang="en-US" smtClean="0"/>
              <a:t>2024. 5. 19.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868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FF4667-600B-7648-B695-525CBB42900C}" type="datetime1">
              <a:rPr lang="ko-KR" altLang="en-US" smtClean="0"/>
              <a:t>2024. 5. 19.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6579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  <p:sldLayoutId id="2147483873" r:id="rId12"/>
    <p:sldLayoutId id="2147483874" r:id="rId13"/>
    <p:sldLayoutId id="2147483875" r:id="rId14"/>
    <p:sldLayoutId id="2147483876" r:id="rId15"/>
    <p:sldLayoutId id="2147483877" r:id="rId16"/>
    <p:sldLayoutId id="2147483878" r:id="rId1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D3E715-BBCA-5C4B-2692-46B8628A25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652585"/>
            <a:ext cx="4800600" cy="3766268"/>
          </a:xfrm>
        </p:spPr>
        <p:txBody>
          <a:bodyPr anchor="t">
            <a:normAutofit/>
          </a:bodyPr>
          <a:lstStyle/>
          <a:p>
            <a:pPr algn="l"/>
            <a:r>
              <a:rPr kumimoji="1" lang="en-US" altLang="ko-KR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Autoencoders</a:t>
            </a:r>
            <a:endParaRPr kumimoji="1" lang="en-US" altLang="ko-KR" dirty="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E3CA5E-7C02-301E-B4E8-D028991509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762000"/>
            <a:ext cx="4800600" cy="1066800"/>
          </a:xfrm>
        </p:spPr>
        <p:txBody>
          <a:bodyPr>
            <a:normAutofit/>
          </a:bodyPr>
          <a:lstStyle/>
          <a:p>
            <a:pPr algn="l"/>
            <a:r>
              <a:rPr kumimoji="1" lang="en-US" altLang="ko-KR" sz="2200">
                <a:solidFill>
                  <a:schemeClr val="tx2">
                    <a:alpha val="60000"/>
                  </a:schemeClr>
                </a:solidFill>
              </a:rPr>
              <a:t>Foundation of AI</a:t>
            </a:r>
            <a:endParaRPr kumimoji="1" lang="ko-KR" altLang="en-US" sz="2200">
              <a:solidFill>
                <a:schemeClr val="tx2">
                  <a:alpha val="60000"/>
                </a:scheme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9B2E7E-708C-5264-7062-592780F0B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E0BB23-952E-CE3A-6D69-51F800C8F8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l="15523" r="21935"/>
          <a:stretch/>
        </p:blipFill>
        <p:spPr>
          <a:xfrm>
            <a:off x="6096000" y="10"/>
            <a:ext cx="6083807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714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85431EB-A0B3-A8AE-0C21-EF449BCD8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kumimoji="1" lang="en-US" altLang="ko-KR" sz="4400" dirty="0"/>
              <a:t>Autoencoders</a:t>
            </a:r>
            <a:endParaRPr kumimoji="1" lang="ko-KR" altLang="en-US" sz="4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CB1B12-DBA2-37ED-B703-125C879AF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1776" y="6336872"/>
            <a:ext cx="722655" cy="3657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4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 sz="1400">
              <a:solidFill>
                <a:srgbClr val="FFFFFF"/>
              </a:solidFill>
            </a:endParaRPr>
          </a:p>
        </p:txBody>
      </p:sp>
      <p:graphicFrame>
        <p:nvGraphicFramePr>
          <p:cNvPr id="6" name="내용 개체 틀 2">
            <a:extLst>
              <a:ext uri="{FF2B5EF4-FFF2-40B4-BE49-F238E27FC236}">
                <a16:creationId xmlns:a16="http://schemas.microsoft.com/office/drawing/2014/main" id="{D4FC7E39-5B00-F1D3-4BE1-5B3E44903E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8503269"/>
              </p:ext>
            </p:extLst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849604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C45AD9C-F21B-4046-AF68-07A246947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F5BD6E-AB48-4A2D-AA03-D787D54FA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221115A-B66A-4D35-9D9F-97A91D887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63704"/>
            <a:ext cx="10437812" cy="32116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BC72B1C-D4EE-45CF-A99C-0AD017C41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609600"/>
            <a:ext cx="10437812" cy="13681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BAD6C6A-D35A-0E7A-3F3D-FE125389D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kumimoji="1" lang="en-US" altLang="ko-KR" dirty="0">
                <a:solidFill>
                  <a:srgbClr val="FFFFFF"/>
                </a:solidFill>
              </a:rPr>
              <a:t>Autoencoders</a:t>
            </a:r>
            <a:r>
              <a:rPr kumimoji="1" lang="ko-KR" altLang="en-US" dirty="0">
                <a:solidFill>
                  <a:srgbClr val="FFFFFF"/>
                </a:solidFill>
              </a:rPr>
              <a:t> </a:t>
            </a:r>
            <a:r>
              <a:rPr kumimoji="1" lang="en-US" altLang="ko-KR" dirty="0">
                <a:solidFill>
                  <a:srgbClr val="FFFFFF"/>
                </a:solidFill>
              </a:rPr>
              <a:t>(cont’d)</a:t>
            </a:r>
            <a:endParaRPr kumimoji="1" lang="ko-KR" altLang="en-US" dirty="0">
              <a:solidFill>
                <a:srgbClr val="FFFFFF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8AB44AF-E52F-46C5-8C2C-8487AC8B1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5B2FDF3-1FF8-4FBF-842A-4EA5719F3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9003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97E96D-6BCC-69D8-6275-B7C16A32B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9455" y="753227"/>
            <a:ext cx="1154151" cy="109078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389DEC8-49B8-4778-BB47-FF48E8C5B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885714"/>
            <a:ext cx="10437812" cy="321164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F550B33-5759-49FD-90FC-11EA4ED58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2116667"/>
            <a:ext cx="10439400" cy="3793206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148680-3916-5E6D-9871-5541D18FF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437831"/>
            <a:ext cx="9114023" cy="3150308"/>
          </a:xfrm>
        </p:spPr>
        <p:txBody>
          <a:bodyPr>
            <a:normAutofit/>
          </a:bodyPr>
          <a:lstStyle/>
          <a:p>
            <a:r>
              <a:rPr kumimoji="1" lang="ko-KR" altLang="en-US" sz="2000" dirty="0">
                <a:solidFill>
                  <a:srgbClr val="FFFFFF"/>
                </a:solidFill>
              </a:rPr>
              <a:t>라벨이 없는 데이터의 효율적인 코딩을 학습하는 데 사용되는 인공 신경망의 일종</a:t>
            </a:r>
            <a:endParaRPr kumimoji="1" lang="en-US" altLang="ko-KR" sz="2000" dirty="0">
              <a:solidFill>
                <a:srgbClr val="FFFFFF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>
                <a:solidFill>
                  <a:srgbClr val="FFFFFF"/>
                </a:solidFill>
              </a:rPr>
              <a:t>자기 지도 학습</a:t>
            </a:r>
            <a:r>
              <a:rPr kumimoji="1" lang="en-US" altLang="ko-KR" dirty="0">
                <a:solidFill>
                  <a:srgbClr val="FFFFFF"/>
                </a:solidFill>
              </a:rPr>
              <a:t> (self supervised learning)</a:t>
            </a:r>
            <a:r>
              <a:rPr kumimoji="1" lang="ko-KR" altLang="en-US" dirty="0">
                <a:solidFill>
                  <a:srgbClr val="FFFFFF"/>
                </a:solidFill>
              </a:rPr>
              <a:t>이라고 하는 </a:t>
            </a:r>
            <a:r>
              <a:rPr kumimoji="1" lang="en" altLang="ko-KR" dirty="0">
                <a:solidFill>
                  <a:srgbClr val="FFFFFF"/>
                </a:solidFill>
              </a:rPr>
              <a:t>CNN </a:t>
            </a:r>
            <a:r>
              <a:rPr kumimoji="1" lang="ko-KR" altLang="en-US" dirty="0">
                <a:solidFill>
                  <a:srgbClr val="FFFFFF"/>
                </a:solidFill>
              </a:rPr>
              <a:t>특징 </a:t>
            </a:r>
            <a:r>
              <a:rPr kumimoji="1" lang="ko-KR" altLang="en-US" dirty="0" err="1">
                <a:solidFill>
                  <a:srgbClr val="FFFFFF"/>
                </a:solidFill>
              </a:rPr>
              <a:t>추출기</a:t>
            </a:r>
            <a:r>
              <a:rPr kumimoji="1" lang="ko-KR" altLang="en-US" dirty="0">
                <a:solidFill>
                  <a:srgbClr val="FFFFFF"/>
                </a:solidFill>
              </a:rPr>
              <a:t> 훈련에 레이블이 없는 원시 </a:t>
            </a:r>
            <a:r>
              <a:rPr kumimoji="1" lang="en-US" altLang="ko-KR" dirty="0">
                <a:solidFill>
                  <a:srgbClr val="FFFFFF"/>
                </a:solidFill>
              </a:rPr>
              <a:t>(raw)</a:t>
            </a:r>
            <a:r>
              <a:rPr kumimoji="1" lang="ko-KR" altLang="en-US" dirty="0">
                <a:solidFill>
                  <a:srgbClr val="FFFFFF"/>
                </a:solidFill>
              </a:rPr>
              <a:t> 데이터를 사용할 수도 있음</a:t>
            </a:r>
            <a:endParaRPr kumimoji="1" lang="en-US" altLang="ko-KR" dirty="0">
              <a:solidFill>
                <a:srgbClr val="FFFFFF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>
                <a:solidFill>
                  <a:srgbClr val="FFFFFF"/>
                </a:solidFill>
              </a:rPr>
              <a:t>레이블 대신 훈련 이미지를 네트워크 입력과 출력으로 모두 사용</a:t>
            </a:r>
            <a:endParaRPr kumimoji="1" lang="en-US" altLang="ko-KR" dirty="0">
              <a:solidFill>
                <a:srgbClr val="FFFFFF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>
                <a:solidFill>
                  <a:srgbClr val="FFFFFF"/>
                </a:solidFill>
              </a:rPr>
              <a:t>자동 인코더의 아이디어는 입력 이미지를 일부 잠재 공간</a:t>
            </a:r>
            <a:r>
              <a:rPr kumimoji="1" lang="en-US" altLang="ko-KR" dirty="0">
                <a:solidFill>
                  <a:srgbClr val="FFFFFF"/>
                </a:solidFill>
              </a:rPr>
              <a:t>(</a:t>
            </a:r>
            <a:r>
              <a:rPr kumimoji="1" lang="ko-KR" altLang="en-US" dirty="0">
                <a:solidFill>
                  <a:srgbClr val="FFFFFF"/>
                </a:solidFill>
              </a:rPr>
              <a:t>일반적으로는 더 작은 크기의 벡터</a:t>
            </a:r>
            <a:r>
              <a:rPr kumimoji="1" lang="en-US" altLang="ko-KR" dirty="0">
                <a:solidFill>
                  <a:srgbClr val="FFFFFF"/>
                </a:solidFill>
              </a:rPr>
              <a:t>)</a:t>
            </a:r>
            <a:r>
              <a:rPr kumimoji="1" lang="ko-KR" altLang="en-US" dirty="0" err="1">
                <a:solidFill>
                  <a:srgbClr val="FFFFFF"/>
                </a:solidFill>
              </a:rPr>
              <a:t>으로</a:t>
            </a:r>
            <a:r>
              <a:rPr kumimoji="1" lang="ko-KR" altLang="en-US" dirty="0">
                <a:solidFill>
                  <a:srgbClr val="FFFFFF"/>
                </a:solidFill>
              </a:rPr>
              <a:t> 변환하는 인코더 네트워크와 원본 이미지를 재구성하는 것이 목표인 </a:t>
            </a:r>
            <a:r>
              <a:rPr kumimoji="1" lang="ko-KR" altLang="en-US" dirty="0" err="1">
                <a:solidFill>
                  <a:srgbClr val="FFFFFF"/>
                </a:solidFill>
              </a:rPr>
              <a:t>디코더</a:t>
            </a:r>
            <a:r>
              <a:rPr kumimoji="1" lang="ko-KR" altLang="en-US" dirty="0">
                <a:solidFill>
                  <a:srgbClr val="FFFFFF"/>
                </a:solidFill>
              </a:rPr>
              <a:t> 네트워크를 갖는다는 것</a:t>
            </a:r>
          </a:p>
        </p:txBody>
      </p:sp>
    </p:spTree>
    <p:extLst>
      <p:ext uri="{BB962C8B-B14F-4D97-AF65-F5344CB8AC3E}">
        <p14:creationId xmlns:p14="http://schemas.microsoft.com/office/powerpoint/2010/main" val="4140015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C610D2AE-07EF-436A-9755-AA8DF4B93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3" name="Picture 1032">
            <a:extLst>
              <a:ext uri="{FF2B5EF4-FFF2-40B4-BE49-F238E27FC236}">
                <a16:creationId xmlns:a16="http://schemas.microsoft.com/office/drawing/2014/main" id="{6CACDD17-9043-46DF-882D-420365B79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35" name="Rectangle 1034">
            <a:extLst>
              <a:ext uri="{FF2B5EF4-FFF2-40B4-BE49-F238E27FC236}">
                <a16:creationId xmlns:a16="http://schemas.microsoft.com/office/drawing/2014/main" id="{CF2D8AD5-434A-4C0E-9F5B-C1AFD645F3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06E879A-FCBC-CB17-EFEA-9D2549487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>
            <a:normAutofit/>
          </a:bodyPr>
          <a:lstStyle/>
          <a:p>
            <a:r>
              <a:rPr kumimoji="1" lang="en-US" altLang="ko-KR" sz="2400"/>
              <a:t>Autoencoders</a:t>
            </a:r>
            <a:r>
              <a:rPr kumimoji="1" lang="ko-KR" altLang="en-US" sz="2400"/>
              <a:t> </a:t>
            </a:r>
            <a:r>
              <a:rPr kumimoji="1" lang="en-US" altLang="ko-KR" sz="2400"/>
              <a:t>(cont’d)</a:t>
            </a:r>
            <a:endParaRPr kumimoji="1" lang="ko-KR" altLang="en-US" sz="2400"/>
          </a:p>
        </p:txBody>
      </p:sp>
      <p:pic>
        <p:nvPicPr>
          <p:cNvPr id="1037" name="Picture 1036">
            <a:extLst>
              <a:ext uri="{FF2B5EF4-FFF2-40B4-BE49-F238E27FC236}">
                <a16:creationId xmlns:a16="http://schemas.microsoft.com/office/drawing/2014/main" id="{E92B246D-47CC-40F8-8DE7-B65D409E9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97876C-3D35-B242-F7B3-353361CD8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4136123" cy="3599316"/>
          </a:xfrm>
        </p:spPr>
        <p:txBody>
          <a:bodyPr>
            <a:normAutofit/>
          </a:bodyPr>
          <a:lstStyle/>
          <a:p>
            <a:r>
              <a:rPr kumimoji="1" lang="ko-KR" altLang="en-US" sz="1800"/>
              <a:t>정확한 재구성을 위해 원본 이미지에서 최대한 많은 정보를 캡처하도록 자동 인코더를 학습시키기 때문에 네트워크는 입력 이미지의 의미를 포착할 수 있는 최적의 임베딩을 찾으려고 함</a:t>
            </a:r>
            <a:endParaRPr kumimoji="1" lang="en-US" altLang="ko-KR" sz="1800"/>
          </a:p>
          <a:p>
            <a:pPr marL="0" indent="0">
              <a:buNone/>
            </a:pPr>
            <a:endParaRPr kumimoji="1" lang="ko-KR" altLang="en-US" sz="1800"/>
          </a:p>
        </p:txBody>
      </p:sp>
      <p:pic>
        <p:nvPicPr>
          <p:cNvPr id="1026" name="Picture 2" descr="AutoEncoder Diagram">
            <a:extLst>
              <a:ext uri="{FF2B5EF4-FFF2-40B4-BE49-F238E27FC236}">
                <a16:creationId xmlns:a16="http://schemas.microsoft.com/office/drawing/2014/main" id="{57426B69-393B-F5BD-136A-52E1604C9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76090" y="2421016"/>
            <a:ext cx="6303134" cy="1985487"/>
          </a:xfrm>
          <a:prstGeom prst="rect">
            <a:avLst/>
          </a:prstGeo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71ABA1-D5AF-86EA-C575-0AC37726E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0372" y="6310314"/>
            <a:ext cx="914400" cy="36512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05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 sz="10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866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C4D71F4-E6D2-772A-AADD-2A3F2DD56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kumimoji="1" lang="en" altLang="ko-KR" sz="4400"/>
              <a:t>Scenarios for using Autoencoders</a:t>
            </a:r>
            <a:endParaRPr kumimoji="1" lang="ko-KR" altLang="en-US" sz="44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EF81E2-366A-1D17-8F23-57425DADB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1776" y="6336872"/>
            <a:ext cx="722655" cy="3657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4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 sz="1400">
              <a:solidFill>
                <a:srgbClr val="FFFFFF"/>
              </a:solidFill>
            </a:endParaRPr>
          </a:p>
        </p:txBody>
      </p:sp>
      <p:graphicFrame>
        <p:nvGraphicFramePr>
          <p:cNvPr id="6" name="내용 개체 틀 2">
            <a:extLst>
              <a:ext uri="{FF2B5EF4-FFF2-40B4-BE49-F238E27FC236}">
                <a16:creationId xmlns:a16="http://schemas.microsoft.com/office/drawing/2014/main" id="{9D2F7F44-E9B3-3927-0E40-89368BE051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2185053"/>
              </p:ext>
            </p:extLst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411343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CD9F5E-1667-A98C-E4B3-003AF506F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altLang="ko-KR" b="1" i="0" dirty="0">
                <a:solidFill>
                  <a:srgbClr val="E6EDF3"/>
                </a:solidFill>
                <a:effectLst/>
                <a:highlight>
                  <a:srgbClr val="0D1117"/>
                </a:highlight>
                <a:latin typeface="-apple-system"/>
              </a:rPr>
              <a:t>Variational Autoencoders (VAE)</a:t>
            </a:r>
            <a:endParaRPr kumimoji="1" lang="ko-KR" altLang="en-US" dirty="0"/>
          </a:p>
        </p:txBody>
      </p:sp>
      <p:graphicFrame>
        <p:nvGraphicFramePr>
          <p:cNvPr id="8" name="내용 개체 틀 2">
            <a:extLst>
              <a:ext uri="{FF2B5EF4-FFF2-40B4-BE49-F238E27FC236}">
                <a16:creationId xmlns:a16="http://schemas.microsoft.com/office/drawing/2014/main" id="{EDE9D0A2-6D82-C84C-8EFC-34EF6E817CB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0321" y="2336873"/>
          <a:ext cx="9613861" cy="3599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AA198B-930B-6759-C29F-63436F1F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89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B0FA309-807F-4C17-98EF-A3BA7388E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42A87B-CAE9-4F8F-B293-28388E45D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8FA1749-B91A-40E7-AD01-0B9C9C6AF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B7A934F-FFF7-4353-83D3-4EF66E93E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00676C8-6DE8-47DD-9A23-D42063A12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5431D52-F353-D331-2BC3-B74B3F2C9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kumimoji="1" lang="en" altLang="ko-KR" sz="4400">
                <a:solidFill>
                  <a:srgbClr val="FFFFFF"/>
                </a:solidFill>
              </a:rPr>
              <a:t>Variational Autoencoders (VAE)</a:t>
            </a:r>
            <a:r>
              <a:rPr kumimoji="1" lang="ko-KR" altLang="en-US" sz="4400">
                <a:solidFill>
                  <a:srgbClr val="FFFFFF"/>
                </a:solidFill>
              </a:rPr>
              <a:t> </a:t>
            </a:r>
            <a:r>
              <a:rPr kumimoji="1" lang="en-US" altLang="ko-KR" sz="4400">
                <a:solidFill>
                  <a:srgbClr val="FFFFFF"/>
                </a:solidFill>
              </a:rPr>
              <a:t>(cont’d)</a:t>
            </a:r>
            <a:endParaRPr kumimoji="1" lang="ko-KR" altLang="en-US" sz="4400">
              <a:solidFill>
                <a:srgbClr val="FFFFF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4EF1B4-F73E-4C01-037F-9F0F10578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7995" y="661106"/>
            <a:ext cx="6257362" cy="5503101"/>
          </a:xfrm>
        </p:spPr>
        <p:txBody>
          <a:bodyPr anchor="ctr">
            <a:normAutofit/>
          </a:bodyPr>
          <a:lstStyle/>
          <a:p>
            <a:r>
              <a:rPr kumimoji="1" lang="en" altLang="ko-KR" sz="2000" dirty="0">
                <a:solidFill>
                  <a:srgbClr val="FFFFFF"/>
                </a:solidFill>
              </a:rPr>
              <a:t>VAE</a:t>
            </a:r>
            <a:r>
              <a:rPr kumimoji="1" lang="ko-KR" altLang="en-US" sz="2000" dirty="0">
                <a:solidFill>
                  <a:srgbClr val="FFFFFF"/>
                </a:solidFill>
              </a:rPr>
              <a:t>는 잠재 </a:t>
            </a:r>
            <a:r>
              <a:rPr kumimoji="1" lang="en-US" altLang="ko-KR" sz="2000" dirty="0">
                <a:solidFill>
                  <a:srgbClr val="FFFFFF"/>
                </a:solidFill>
              </a:rPr>
              <a:t>(latent) </a:t>
            </a:r>
            <a:r>
              <a:rPr kumimoji="1" lang="ko-KR" altLang="en-US" sz="2000" dirty="0">
                <a:solidFill>
                  <a:srgbClr val="FFFFFF"/>
                </a:solidFill>
              </a:rPr>
              <a:t>파라미터의 통계적 분포</a:t>
            </a:r>
            <a:r>
              <a:rPr kumimoji="1" lang="en-US" altLang="ko-KR" sz="2000" dirty="0">
                <a:solidFill>
                  <a:srgbClr val="FFFFFF"/>
                </a:solidFill>
              </a:rPr>
              <a:t>, </a:t>
            </a:r>
            <a:r>
              <a:rPr kumimoji="1" lang="ko-KR" altLang="en-US" sz="2000" dirty="0">
                <a:solidFill>
                  <a:srgbClr val="FFFFFF"/>
                </a:solidFill>
              </a:rPr>
              <a:t>이른바 잠재 </a:t>
            </a:r>
            <a:r>
              <a:rPr kumimoji="1" lang="en-US" altLang="ko-KR" sz="2000" dirty="0">
                <a:solidFill>
                  <a:srgbClr val="FFFFFF"/>
                </a:solidFill>
              </a:rPr>
              <a:t>(latent) </a:t>
            </a:r>
            <a:r>
              <a:rPr kumimoji="1" lang="ko-KR" altLang="en-US" sz="2000" dirty="0">
                <a:solidFill>
                  <a:srgbClr val="FFFFFF"/>
                </a:solidFill>
              </a:rPr>
              <a:t>분포를 예측하는 방법을 학습하는 자동 인코더</a:t>
            </a:r>
            <a:endParaRPr kumimoji="1" lang="en-US" altLang="ko-KR" sz="2000" dirty="0">
              <a:solidFill>
                <a:srgbClr val="FFFFFF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>
                <a:solidFill>
                  <a:srgbClr val="FFFFFF"/>
                </a:solidFill>
              </a:rPr>
              <a:t>예를 들어</a:t>
            </a:r>
            <a:r>
              <a:rPr kumimoji="1" lang="en-US" altLang="ko-KR" dirty="0">
                <a:solidFill>
                  <a:srgbClr val="FFFFFF"/>
                </a:solidFill>
              </a:rPr>
              <a:t>, </a:t>
            </a:r>
            <a:r>
              <a:rPr kumimoji="1" lang="ko-KR" altLang="en-US" dirty="0">
                <a:solidFill>
                  <a:srgbClr val="FFFFFF"/>
                </a:solidFill>
              </a:rPr>
              <a:t>잠재 </a:t>
            </a:r>
            <a:r>
              <a:rPr kumimoji="1" lang="en-US" altLang="ko-KR" dirty="0">
                <a:solidFill>
                  <a:srgbClr val="FFFFFF"/>
                </a:solidFill>
              </a:rPr>
              <a:t>(latent) </a:t>
            </a:r>
            <a:r>
              <a:rPr kumimoji="1" lang="ko-KR" altLang="en-US" dirty="0">
                <a:solidFill>
                  <a:srgbClr val="FFFFFF"/>
                </a:solidFill>
              </a:rPr>
              <a:t>벡터가 평균 </a:t>
            </a:r>
            <a:r>
              <a:rPr kumimoji="1" lang="en" altLang="ko-KR" dirty="0" err="1">
                <a:solidFill>
                  <a:srgbClr val="FFFFFF"/>
                </a:solidFill>
              </a:rPr>
              <a:t>zmean</a:t>
            </a:r>
            <a:r>
              <a:rPr kumimoji="1" lang="ko-KR" altLang="en-US" dirty="0">
                <a:solidFill>
                  <a:srgbClr val="FFFFFF"/>
                </a:solidFill>
              </a:rPr>
              <a:t>과 표준편차 </a:t>
            </a:r>
            <a:r>
              <a:rPr kumimoji="1" lang="en" altLang="ko-KR" dirty="0" err="1">
                <a:solidFill>
                  <a:srgbClr val="FFFFFF"/>
                </a:solidFill>
              </a:rPr>
              <a:t>zsigma</a:t>
            </a:r>
            <a:r>
              <a:rPr kumimoji="1" lang="en" altLang="ko-KR" dirty="0">
                <a:solidFill>
                  <a:srgbClr val="FFFFFF"/>
                </a:solidFill>
              </a:rPr>
              <a:t>(</a:t>
            </a:r>
            <a:r>
              <a:rPr kumimoji="1" lang="ko-KR" altLang="en-US" dirty="0">
                <a:solidFill>
                  <a:srgbClr val="FFFFFF"/>
                </a:solidFill>
              </a:rPr>
              <a:t>평균과 표준편차 모두 일부 차원 </a:t>
            </a:r>
            <a:r>
              <a:rPr kumimoji="1" lang="en" altLang="ko-KR" dirty="0">
                <a:solidFill>
                  <a:srgbClr val="FFFFFF"/>
                </a:solidFill>
              </a:rPr>
              <a:t>d</a:t>
            </a:r>
            <a:r>
              <a:rPr kumimoji="1" lang="ko-KR" altLang="en-US" dirty="0">
                <a:solidFill>
                  <a:srgbClr val="FFFFFF"/>
                </a:solidFill>
              </a:rPr>
              <a:t>의 벡터</a:t>
            </a:r>
            <a:r>
              <a:rPr kumimoji="1" lang="en-US" altLang="ko-KR" dirty="0">
                <a:solidFill>
                  <a:srgbClr val="FFFFFF"/>
                </a:solidFill>
              </a:rPr>
              <a:t>)</a:t>
            </a:r>
            <a:r>
              <a:rPr kumimoji="1" lang="ko-KR" altLang="en-US" dirty="0">
                <a:solidFill>
                  <a:srgbClr val="FFFFFF"/>
                </a:solidFill>
              </a:rPr>
              <a:t>로 정규 분포되기를 원할 수 있음</a:t>
            </a:r>
            <a:endParaRPr kumimoji="1" lang="en-US" altLang="ko-KR" dirty="0">
              <a:solidFill>
                <a:srgbClr val="FFFFFF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kumimoji="1" lang="en" altLang="ko-KR" dirty="0">
                <a:solidFill>
                  <a:srgbClr val="FFFFFF"/>
                </a:solidFill>
              </a:rPr>
              <a:t>VAE</a:t>
            </a:r>
            <a:r>
              <a:rPr kumimoji="1" lang="ko-KR" altLang="en-US" dirty="0">
                <a:solidFill>
                  <a:srgbClr val="FFFFFF"/>
                </a:solidFill>
              </a:rPr>
              <a:t>의 인코더는 이러한 매개변수를 예측하는 방법을 학습한 다음</a:t>
            </a:r>
            <a:r>
              <a:rPr kumimoji="1" lang="en-US" altLang="ko-KR" dirty="0">
                <a:solidFill>
                  <a:srgbClr val="FFFFFF"/>
                </a:solidFill>
              </a:rPr>
              <a:t>, </a:t>
            </a:r>
            <a:r>
              <a:rPr kumimoji="1" lang="ko-KR" altLang="en-US" dirty="0" err="1">
                <a:solidFill>
                  <a:srgbClr val="FFFFFF"/>
                </a:solidFill>
              </a:rPr>
              <a:t>디코더는</a:t>
            </a:r>
            <a:r>
              <a:rPr kumimoji="1" lang="ko-KR" altLang="en-US" dirty="0">
                <a:solidFill>
                  <a:srgbClr val="FFFFFF"/>
                </a:solidFill>
              </a:rPr>
              <a:t> 이 분포에서 임의의 벡터를 가져와 객체를 재구성</a:t>
            </a:r>
            <a:endParaRPr kumimoji="1" lang="en-US" altLang="ko-KR" dirty="0">
              <a:solidFill>
                <a:srgbClr val="FFFFFF"/>
              </a:solidFill>
            </a:endParaRPr>
          </a:p>
          <a:p>
            <a:endParaRPr kumimoji="1" lang="ko-KR" altLang="en-US" sz="2000" dirty="0">
              <a:solidFill>
                <a:srgbClr val="FFFFFF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D41706-A91E-E1FD-8AF7-4155D38E4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1776" y="6164207"/>
            <a:ext cx="722655" cy="3657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05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 sz="105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677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2054">
            <a:extLst>
              <a:ext uri="{FF2B5EF4-FFF2-40B4-BE49-F238E27FC236}">
                <a16:creationId xmlns:a16="http://schemas.microsoft.com/office/drawing/2014/main" id="{B3F9E774-F054-4892-8E69-C76B2C854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8925"/>
              </a:gs>
              <a:gs pos="50000">
                <a:srgbClr val="D54209"/>
              </a:gs>
              <a:gs pos="100000">
                <a:srgbClr val="8D0000"/>
              </a:gs>
            </a:gsLst>
            <a:lin ang="2520000" scaled="0"/>
          </a:gradFill>
        </p:spPr>
      </p:pic>
      <p:pic>
        <p:nvPicPr>
          <p:cNvPr id="2057" name="Picture 2056">
            <a:extLst>
              <a:ext uri="{FF2B5EF4-FFF2-40B4-BE49-F238E27FC236}">
                <a16:creationId xmlns:a16="http://schemas.microsoft.com/office/drawing/2014/main" id="{BEF6A099-2A38-4C66-88FF-FDBCB564E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59" name="Rectangle 2058">
            <a:extLst>
              <a:ext uri="{FF2B5EF4-FFF2-40B4-BE49-F238E27FC236}">
                <a16:creationId xmlns:a16="http://schemas.microsoft.com/office/drawing/2014/main" id="{D0D98427-7B26-46E2-93FE-CB8CD38542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B15A4233-F980-4EF6-B2C0-D7C63E752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465D99E-116E-0D79-855C-390E82CFB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>
            <a:normAutofit/>
          </a:bodyPr>
          <a:lstStyle/>
          <a:p>
            <a:r>
              <a:rPr kumimoji="1" lang="en-US" altLang="ko-KR" sz="2400">
                <a:solidFill>
                  <a:srgbClr val="FFFFFF"/>
                </a:solidFill>
              </a:rPr>
              <a:t>Summarization</a:t>
            </a:r>
            <a:endParaRPr kumimoji="1" lang="ko-KR" altLang="en-US" sz="2400">
              <a:solidFill>
                <a:srgbClr val="FFFFFF"/>
              </a:solidFill>
            </a:endParaRPr>
          </a:p>
        </p:txBody>
      </p:sp>
      <p:pic>
        <p:nvPicPr>
          <p:cNvPr id="2063" name="Picture 2062">
            <a:extLst>
              <a:ext uri="{FF2B5EF4-FFF2-40B4-BE49-F238E27FC236}">
                <a16:creationId xmlns:a16="http://schemas.microsoft.com/office/drawing/2014/main" id="{3B7E3E62-AACE-4D18-93B3-B4C452E28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6FA064-A694-B677-D4BA-FD22F0861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3656289" cy="3599316"/>
          </a:xfrm>
        </p:spPr>
        <p:txBody>
          <a:bodyPr>
            <a:normAutofit/>
          </a:bodyPr>
          <a:lstStyle/>
          <a:p>
            <a:r>
              <a:rPr kumimoji="1" lang="ko-KR" altLang="en-US" sz="1800" dirty="0">
                <a:solidFill>
                  <a:srgbClr val="FFFFFF"/>
                </a:solidFill>
              </a:rPr>
              <a:t>입력 벡터에서 </a:t>
            </a:r>
            <a:r>
              <a:rPr kumimoji="1" lang="en" altLang="ko-KR" sz="1800" dirty="0" err="1">
                <a:solidFill>
                  <a:srgbClr val="FFFFFF"/>
                </a:solidFill>
              </a:rPr>
              <a:t>z_mean</a:t>
            </a:r>
            <a:r>
              <a:rPr kumimoji="1" lang="en" altLang="ko-KR" sz="1800" dirty="0">
                <a:solidFill>
                  <a:srgbClr val="FFFFFF"/>
                </a:solidFill>
              </a:rPr>
              <a:t> </a:t>
            </a:r>
            <a:r>
              <a:rPr kumimoji="1" lang="ko-KR" altLang="en-US" sz="1800" dirty="0">
                <a:solidFill>
                  <a:srgbClr val="FFFFFF"/>
                </a:solidFill>
              </a:rPr>
              <a:t>및 </a:t>
            </a:r>
            <a:r>
              <a:rPr kumimoji="1" lang="en" altLang="ko-KR" sz="1800" dirty="0" err="1">
                <a:solidFill>
                  <a:srgbClr val="FFFFFF"/>
                </a:solidFill>
              </a:rPr>
              <a:t>z_log_sigma</a:t>
            </a:r>
            <a:r>
              <a:rPr kumimoji="1" lang="ko-KR" altLang="en-US" sz="1800" dirty="0" err="1">
                <a:solidFill>
                  <a:srgbClr val="FFFFFF"/>
                </a:solidFill>
              </a:rPr>
              <a:t>를</a:t>
            </a:r>
            <a:r>
              <a:rPr kumimoji="1" lang="ko-KR" altLang="en-US" sz="1800" dirty="0">
                <a:solidFill>
                  <a:srgbClr val="FFFFFF"/>
                </a:solidFill>
              </a:rPr>
              <a:t> 예측</a:t>
            </a:r>
            <a:endParaRPr kumimoji="1" lang="en-US" altLang="ko-KR" sz="1800" dirty="0">
              <a:solidFill>
                <a:srgbClr val="FFFFFF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kumimoji="1" lang="ko-KR" altLang="en-US" sz="1800" dirty="0">
                <a:solidFill>
                  <a:srgbClr val="FFFFFF"/>
                </a:solidFill>
              </a:rPr>
              <a:t>표준 편차 자체를 예측하는 대신 로그를 예측</a:t>
            </a:r>
            <a:endParaRPr kumimoji="1" lang="en-US" altLang="ko-KR" sz="1800" dirty="0">
              <a:solidFill>
                <a:srgbClr val="FFFFFF"/>
              </a:solidFill>
            </a:endParaRPr>
          </a:p>
          <a:p>
            <a:r>
              <a:rPr kumimoji="1" lang="ko-KR" altLang="en-US" sz="1800" dirty="0">
                <a:solidFill>
                  <a:srgbClr val="FFFFFF"/>
                </a:solidFill>
              </a:rPr>
              <a:t>분포 </a:t>
            </a:r>
            <a:r>
              <a:rPr kumimoji="1" lang="en" altLang="ko-KR" sz="1800" dirty="0">
                <a:solidFill>
                  <a:srgbClr val="FFFFFF"/>
                </a:solidFill>
              </a:rPr>
              <a:t>N(</a:t>
            </a:r>
            <a:r>
              <a:rPr kumimoji="1" lang="en" altLang="ko-KR" sz="1800" dirty="0" err="1">
                <a:solidFill>
                  <a:srgbClr val="FFFFFF"/>
                </a:solidFill>
              </a:rPr>
              <a:t>zmean,exp</a:t>
            </a:r>
            <a:r>
              <a:rPr kumimoji="1" lang="en" altLang="ko-KR" sz="1800" dirty="0">
                <a:solidFill>
                  <a:srgbClr val="FFFFFF"/>
                </a:solidFill>
              </a:rPr>
              <a:t>(</a:t>
            </a:r>
            <a:r>
              <a:rPr kumimoji="1" lang="en" altLang="ko-KR" sz="1800" dirty="0" err="1">
                <a:solidFill>
                  <a:srgbClr val="FFFFFF"/>
                </a:solidFill>
              </a:rPr>
              <a:t>zlog_sigma</a:t>
            </a:r>
            <a:r>
              <a:rPr kumimoji="1" lang="en" altLang="ko-KR" sz="1800" dirty="0">
                <a:solidFill>
                  <a:srgbClr val="FFFFFF"/>
                </a:solidFill>
              </a:rPr>
              <a:t>))</a:t>
            </a:r>
            <a:r>
              <a:rPr kumimoji="1" lang="ko-KR" altLang="en-US" sz="1800" dirty="0">
                <a:solidFill>
                  <a:srgbClr val="FFFFFF"/>
                </a:solidFill>
              </a:rPr>
              <a:t>에서 벡터 샘플을 추출</a:t>
            </a:r>
            <a:endParaRPr kumimoji="1" lang="en-US" altLang="ko-KR" sz="1800" dirty="0">
              <a:solidFill>
                <a:srgbClr val="FFFFFF"/>
              </a:solidFill>
            </a:endParaRPr>
          </a:p>
          <a:p>
            <a:r>
              <a:rPr kumimoji="1" lang="ko-KR" altLang="en-US" sz="1800" dirty="0" err="1">
                <a:solidFill>
                  <a:srgbClr val="FFFFFF"/>
                </a:solidFill>
              </a:rPr>
              <a:t>디코더는</a:t>
            </a:r>
            <a:r>
              <a:rPr kumimoji="1" lang="ko-KR" altLang="en-US" sz="1800" dirty="0">
                <a:solidFill>
                  <a:srgbClr val="FFFFFF"/>
                </a:solidFill>
              </a:rPr>
              <a:t> 샘플을 입력 벡터로 사용하여 원본 이미지를 디코딩하려고 시도</a:t>
            </a:r>
          </a:p>
        </p:txBody>
      </p:sp>
      <p:sp useBgFill="1">
        <p:nvSpPr>
          <p:cNvPr id="2065" name="Rectangle 2064">
            <a:extLst>
              <a:ext uri="{FF2B5EF4-FFF2-40B4-BE49-F238E27FC236}">
                <a16:creationId xmlns:a16="http://schemas.microsoft.com/office/drawing/2014/main" id="{421B5709-714B-4EA8-8C75-C105D9B4D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6090" y="642795"/>
            <a:ext cx="6272654" cy="5575126"/>
          </a:xfrm>
          <a:prstGeom prst="rect">
            <a:avLst/>
          </a:prstGeom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텍스트, 스크린샷, 도표, 그래픽이(가) 표시된 사진&#10;&#10;자동 생성된 설명">
            <a:extLst>
              <a:ext uri="{FF2B5EF4-FFF2-40B4-BE49-F238E27FC236}">
                <a16:creationId xmlns:a16="http://schemas.microsoft.com/office/drawing/2014/main" id="{B249AD96-8DF1-BDE8-8CDD-96B64F77A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93085" y="1002602"/>
            <a:ext cx="5629268" cy="4846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B814EB-CE5D-7DDD-E659-90CE1F08E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0372" y="6310314"/>
            <a:ext cx="914400" cy="36512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050">
                <a:solidFill>
                  <a:prstClr val="white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 sz="105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4975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C35B4A-7303-B4E2-3057-3E64EAF14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변형 자동 인코더는 두 부분으로 구성된 복잡한 손실 함수를 사용</a:t>
            </a:r>
          </a:p>
        </p:txBody>
      </p:sp>
      <p:graphicFrame>
        <p:nvGraphicFramePr>
          <p:cNvPr id="6" name="내용 개체 틀 2">
            <a:extLst>
              <a:ext uri="{FF2B5EF4-FFF2-40B4-BE49-F238E27FC236}">
                <a16:creationId xmlns:a16="http://schemas.microsoft.com/office/drawing/2014/main" id="{A5473AA1-62BD-84AD-6E0E-607ACB679AB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0321" y="2336873"/>
          <a:ext cx="9613861" cy="3599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8D95B9-75FC-4AAE-C628-5638B6972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69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9" name="Picture 3078">
            <a:extLst>
              <a:ext uri="{FF2B5EF4-FFF2-40B4-BE49-F238E27FC236}">
                <a16:creationId xmlns:a16="http://schemas.microsoft.com/office/drawing/2014/main" id="{B3F9E774-F054-4892-8E69-C76B2C854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8925"/>
              </a:gs>
              <a:gs pos="50000">
                <a:srgbClr val="D54209"/>
              </a:gs>
              <a:gs pos="100000">
                <a:srgbClr val="8D0000"/>
              </a:gs>
            </a:gsLst>
            <a:lin ang="2520000" scaled="0"/>
          </a:gradFill>
        </p:spPr>
      </p:pic>
      <p:pic>
        <p:nvPicPr>
          <p:cNvPr id="3081" name="Picture 3080">
            <a:extLst>
              <a:ext uri="{FF2B5EF4-FFF2-40B4-BE49-F238E27FC236}">
                <a16:creationId xmlns:a16="http://schemas.microsoft.com/office/drawing/2014/main" id="{BEF6A099-2A38-4C66-88FF-FDBCB564E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83" name="Rectangle 3082">
            <a:extLst>
              <a:ext uri="{FF2B5EF4-FFF2-40B4-BE49-F238E27FC236}">
                <a16:creationId xmlns:a16="http://schemas.microsoft.com/office/drawing/2014/main" id="{D0D98427-7B26-46E2-93FE-CB8CD38542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B15A4233-F980-4EF6-B2C0-D7C63E752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0014ECF-3DBF-3B13-4E27-9A641800F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>
            <a:normAutofit/>
          </a:bodyPr>
          <a:lstStyle/>
          <a:p>
            <a:r>
              <a:rPr kumimoji="1" lang="en" altLang="ko-KR" sz="2400">
                <a:solidFill>
                  <a:srgbClr val="FFFFFF"/>
                </a:solidFill>
              </a:rPr>
              <a:t>VAE</a:t>
            </a:r>
            <a:r>
              <a:rPr kumimoji="1" lang="ko-KR" altLang="en-US" sz="2400">
                <a:solidFill>
                  <a:srgbClr val="FFFFFF"/>
                </a:solidFill>
              </a:rPr>
              <a:t>의 중요한 장점</a:t>
            </a:r>
          </a:p>
        </p:txBody>
      </p:sp>
      <p:pic>
        <p:nvPicPr>
          <p:cNvPr id="3087" name="Picture 3086">
            <a:extLst>
              <a:ext uri="{FF2B5EF4-FFF2-40B4-BE49-F238E27FC236}">
                <a16:creationId xmlns:a16="http://schemas.microsoft.com/office/drawing/2014/main" id="{3B7E3E62-AACE-4D18-93B3-B4C452E28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03C4B3-1039-EC87-0DB2-96B129462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3656289" cy="3599316"/>
          </a:xfrm>
        </p:spPr>
        <p:txBody>
          <a:bodyPr>
            <a:normAutofit/>
          </a:bodyPr>
          <a:lstStyle/>
          <a:p>
            <a:r>
              <a:rPr kumimoji="1" lang="ko-KR" altLang="en-US" sz="1800" dirty="0">
                <a:solidFill>
                  <a:srgbClr val="FFFFFF"/>
                </a:solidFill>
              </a:rPr>
              <a:t>잠재 </a:t>
            </a:r>
            <a:r>
              <a:rPr kumimoji="1" lang="en-US" altLang="ko-KR" sz="1800" dirty="0">
                <a:solidFill>
                  <a:srgbClr val="FFFFFF"/>
                </a:solidFill>
              </a:rPr>
              <a:t>(latent) </a:t>
            </a:r>
            <a:r>
              <a:rPr kumimoji="1" lang="ko-KR" altLang="en-US" sz="1800" dirty="0">
                <a:solidFill>
                  <a:srgbClr val="FFFFFF"/>
                </a:solidFill>
              </a:rPr>
              <a:t>벡터를 </a:t>
            </a:r>
            <a:r>
              <a:rPr kumimoji="1" lang="ko-KR" altLang="en-US" sz="1800" dirty="0" err="1">
                <a:solidFill>
                  <a:srgbClr val="FFFFFF"/>
                </a:solidFill>
              </a:rPr>
              <a:t>샘플링할</a:t>
            </a:r>
            <a:r>
              <a:rPr kumimoji="1" lang="ko-KR" altLang="en-US" sz="1800" dirty="0">
                <a:solidFill>
                  <a:srgbClr val="FFFFFF"/>
                </a:solidFill>
              </a:rPr>
              <a:t> 분포를 알고 있기 때문에 비교적 쉽게 새로운 이미지를 생성할 수 있음</a:t>
            </a:r>
            <a:endParaRPr kumimoji="1" lang="en-US" altLang="ko-KR" sz="1800" dirty="0">
              <a:solidFill>
                <a:srgbClr val="FFFFFF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kumimoji="1" lang="ko-KR" altLang="en-US" sz="1800" dirty="0">
                <a:solidFill>
                  <a:srgbClr val="FFFFFF"/>
                </a:solidFill>
              </a:rPr>
              <a:t>예를 들어</a:t>
            </a:r>
            <a:r>
              <a:rPr kumimoji="1" lang="en-US" altLang="ko-KR" sz="1800" dirty="0">
                <a:solidFill>
                  <a:srgbClr val="FFFFFF"/>
                </a:solidFill>
              </a:rPr>
              <a:t>, </a:t>
            </a:r>
            <a:r>
              <a:rPr kumimoji="1" lang="en" altLang="ko-KR" sz="1800" dirty="0">
                <a:solidFill>
                  <a:srgbClr val="FFFFFF"/>
                </a:solidFill>
              </a:rPr>
              <a:t>MNIST</a:t>
            </a:r>
            <a:r>
              <a:rPr kumimoji="1" lang="ko-KR" altLang="en-US" sz="1800" dirty="0">
                <a:solidFill>
                  <a:srgbClr val="FFFFFF"/>
                </a:solidFill>
              </a:rPr>
              <a:t>에서 </a:t>
            </a:r>
            <a:r>
              <a:rPr kumimoji="1" lang="en-US" altLang="ko-KR" sz="1800" dirty="0">
                <a:solidFill>
                  <a:srgbClr val="FFFFFF"/>
                </a:solidFill>
              </a:rPr>
              <a:t>2</a:t>
            </a:r>
            <a:r>
              <a:rPr kumimoji="1" lang="en" altLang="ko-KR" sz="1800" dirty="0">
                <a:solidFill>
                  <a:srgbClr val="FFFFFF"/>
                </a:solidFill>
              </a:rPr>
              <a:t>D </a:t>
            </a:r>
            <a:r>
              <a:rPr kumimoji="1" lang="ko-KR" altLang="en-US" sz="1800" dirty="0">
                <a:solidFill>
                  <a:srgbClr val="FFFFFF"/>
                </a:solidFill>
              </a:rPr>
              <a:t>잠재 벡터로 </a:t>
            </a:r>
            <a:r>
              <a:rPr kumimoji="1" lang="en" altLang="ko-KR" sz="1800" dirty="0">
                <a:solidFill>
                  <a:srgbClr val="FFFFFF"/>
                </a:solidFill>
              </a:rPr>
              <a:t>VAE</a:t>
            </a:r>
            <a:r>
              <a:rPr kumimoji="1" lang="ko-KR" altLang="en-US" sz="1800" dirty="0" err="1">
                <a:solidFill>
                  <a:srgbClr val="FFFFFF"/>
                </a:solidFill>
              </a:rPr>
              <a:t>를</a:t>
            </a:r>
            <a:r>
              <a:rPr kumimoji="1" lang="ko-KR" altLang="en-US" sz="1800" dirty="0">
                <a:solidFill>
                  <a:srgbClr val="FFFFFF"/>
                </a:solidFill>
              </a:rPr>
              <a:t> 훈련하면 잠재 벡터의 구성 요소를 변경하여 다른 숫자를 얻을 수 있음</a:t>
            </a:r>
          </a:p>
        </p:txBody>
      </p:sp>
      <p:sp useBgFill="1">
        <p:nvSpPr>
          <p:cNvPr id="3089" name="Rectangle 3088">
            <a:extLst>
              <a:ext uri="{FF2B5EF4-FFF2-40B4-BE49-F238E27FC236}">
                <a16:creationId xmlns:a16="http://schemas.microsoft.com/office/drawing/2014/main" id="{421B5709-714B-4EA8-8C75-C105D9B4D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6090" y="642795"/>
            <a:ext cx="6272654" cy="5575126"/>
          </a:xfrm>
          <a:prstGeom prst="rect">
            <a:avLst/>
          </a:prstGeom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vaemnist">
            <a:extLst>
              <a:ext uri="{FF2B5EF4-FFF2-40B4-BE49-F238E27FC236}">
                <a16:creationId xmlns:a16="http://schemas.microsoft.com/office/drawing/2014/main" id="{473C2228-AEC6-A960-9001-2E6412190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93085" y="1507666"/>
            <a:ext cx="5629268" cy="3835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FEA9B1-5EA9-E581-AC72-400E1C791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0372" y="6310314"/>
            <a:ext cx="914400" cy="36512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050">
                <a:solidFill>
                  <a:prstClr val="white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 sz="105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52644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A6DECE-A946-D488-78C4-E3ACD8ED1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ko-KR"/>
              <a:t>Properties of Autoencoders</a:t>
            </a:r>
            <a:endParaRPr kumimoji="1" lang="ko-KR" altLang="en-US" dirty="0"/>
          </a:p>
        </p:txBody>
      </p:sp>
      <p:graphicFrame>
        <p:nvGraphicFramePr>
          <p:cNvPr id="20" name="내용 개체 틀 2">
            <a:extLst>
              <a:ext uri="{FF2B5EF4-FFF2-40B4-BE49-F238E27FC236}">
                <a16:creationId xmlns:a16="http://schemas.microsoft.com/office/drawing/2014/main" id="{4645A6C6-5CDA-4562-79F5-45FD443B369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0321" y="2336873"/>
          <a:ext cx="9613861" cy="3599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85E044-2816-2A0A-3618-FBE950D43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572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shade val="100000"/>
                <a:hueMod val="100000"/>
                <a:satMod val="110000"/>
                <a:lumMod val="79000"/>
                <a:lumOff val="21000"/>
              </a:schemeClr>
            </a:gs>
            <a:gs pos="100000">
              <a:schemeClr val="bg2">
                <a:shade val="78000"/>
                <a:hueMod val="44000"/>
                <a:satMod val="200000"/>
                <a:lumMod val="70000"/>
              </a:scheme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3E6C53-102E-4ACA-BCBB-3CC973B99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B2B42C-0777-4D6E-9432-535281803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FEAAB60-93E2-4DC6-99AC-939637BCE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EF5ECB8-D49C-48FB-A93E-88EB2FFDF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1B77A2-BD5C-432D-B52E-C12612C74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1B45BD-D05B-47CB-97E5-994F293A1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7BDE151-4F7A-4E95-939F-18B2F607C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FF77DF1-D895-375C-50FE-CE2F9E1F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643467"/>
            <a:ext cx="8133812" cy="360302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latinLnBrk="0"/>
            <a:r>
              <a:rPr kumimoji="1" lang="en-US" altLang="ko-KR" sz="5000"/>
              <a:t>AutoEncodersPyTorch.ipynb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3E1E67-68B8-49AF-8DBA-E7E08CD3F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4568225"/>
            <a:ext cx="12188824" cy="2289774"/>
          </a:xfrm>
          <a:prstGeom prst="rect">
            <a:avLst/>
          </a:prstGeom>
          <a:solidFill>
            <a:srgbClr val="181717">
              <a:alpha val="89804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96FDE7C-B860-44EE-B294-C8358F7A8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3921" y="4568225"/>
            <a:ext cx="2764903" cy="22897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847AB1-CF5D-48F5-D81C-24E562F23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52006" y="4762275"/>
            <a:ext cx="1466147" cy="15611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66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12</a:t>
            </a:fld>
            <a:endParaRPr lang="en-US" sz="66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2405671"/>
      </p:ext>
    </p:extLst>
  </p:cSld>
  <p:clrMapOvr>
    <a:masterClrMapping/>
  </p:clrMapOvr>
</p:sld>
</file>

<file path=ppt/theme/theme1.xml><?xml version="1.0" encoding="utf-8"?>
<a:theme xmlns:a="http://schemas.openxmlformats.org/drawingml/2006/main" name="베를린">
  <a:themeElements>
    <a:clrScheme name="베를린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베를린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베를린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1735</TotalTime>
  <Words>634</Words>
  <Application>Microsoft Macintosh PowerPoint</Application>
  <PresentationFormat>와이드스크린</PresentationFormat>
  <Paragraphs>61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-apple-system</vt:lpstr>
      <vt:lpstr>맑은 고딕</vt:lpstr>
      <vt:lpstr>Arial</vt:lpstr>
      <vt:lpstr>Trebuchet MS</vt:lpstr>
      <vt:lpstr>Wingdings</vt:lpstr>
      <vt:lpstr>베를린</vt:lpstr>
      <vt:lpstr>Autoencoders</vt:lpstr>
      <vt:lpstr>Autoencoders</vt:lpstr>
      <vt:lpstr>Autoencoders (cont’d)</vt:lpstr>
      <vt:lpstr>Autoencoders (cont’d)</vt:lpstr>
      <vt:lpstr>Scenarios for using Autoencoders</vt:lpstr>
      <vt:lpstr>Variational Autoencoders (VAE)</vt:lpstr>
      <vt:lpstr>Variational Autoencoders (VAE) (cont’d)</vt:lpstr>
      <vt:lpstr>Summarization</vt:lpstr>
      <vt:lpstr>변형 자동 인코더는 두 부분으로 구성된 복잡한 손실 함수를 사용</vt:lpstr>
      <vt:lpstr>VAE의 중요한 장점</vt:lpstr>
      <vt:lpstr>Properties of Autoencoders</vt:lpstr>
      <vt:lpstr>AutoEncodersPyTorch.ipynb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Vision</dc:title>
  <dc:creator>백우진</dc:creator>
  <cp:lastModifiedBy>백우진</cp:lastModifiedBy>
  <cp:revision>63</cp:revision>
  <dcterms:created xsi:type="dcterms:W3CDTF">2024-04-09T10:12:03Z</dcterms:created>
  <dcterms:modified xsi:type="dcterms:W3CDTF">2024-05-19T13:57:50Z</dcterms:modified>
</cp:coreProperties>
</file>
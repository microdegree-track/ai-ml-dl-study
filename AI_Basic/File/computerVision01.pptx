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1"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4EA653-27C6-42A5-BF15-A7954F81365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17550EE-0C8D-4397-A6CA-25469B94E6F4}">
      <dgm:prSet/>
      <dgm:spPr/>
      <dgm:t>
        <a:bodyPr/>
        <a:lstStyle/>
        <a:p>
          <a:r>
            <a:rPr kumimoji="1" lang="en-US"/>
            <a:t>Computer vision is often considered to be a branch of AI</a:t>
          </a:r>
          <a:endParaRPr lang="en-US"/>
        </a:p>
      </dgm:t>
    </dgm:pt>
    <dgm:pt modelId="{BE88C2AE-5ED0-4B2E-9874-4402591E7989}" type="parTrans" cxnId="{751285A3-4303-47BC-AF90-73AF1D63E53D}">
      <dgm:prSet/>
      <dgm:spPr/>
      <dgm:t>
        <a:bodyPr/>
        <a:lstStyle/>
        <a:p>
          <a:endParaRPr lang="en-US"/>
        </a:p>
      </dgm:t>
    </dgm:pt>
    <dgm:pt modelId="{771CCB0A-E0AB-43A1-AB1A-F9FF78624598}" type="sibTrans" cxnId="{751285A3-4303-47BC-AF90-73AF1D63E53D}">
      <dgm:prSet/>
      <dgm:spPr/>
      <dgm:t>
        <a:bodyPr/>
        <a:lstStyle/>
        <a:p>
          <a:endParaRPr lang="en-US"/>
        </a:p>
      </dgm:t>
    </dgm:pt>
    <dgm:pt modelId="{B6D596B7-3712-4EA1-9A37-E78B4D488CED}">
      <dgm:prSet/>
      <dgm:spPr/>
      <dgm:t>
        <a:bodyPr/>
        <a:lstStyle/>
        <a:p>
          <a:r>
            <a:rPr kumimoji="1" lang="en-US"/>
            <a:t>Nowadays, most of computer vision tasks are solved using neural networks</a:t>
          </a:r>
          <a:endParaRPr lang="en-US"/>
        </a:p>
      </dgm:t>
    </dgm:pt>
    <dgm:pt modelId="{470972F8-B06F-40A5-9217-56B471633D57}" type="parTrans" cxnId="{9B6C02A1-0935-4EEA-8098-30EBD207A892}">
      <dgm:prSet/>
      <dgm:spPr/>
      <dgm:t>
        <a:bodyPr/>
        <a:lstStyle/>
        <a:p>
          <a:endParaRPr lang="en-US"/>
        </a:p>
      </dgm:t>
    </dgm:pt>
    <dgm:pt modelId="{5912BD2F-FAA8-480B-AD82-B7D48DA2AA00}" type="sibTrans" cxnId="{9B6C02A1-0935-4EEA-8098-30EBD207A892}">
      <dgm:prSet/>
      <dgm:spPr/>
      <dgm:t>
        <a:bodyPr/>
        <a:lstStyle/>
        <a:p>
          <a:endParaRPr lang="en-US"/>
        </a:p>
      </dgm:t>
    </dgm:pt>
    <dgm:pt modelId="{F7FB4E15-3ECE-47D9-9A85-2E389C719B9C}">
      <dgm:prSet/>
      <dgm:spPr/>
      <dgm:t>
        <a:bodyPr/>
        <a:lstStyle/>
        <a:p>
          <a:r>
            <a:rPr kumimoji="1" lang="en-US"/>
            <a:t>We will learn more about the special type of neural networks used for computer vision, i.e. convolutional neural networks</a:t>
          </a:r>
          <a:endParaRPr lang="en-US"/>
        </a:p>
      </dgm:t>
    </dgm:pt>
    <dgm:pt modelId="{73657DA6-9B38-4B9E-8E42-367EE90E561E}" type="parTrans" cxnId="{6E975B91-F0D8-444D-A36D-69F753F2D8C1}">
      <dgm:prSet/>
      <dgm:spPr/>
      <dgm:t>
        <a:bodyPr/>
        <a:lstStyle/>
        <a:p>
          <a:endParaRPr lang="en-US"/>
        </a:p>
      </dgm:t>
    </dgm:pt>
    <dgm:pt modelId="{87DDAA03-5DB1-419D-9E2A-AFA213894443}" type="sibTrans" cxnId="{6E975B91-F0D8-444D-A36D-69F753F2D8C1}">
      <dgm:prSet/>
      <dgm:spPr/>
      <dgm:t>
        <a:bodyPr/>
        <a:lstStyle/>
        <a:p>
          <a:endParaRPr lang="en-US"/>
        </a:p>
      </dgm:t>
    </dgm:pt>
    <dgm:pt modelId="{E548A9EE-2A10-43DA-99BD-FF1009E39268}" type="pres">
      <dgm:prSet presAssocID="{C34EA653-27C6-42A5-BF15-A7954F813652}" presName="root" presStyleCnt="0">
        <dgm:presLayoutVars>
          <dgm:dir/>
          <dgm:resizeHandles val="exact"/>
        </dgm:presLayoutVars>
      </dgm:prSet>
      <dgm:spPr/>
    </dgm:pt>
    <dgm:pt modelId="{92BF3F05-BA54-4017-BCD0-7FF29310EDB1}" type="pres">
      <dgm:prSet presAssocID="{B17550EE-0C8D-4397-A6CA-25469B94E6F4}" presName="compNode" presStyleCnt="0"/>
      <dgm:spPr/>
    </dgm:pt>
    <dgm:pt modelId="{998DCEB3-75B5-4DB1-9399-DF6FDB353414}" type="pres">
      <dgm:prSet presAssocID="{B17550EE-0C8D-4397-A6CA-25469B94E6F4}" presName="bgRect" presStyleLbl="bgShp" presStyleIdx="0" presStyleCnt="3"/>
      <dgm:spPr/>
    </dgm:pt>
    <dgm:pt modelId="{7FB0B150-E622-43D1-9DD4-9DAA98A4EDA0}" type="pres">
      <dgm:prSet presAssocID="{B17550EE-0C8D-4397-A6CA-25469B94E6F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컴퓨터"/>
        </a:ext>
      </dgm:extLst>
    </dgm:pt>
    <dgm:pt modelId="{B4CD4C74-7AC4-4E5D-A05B-91B1AEA01BFF}" type="pres">
      <dgm:prSet presAssocID="{B17550EE-0C8D-4397-A6CA-25469B94E6F4}" presName="spaceRect" presStyleCnt="0"/>
      <dgm:spPr/>
    </dgm:pt>
    <dgm:pt modelId="{01AADF0B-BB0A-4838-B4F5-37FA24EB398D}" type="pres">
      <dgm:prSet presAssocID="{B17550EE-0C8D-4397-A6CA-25469B94E6F4}" presName="parTx" presStyleLbl="revTx" presStyleIdx="0" presStyleCnt="3">
        <dgm:presLayoutVars>
          <dgm:chMax val="0"/>
          <dgm:chPref val="0"/>
        </dgm:presLayoutVars>
      </dgm:prSet>
      <dgm:spPr/>
    </dgm:pt>
    <dgm:pt modelId="{BDED8E67-1791-4587-805D-C16394408E7A}" type="pres">
      <dgm:prSet presAssocID="{771CCB0A-E0AB-43A1-AB1A-F9FF78624598}" presName="sibTrans" presStyleCnt="0"/>
      <dgm:spPr/>
    </dgm:pt>
    <dgm:pt modelId="{E60908AD-871C-4D73-9E0B-8DD00A41A640}" type="pres">
      <dgm:prSet presAssocID="{B6D596B7-3712-4EA1-9A37-E78B4D488CED}" presName="compNode" presStyleCnt="0"/>
      <dgm:spPr/>
    </dgm:pt>
    <dgm:pt modelId="{BBF48826-782C-4167-AC94-9163670A67EF}" type="pres">
      <dgm:prSet presAssocID="{B6D596B7-3712-4EA1-9A37-E78B4D488CED}" presName="bgRect" presStyleLbl="bgShp" presStyleIdx="1" presStyleCnt="3"/>
      <dgm:spPr/>
    </dgm:pt>
    <dgm:pt modelId="{B1734555-0D4B-4BFA-9806-47B62E943B4B}" type="pres">
      <dgm:prSet presAssocID="{B6D596B7-3712-4EA1-9A37-E78B4D488CE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CA6F06FF-EC3D-4A3F-BA7B-DEA09FEBF2FF}" type="pres">
      <dgm:prSet presAssocID="{B6D596B7-3712-4EA1-9A37-E78B4D488CED}" presName="spaceRect" presStyleCnt="0"/>
      <dgm:spPr/>
    </dgm:pt>
    <dgm:pt modelId="{52D35F30-28A7-40C0-B6D7-532CFBDAF8C9}" type="pres">
      <dgm:prSet presAssocID="{B6D596B7-3712-4EA1-9A37-E78B4D488CED}" presName="parTx" presStyleLbl="revTx" presStyleIdx="1" presStyleCnt="3">
        <dgm:presLayoutVars>
          <dgm:chMax val="0"/>
          <dgm:chPref val="0"/>
        </dgm:presLayoutVars>
      </dgm:prSet>
      <dgm:spPr/>
    </dgm:pt>
    <dgm:pt modelId="{D7315390-883E-4E02-8FA3-F5978462AB34}" type="pres">
      <dgm:prSet presAssocID="{5912BD2F-FAA8-480B-AD82-B7D48DA2AA00}" presName="sibTrans" presStyleCnt="0"/>
      <dgm:spPr/>
    </dgm:pt>
    <dgm:pt modelId="{5CE09CE0-E2C8-48B9-A6E3-0ED0DDF94006}" type="pres">
      <dgm:prSet presAssocID="{F7FB4E15-3ECE-47D9-9A85-2E389C719B9C}" presName="compNode" presStyleCnt="0"/>
      <dgm:spPr/>
    </dgm:pt>
    <dgm:pt modelId="{4D94D5B6-DEC8-4A2C-9237-84AC034AE5A6}" type="pres">
      <dgm:prSet presAssocID="{F7FB4E15-3ECE-47D9-9A85-2E389C719B9C}" presName="bgRect" presStyleLbl="bgShp" presStyleIdx="2" presStyleCnt="3"/>
      <dgm:spPr/>
    </dgm:pt>
    <dgm:pt modelId="{87C628E8-02E4-4CD6-820F-307A8EEE587D}" type="pres">
      <dgm:prSet presAssocID="{F7FB4E15-3ECE-47D9-9A85-2E389C719B9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프로세서"/>
        </a:ext>
      </dgm:extLst>
    </dgm:pt>
    <dgm:pt modelId="{B7362BD1-42B3-47A2-96B8-4043924AB62A}" type="pres">
      <dgm:prSet presAssocID="{F7FB4E15-3ECE-47D9-9A85-2E389C719B9C}" presName="spaceRect" presStyleCnt="0"/>
      <dgm:spPr/>
    </dgm:pt>
    <dgm:pt modelId="{12C7F0BF-2451-48B6-8368-C9EF6072313A}" type="pres">
      <dgm:prSet presAssocID="{F7FB4E15-3ECE-47D9-9A85-2E389C719B9C}" presName="parTx" presStyleLbl="revTx" presStyleIdx="2" presStyleCnt="3">
        <dgm:presLayoutVars>
          <dgm:chMax val="0"/>
          <dgm:chPref val="0"/>
        </dgm:presLayoutVars>
      </dgm:prSet>
      <dgm:spPr/>
    </dgm:pt>
  </dgm:ptLst>
  <dgm:cxnLst>
    <dgm:cxn modelId="{3D4C6731-C7C3-41BE-9F31-94BA3D7CA8A5}" type="presOf" srcId="{C34EA653-27C6-42A5-BF15-A7954F813652}" destId="{E548A9EE-2A10-43DA-99BD-FF1009E39268}" srcOrd="0" destOrd="0" presId="urn:microsoft.com/office/officeart/2018/2/layout/IconVerticalSolidList"/>
    <dgm:cxn modelId="{1EA66050-C8C2-4E7A-9A02-01BD57FF6BDF}" type="presOf" srcId="{B17550EE-0C8D-4397-A6CA-25469B94E6F4}" destId="{01AADF0B-BB0A-4838-B4F5-37FA24EB398D}" srcOrd="0" destOrd="0" presId="urn:microsoft.com/office/officeart/2018/2/layout/IconVerticalSolidList"/>
    <dgm:cxn modelId="{6E975B91-F0D8-444D-A36D-69F753F2D8C1}" srcId="{C34EA653-27C6-42A5-BF15-A7954F813652}" destId="{F7FB4E15-3ECE-47D9-9A85-2E389C719B9C}" srcOrd="2" destOrd="0" parTransId="{73657DA6-9B38-4B9E-8E42-367EE90E561E}" sibTransId="{87DDAA03-5DB1-419D-9E2A-AFA213894443}"/>
    <dgm:cxn modelId="{9B6C02A1-0935-4EEA-8098-30EBD207A892}" srcId="{C34EA653-27C6-42A5-BF15-A7954F813652}" destId="{B6D596B7-3712-4EA1-9A37-E78B4D488CED}" srcOrd="1" destOrd="0" parTransId="{470972F8-B06F-40A5-9217-56B471633D57}" sibTransId="{5912BD2F-FAA8-480B-AD82-B7D48DA2AA00}"/>
    <dgm:cxn modelId="{751285A3-4303-47BC-AF90-73AF1D63E53D}" srcId="{C34EA653-27C6-42A5-BF15-A7954F813652}" destId="{B17550EE-0C8D-4397-A6CA-25469B94E6F4}" srcOrd="0" destOrd="0" parTransId="{BE88C2AE-5ED0-4B2E-9874-4402591E7989}" sibTransId="{771CCB0A-E0AB-43A1-AB1A-F9FF78624598}"/>
    <dgm:cxn modelId="{1E1C7AE6-42BE-4411-A728-D37C8F1F1565}" type="presOf" srcId="{F7FB4E15-3ECE-47D9-9A85-2E389C719B9C}" destId="{12C7F0BF-2451-48B6-8368-C9EF6072313A}" srcOrd="0" destOrd="0" presId="urn:microsoft.com/office/officeart/2018/2/layout/IconVerticalSolidList"/>
    <dgm:cxn modelId="{3E84E5FA-A295-43EC-B154-96C66E720A79}" type="presOf" srcId="{B6D596B7-3712-4EA1-9A37-E78B4D488CED}" destId="{52D35F30-28A7-40C0-B6D7-532CFBDAF8C9}" srcOrd="0" destOrd="0" presId="urn:microsoft.com/office/officeart/2018/2/layout/IconVerticalSolidList"/>
    <dgm:cxn modelId="{0D8E532F-624F-460B-B7D0-3C08946BF3F7}" type="presParOf" srcId="{E548A9EE-2A10-43DA-99BD-FF1009E39268}" destId="{92BF3F05-BA54-4017-BCD0-7FF29310EDB1}" srcOrd="0" destOrd="0" presId="urn:microsoft.com/office/officeart/2018/2/layout/IconVerticalSolidList"/>
    <dgm:cxn modelId="{0ED41352-3D6D-463E-A8DC-D3CD8BF25F1A}" type="presParOf" srcId="{92BF3F05-BA54-4017-BCD0-7FF29310EDB1}" destId="{998DCEB3-75B5-4DB1-9399-DF6FDB353414}" srcOrd="0" destOrd="0" presId="urn:microsoft.com/office/officeart/2018/2/layout/IconVerticalSolidList"/>
    <dgm:cxn modelId="{A9953A31-9ACE-4425-853C-87911A043378}" type="presParOf" srcId="{92BF3F05-BA54-4017-BCD0-7FF29310EDB1}" destId="{7FB0B150-E622-43D1-9DD4-9DAA98A4EDA0}" srcOrd="1" destOrd="0" presId="urn:microsoft.com/office/officeart/2018/2/layout/IconVerticalSolidList"/>
    <dgm:cxn modelId="{328315D7-E765-4E79-B1F9-36BCF62A8FFA}" type="presParOf" srcId="{92BF3F05-BA54-4017-BCD0-7FF29310EDB1}" destId="{B4CD4C74-7AC4-4E5D-A05B-91B1AEA01BFF}" srcOrd="2" destOrd="0" presId="urn:microsoft.com/office/officeart/2018/2/layout/IconVerticalSolidList"/>
    <dgm:cxn modelId="{C4143D4B-72C3-4656-9E66-8C1E4F50D67E}" type="presParOf" srcId="{92BF3F05-BA54-4017-BCD0-7FF29310EDB1}" destId="{01AADF0B-BB0A-4838-B4F5-37FA24EB398D}" srcOrd="3" destOrd="0" presId="urn:microsoft.com/office/officeart/2018/2/layout/IconVerticalSolidList"/>
    <dgm:cxn modelId="{B0D3582F-438D-4884-A1D3-D3E6321B6CD7}" type="presParOf" srcId="{E548A9EE-2A10-43DA-99BD-FF1009E39268}" destId="{BDED8E67-1791-4587-805D-C16394408E7A}" srcOrd="1" destOrd="0" presId="urn:microsoft.com/office/officeart/2018/2/layout/IconVerticalSolidList"/>
    <dgm:cxn modelId="{156F0620-BD7E-4CC0-B269-55AD94AEEDE6}" type="presParOf" srcId="{E548A9EE-2A10-43DA-99BD-FF1009E39268}" destId="{E60908AD-871C-4D73-9E0B-8DD00A41A640}" srcOrd="2" destOrd="0" presId="urn:microsoft.com/office/officeart/2018/2/layout/IconVerticalSolidList"/>
    <dgm:cxn modelId="{882778D8-2DC9-4489-9273-E8661E1F79FE}" type="presParOf" srcId="{E60908AD-871C-4D73-9E0B-8DD00A41A640}" destId="{BBF48826-782C-4167-AC94-9163670A67EF}" srcOrd="0" destOrd="0" presId="urn:microsoft.com/office/officeart/2018/2/layout/IconVerticalSolidList"/>
    <dgm:cxn modelId="{2B72F200-3247-4E63-9C53-FAD99C9EE0DF}" type="presParOf" srcId="{E60908AD-871C-4D73-9E0B-8DD00A41A640}" destId="{B1734555-0D4B-4BFA-9806-47B62E943B4B}" srcOrd="1" destOrd="0" presId="urn:microsoft.com/office/officeart/2018/2/layout/IconVerticalSolidList"/>
    <dgm:cxn modelId="{703C1FCA-ED26-4BDC-A7CD-8B318C4C0A84}" type="presParOf" srcId="{E60908AD-871C-4D73-9E0B-8DD00A41A640}" destId="{CA6F06FF-EC3D-4A3F-BA7B-DEA09FEBF2FF}" srcOrd="2" destOrd="0" presId="urn:microsoft.com/office/officeart/2018/2/layout/IconVerticalSolidList"/>
    <dgm:cxn modelId="{44F8DF30-59E9-40E2-815E-BDE15A158C7D}" type="presParOf" srcId="{E60908AD-871C-4D73-9E0B-8DD00A41A640}" destId="{52D35F30-28A7-40C0-B6D7-532CFBDAF8C9}" srcOrd="3" destOrd="0" presId="urn:microsoft.com/office/officeart/2018/2/layout/IconVerticalSolidList"/>
    <dgm:cxn modelId="{2EC9C498-205C-47FA-993F-9749D0CD3174}" type="presParOf" srcId="{E548A9EE-2A10-43DA-99BD-FF1009E39268}" destId="{D7315390-883E-4E02-8FA3-F5978462AB34}" srcOrd="3" destOrd="0" presId="urn:microsoft.com/office/officeart/2018/2/layout/IconVerticalSolidList"/>
    <dgm:cxn modelId="{292FF9AA-C54C-42CC-88B1-68600EB4D0FC}" type="presParOf" srcId="{E548A9EE-2A10-43DA-99BD-FF1009E39268}" destId="{5CE09CE0-E2C8-48B9-A6E3-0ED0DDF94006}" srcOrd="4" destOrd="0" presId="urn:microsoft.com/office/officeart/2018/2/layout/IconVerticalSolidList"/>
    <dgm:cxn modelId="{ED1F0C92-1839-4399-8ECC-3D961BD1555C}" type="presParOf" srcId="{5CE09CE0-E2C8-48B9-A6E3-0ED0DDF94006}" destId="{4D94D5B6-DEC8-4A2C-9237-84AC034AE5A6}" srcOrd="0" destOrd="0" presId="urn:microsoft.com/office/officeart/2018/2/layout/IconVerticalSolidList"/>
    <dgm:cxn modelId="{9D3688DC-3DD9-45F5-8D60-947E0ADB1E3B}" type="presParOf" srcId="{5CE09CE0-E2C8-48B9-A6E3-0ED0DDF94006}" destId="{87C628E8-02E4-4CD6-820F-307A8EEE587D}" srcOrd="1" destOrd="0" presId="urn:microsoft.com/office/officeart/2018/2/layout/IconVerticalSolidList"/>
    <dgm:cxn modelId="{E508826B-2C8C-45F7-8A95-351349142098}" type="presParOf" srcId="{5CE09CE0-E2C8-48B9-A6E3-0ED0DDF94006}" destId="{B7362BD1-42B3-47A2-96B8-4043924AB62A}" srcOrd="2" destOrd="0" presId="urn:microsoft.com/office/officeart/2018/2/layout/IconVerticalSolidList"/>
    <dgm:cxn modelId="{76B5174A-B925-4B1A-A0B3-C0F43B12F3A5}" type="presParOf" srcId="{5CE09CE0-E2C8-48B9-A6E3-0ED0DDF94006}" destId="{12C7F0BF-2451-48B6-8368-C9EF6072313A}"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8DCEB3-75B5-4DB1-9399-DF6FDB353414}">
      <dsp:nvSpPr>
        <dsp:cNvPr id="0" name=""/>
        <dsp:cNvSpPr/>
      </dsp:nvSpPr>
      <dsp:spPr>
        <a:xfrm>
          <a:off x="0" y="680"/>
          <a:ext cx="6261100" cy="15934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B0B150-E622-43D1-9DD4-9DAA98A4EDA0}">
      <dsp:nvSpPr>
        <dsp:cNvPr id="0" name=""/>
        <dsp:cNvSpPr/>
      </dsp:nvSpPr>
      <dsp:spPr>
        <a:xfrm>
          <a:off x="482021" y="359209"/>
          <a:ext cx="876403" cy="8764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1AADF0B-BB0A-4838-B4F5-37FA24EB398D}">
      <dsp:nvSpPr>
        <dsp:cNvPr id="0" name=""/>
        <dsp:cNvSpPr/>
      </dsp:nvSpPr>
      <dsp:spPr>
        <a:xfrm>
          <a:off x="1840447" y="680"/>
          <a:ext cx="4420652" cy="1593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641" tIns="168641" rIns="168641" bIns="168641" numCol="1" spcCol="1270" anchor="ctr" anchorCtr="0">
          <a:noAutofit/>
        </a:bodyPr>
        <a:lstStyle/>
        <a:p>
          <a:pPr marL="0" lvl="0" indent="0" algn="l" defTabSz="977900">
            <a:lnSpc>
              <a:spcPct val="90000"/>
            </a:lnSpc>
            <a:spcBef>
              <a:spcPct val="0"/>
            </a:spcBef>
            <a:spcAft>
              <a:spcPct val="35000"/>
            </a:spcAft>
            <a:buNone/>
          </a:pPr>
          <a:r>
            <a:rPr kumimoji="1" lang="en-US" sz="2200" kern="1200"/>
            <a:t>Computer vision is often considered to be a branch of AI</a:t>
          </a:r>
          <a:endParaRPr lang="en-US" sz="2200" kern="1200"/>
        </a:p>
      </dsp:txBody>
      <dsp:txXfrm>
        <a:off x="1840447" y="680"/>
        <a:ext cx="4420652" cy="1593460"/>
      </dsp:txXfrm>
    </dsp:sp>
    <dsp:sp modelId="{BBF48826-782C-4167-AC94-9163670A67EF}">
      <dsp:nvSpPr>
        <dsp:cNvPr id="0" name=""/>
        <dsp:cNvSpPr/>
      </dsp:nvSpPr>
      <dsp:spPr>
        <a:xfrm>
          <a:off x="0" y="1992507"/>
          <a:ext cx="6261100" cy="15934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734555-0D4B-4BFA-9806-47B62E943B4B}">
      <dsp:nvSpPr>
        <dsp:cNvPr id="0" name=""/>
        <dsp:cNvSpPr/>
      </dsp:nvSpPr>
      <dsp:spPr>
        <a:xfrm>
          <a:off x="482021" y="2351035"/>
          <a:ext cx="876403" cy="8764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2D35F30-28A7-40C0-B6D7-532CFBDAF8C9}">
      <dsp:nvSpPr>
        <dsp:cNvPr id="0" name=""/>
        <dsp:cNvSpPr/>
      </dsp:nvSpPr>
      <dsp:spPr>
        <a:xfrm>
          <a:off x="1840447" y="1992507"/>
          <a:ext cx="4420652" cy="1593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641" tIns="168641" rIns="168641" bIns="168641" numCol="1" spcCol="1270" anchor="ctr" anchorCtr="0">
          <a:noAutofit/>
        </a:bodyPr>
        <a:lstStyle/>
        <a:p>
          <a:pPr marL="0" lvl="0" indent="0" algn="l" defTabSz="977900">
            <a:lnSpc>
              <a:spcPct val="90000"/>
            </a:lnSpc>
            <a:spcBef>
              <a:spcPct val="0"/>
            </a:spcBef>
            <a:spcAft>
              <a:spcPct val="35000"/>
            </a:spcAft>
            <a:buNone/>
          </a:pPr>
          <a:r>
            <a:rPr kumimoji="1" lang="en-US" sz="2200" kern="1200"/>
            <a:t>Nowadays, most of computer vision tasks are solved using neural networks</a:t>
          </a:r>
          <a:endParaRPr lang="en-US" sz="2200" kern="1200"/>
        </a:p>
      </dsp:txBody>
      <dsp:txXfrm>
        <a:off x="1840447" y="1992507"/>
        <a:ext cx="4420652" cy="1593460"/>
      </dsp:txXfrm>
    </dsp:sp>
    <dsp:sp modelId="{4D94D5B6-DEC8-4A2C-9237-84AC034AE5A6}">
      <dsp:nvSpPr>
        <dsp:cNvPr id="0" name=""/>
        <dsp:cNvSpPr/>
      </dsp:nvSpPr>
      <dsp:spPr>
        <a:xfrm>
          <a:off x="0" y="3984333"/>
          <a:ext cx="6261100" cy="15934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C628E8-02E4-4CD6-820F-307A8EEE587D}">
      <dsp:nvSpPr>
        <dsp:cNvPr id="0" name=""/>
        <dsp:cNvSpPr/>
      </dsp:nvSpPr>
      <dsp:spPr>
        <a:xfrm>
          <a:off x="482021" y="4342861"/>
          <a:ext cx="876403" cy="87640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2C7F0BF-2451-48B6-8368-C9EF6072313A}">
      <dsp:nvSpPr>
        <dsp:cNvPr id="0" name=""/>
        <dsp:cNvSpPr/>
      </dsp:nvSpPr>
      <dsp:spPr>
        <a:xfrm>
          <a:off x="1840447" y="3984333"/>
          <a:ext cx="4420652" cy="1593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641" tIns="168641" rIns="168641" bIns="168641" numCol="1" spcCol="1270" anchor="ctr" anchorCtr="0">
          <a:noAutofit/>
        </a:bodyPr>
        <a:lstStyle/>
        <a:p>
          <a:pPr marL="0" lvl="0" indent="0" algn="l" defTabSz="977900">
            <a:lnSpc>
              <a:spcPct val="90000"/>
            </a:lnSpc>
            <a:spcBef>
              <a:spcPct val="0"/>
            </a:spcBef>
            <a:spcAft>
              <a:spcPct val="35000"/>
            </a:spcAft>
            <a:buNone/>
          </a:pPr>
          <a:r>
            <a:rPr kumimoji="1" lang="en-US" sz="2200" kern="1200"/>
            <a:t>We will learn more about the special type of neural networks used for computer vision, i.e. convolutional neural networks</a:t>
          </a:r>
          <a:endParaRPr lang="en-US" sz="2200" kern="1200"/>
        </a:p>
      </dsp:txBody>
      <dsp:txXfrm>
        <a:off x="1840447" y="3984333"/>
        <a:ext cx="4420652" cy="159346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736BBE-BFAE-9F43-B166-13FEFD314CB3}" type="datetimeFigureOut">
              <a:rPr kumimoji="1" lang="ko-KR" altLang="en-US" smtClean="0"/>
              <a:t>2024. 4. 9.</a:t>
            </a:fld>
            <a:endParaRPr kumimoji="1"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3465AF-F441-2346-A316-A9FE97FE20D6}" type="slidenum">
              <a:rPr kumimoji="1" lang="ko-KR" altLang="en-US" smtClean="0"/>
              <a:t>‹#›</a:t>
            </a:fld>
            <a:endParaRPr kumimoji="1" lang="ko-KR" altLang="en-US"/>
          </a:p>
        </p:txBody>
      </p:sp>
    </p:spTree>
    <p:extLst>
      <p:ext uri="{BB962C8B-B14F-4D97-AF65-F5344CB8AC3E}">
        <p14:creationId xmlns:p14="http://schemas.microsoft.com/office/powerpoint/2010/main" val="393403760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ko-KR" altLang="en-US"/>
              <a:t>마스터 제목 스타일 편집</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4B4401D8-5128-A44A-8319-D6A9E9B7B21D}" type="datetime1">
              <a:rPr lang="ko-KR" altLang="en-US" smtClean="0"/>
              <a:t>2024. 4. 9.</a:t>
            </a:fld>
            <a:endParaRPr lang="en-US" dirty="0"/>
          </a:p>
        </p:txBody>
      </p:sp>
      <p:sp>
        <p:nvSpPr>
          <p:cNvPr id="5" name="Footer Placeholder 4"/>
          <p:cNvSpPr>
            <a:spLocks noGrp="1"/>
          </p:cNvSpPr>
          <p:nvPr>
            <p:ph type="ftr" sz="quarter" idx="11"/>
          </p:nvPr>
        </p:nvSpPr>
        <p:spPr/>
        <p:txBody>
          <a:bodyPr/>
          <a:lstStyle/>
          <a:p>
            <a:endParaRPr lang="en-US">
              <a:solidFill>
                <a:srgbClr val="FFFFFF"/>
              </a:solidFill>
            </a:endParaRPr>
          </a:p>
        </p:txBody>
      </p:sp>
      <p:sp>
        <p:nvSpPr>
          <p:cNvPr id="6" name="Slide Number Placeholder 5"/>
          <p:cNvSpPr>
            <a:spLocks noGrp="1"/>
          </p:cNvSpPr>
          <p:nvPr>
            <p:ph type="sldNum" sz="quarter" idx="12"/>
          </p:nvPr>
        </p:nvSpPr>
        <p:spPr>
          <a:xfrm>
            <a:off x="9255346" y="2750337"/>
            <a:ext cx="1171888" cy="1356442"/>
          </a:xfrm>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328983249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4B4401D8-5128-A44A-8319-D6A9E9B7B21D}" type="datetime1">
              <a:rPr lang="ko-KR" altLang="en-US" smtClean="0"/>
              <a:t>2024. 4. 9.</a:t>
            </a:fld>
            <a:endParaRPr lang="en-US" dirty="0"/>
          </a:p>
        </p:txBody>
      </p:sp>
      <p:sp>
        <p:nvSpPr>
          <p:cNvPr id="5" name="Footer Placeholder 4"/>
          <p:cNvSpPr>
            <a:spLocks noGrp="1"/>
          </p:cNvSpPr>
          <p:nvPr>
            <p:ph type="ftr" sz="quarter" idx="11"/>
          </p:nvPr>
        </p:nvSpPr>
        <p:spPr/>
        <p:txBody>
          <a:bodyPr/>
          <a:lstStyle/>
          <a:p>
            <a:endParaRPr lang="en-US">
              <a:solidFill>
                <a:srgbClr val="FFFFFF"/>
              </a:solidFill>
            </a:endParaRPr>
          </a:p>
        </p:txBody>
      </p:sp>
      <p:sp>
        <p:nvSpPr>
          <p:cNvPr id="6" name="Slide Number Placeholder 5"/>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356986672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ko-KR" altLang="en-US"/>
              <a:t>마스터 제목 스타일 편집</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4B4401D8-5128-A44A-8319-D6A9E9B7B21D}" type="datetime1">
              <a:rPr lang="ko-KR" altLang="en-US" smtClean="0"/>
              <a:t>2024. 4. 9.</a:t>
            </a:fld>
            <a:endParaRPr lang="en-US" dirty="0"/>
          </a:p>
        </p:txBody>
      </p:sp>
      <p:sp>
        <p:nvSpPr>
          <p:cNvPr id="5" name="Footer Placeholder 4"/>
          <p:cNvSpPr>
            <a:spLocks noGrp="1"/>
          </p:cNvSpPr>
          <p:nvPr>
            <p:ph type="ftr" sz="quarter" idx="11"/>
          </p:nvPr>
        </p:nvSpPr>
        <p:spPr/>
        <p:txBody>
          <a:bodyPr/>
          <a:lstStyle/>
          <a:p>
            <a:endParaRPr lang="en-US">
              <a:solidFill>
                <a:srgbClr val="FFFFFF"/>
              </a:solidFill>
            </a:endParaRPr>
          </a:p>
        </p:txBody>
      </p:sp>
      <p:sp>
        <p:nvSpPr>
          <p:cNvPr id="6" name="Slide Number Placeholder 5"/>
          <p:cNvSpPr>
            <a:spLocks noGrp="1"/>
          </p:cNvSpPr>
          <p:nvPr>
            <p:ph type="sldNum" sz="quarter" idx="12"/>
          </p:nvPr>
        </p:nvSpPr>
        <p:spPr>
          <a:xfrm>
            <a:off x="10729455" y="2869895"/>
            <a:ext cx="1154151" cy="1090789"/>
          </a:xfrm>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251185535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4B4401D8-5128-A44A-8319-D6A9E9B7B21D}" type="datetime1">
              <a:rPr lang="ko-KR" altLang="en-US" smtClean="0"/>
              <a:t>2024. 4. 9.</a:t>
            </a:fld>
            <a:endParaRPr lang="en-US" dirty="0"/>
          </a:p>
        </p:txBody>
      </p:sp>
      <p:sp>
        <p:nvSpPr>
          <p:cNvPr id="6" name="Footer Placeholder 5"/>
          <p:cNvSpPr>
            <a:spLocks noGrp="1"/>
          </p:cNvSpPr>
          <p:nvPr>
            <p:ph type="ftr" sz="quarter" idx="11"/>
          </p:nvPr>
        </p:nvSpPr>
        <p:spPr/>
        <p:txBody>
          <a:bodyPr/>
          <a:lstStyle/>
          <a:p>
            <a:endParaRPr lang="en-US">
              <a:solidFill>
                <a:srgbClr val="FFFFFF"/>
              </a:solidFill>
            </a:endParaRPr>
          </a:p>
        </p:txBody>
      </p:sp>
      <p:sp>
        <p:nvSpPr>
          <p:cNvPr id="7" name="Slide Number Placeholder 6"/>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1314672937"/>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680322" y="3030008"/>
            <a:ext cx="4698355" cy="2906179"/>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5594123" y="3030008"/>
            <a:ext cx="4700059" cy="2906179"/>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4B4401D8-5128-A44A-8319-D6A9E9B7B21D}" type="datetime1">
              <a:rPr lang="ko-KR" altLang="en-US" smtClean="0"/>
              <a:t>2024. 4. 9.</a:t>
            </a:fld>
            <a:endParaRPr lang="en-US" dirty="0"/>
          </a:p>
        </p:txBody>
      </p:sp>
      <p:sp>
        <p:nvSpPr>
          <p:cNvPr id="8" name="Footer Placeholder 7"/>
          <p:cNvSpPr>
            <a:spLocks noGrp="1"/>
          </p:cNvSpPr>
          <p:nvPr>
            <p:ph type="ftr" sz="quarter" idx="11"/>
          </p:nvPr>
        </p:nvSpPr>
        <p:spPr/>
        <p:txBody>
          <a:bodyPr/>
          <a:lstStyle/>
          <a:p>
            <a:endParaRPr lang="en-US">
              <a:solidFill>
                <a:srgbClr val="FFFFFF"/>
              </a:solidFill>
            </a:endParaRPr>
          </a:p>
        </p:txBody>
      </p:sp>
      <p:sp>
        <p:nvSpPr>
          <p:cNvPr id="9" name="Slide Number Placeholder 8"/>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313668214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4B4401D8-5128-A44A-8319-D6A9E9B7B21D}" type="datetime1">
              <a:rPr lang="ko-KR" altLang="en-US" smtClean="0"/>
              <a:t>2024. 4. 9.</a:t>
            </a:fld>
            <a:endParaRPr lang="en-US" dirty="0"/>
          </a:p>
        </p:txBody>
      </p:sp>
      <p:sp>
        <p:nvSpPr>
          <p:cNvPr id="4" name="Footer Placeholder 3"/>
          <p:cNvSpPr>
            <a:spLocks noGrp="1"/>
          </p:cNvSpPr>
          <p:nvPr>
            <p:ph type="ftr" sz="quarter" idx="11"/>
          </p:nvPr>
        </p:nvSpPr>
        <p:spPr/>
        <p:txBody>
          <a:bodyPr/>
          <a:lstStyle/>
          <a:p>
            <a:endParaRPr lang="en-US">
              <a:solidFill>
                <a:srgbClr val="FFFFFF"/>
              </a:solidFill>
            </a:endParaRPr>
          </a:p>
        </p:txBody>
      </p:sp>
      <p:sp>
        <p:nvSpPr>
          <p:cNvPr id="5" name="Slide Number Placeholder 4"/>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2407990082"/>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4B4401D8-5128-A44A-8319-D6A9E9B7B21D}" type="datetime1">
              <a:rPr lang="ko-KR" altLang="en-US" smtClean="0"/>
              <a:t>2024. 4. 9.</a:t>
            </a:fld>
            <a:endParaRPr lang="en-US" dirty="0"/>
          </a:p>
        </p:txBody>
      </p:sp>
      <p:sp>
        <p:nvSpPr>
          <p:cNvPr id="3" name="Footer Placeholder 2"/>
          <p:cNvSpPr>
            <a:spLocks noGrp="1"/>
          </p:cNvSpPr>
          <p:nvPr>
            <p:ph type="ftr" sz="quarter" idx="11"/>
          </p:nvPr>
        </p:nvSpPr>
        <p:spPr/>
        <p:txBody>
          <a:bodyPr/>
          <a:lstStyle/>
          <a:p>
            <a:endParaRPr lang="en-US">
              <a:solidFill>
                <a:srgbClr val="FFFFFF"/>
              </a:solidFill>
            </a:endParaRPr>
          </a:p>
        </p:txBody>
      </p:sp>
      <p:sp>
        <p:nvSpPr>
          <p:cNvPr id="4" name="Slide Number Placeholder 3"/>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398029590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ko-KR" altLang="en-US"/>
              <a:t>마스터 제목 스타일 편집</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4B4401D8-5128-A44A-8319-D6A9E9B7B21D}" type="datetime1">
              <a:rPr lang="ko-KR" altLang="en-US" smtClean="0"/>
              <a:t>2024. 4. 9.</a:t>
            </a:fld>
            <a:endParaRPr lang="en-US" dirty="0"/>
          </a:p>
        </p:txBody>
      </p:sp>
      <p:sp>
        <p:nvSpPr>
          <p:cNvPr id="6" name="Footer Placeholder 5"/>
          <p:cNvSpPr>
            <a:spLocks noGrp="1"/>
          </p:cNvSpPr>
          <p:nvPr>
            <p:ph type="ftr" sz="quarter" idx="11"/>
          </p:nvPr>
        </p:nvSpPr>
        <p:spPr/>
        <p:txBody>
          <a:bodyPr/>
          <a:lstStyle/>
          <a:p>
            <a:endParaRPr lang="en-US">
              <a:solidFill>
                <a:srgbClr val="FFFFFF"/>
              </a:solidFill>
            </a:endParaRPr>
          </a:p>
        </p:txBody>
      </p:sp>
      <p:sp>
        <p:nvSpPr>
          <p:cNvPr id="7" name="Slide Number Placeholder 6"/>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189409764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4B4401D8-5128-A44A-8319-D6A9E9B7B21D}" type="datetime1">
              <a:rPr lang="ko-KR" altLang="en-US" smtClean="0"/>
              <a:t>2024. 4. 9.</a:t>
            </a:fld>
            <a:endParaRPr lang="en-US" dirty="0"/>
          </a:p>
        </p:txBody>
      </p:sp>
      <p:sp>
        <p:nvSpPr>
          <p:cNvPr id="6" name="Footer Placeholder 5"/>
          <p:cNvSpPr>
            <a:spLocks noGrp="1"/>
          </p:cNvSpPr>
          <p:nvPr>
            <p:ph type="ftr" sz="quarter" idx="11"/>
          </p:nvPr>
        </p:nvSpPr>
        <p:spPr/>
        <p:txBody>
          <a:bodyPr/>
          <a:lstStyle/>
          <a:p>
            <a:endParaRPr lang="en-US">
              <a:solidFill>
                <a:srgbClr val="FFFFFF"/>
              </a:solidFill>
            </a:endParaRPr>
          </a:p>
        </p:txBody>
      </p:sp>
      <p:sp>
        <p:nvSpPr>
          <p:cNvPr id="7" name="Slide Number Placeholder 6"/>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944802569"/>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캡션 있는 파노라마 그림">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4B4401D8-5128-A44A-8319-D6A9E9B7B21D}" type="datetime1">
              <a:rPr lang="ko-KR" altLang="en-US" smtClean="0"/>
              <a:t>2024. 4. 9.</a:t>
            </a:fld>
            <a:endParaRPr lang="en-US" dirty="0"/>
          </a:p>
        </p:txBody>
      </p:sp>
      <p:sp>
        <p:nvSpPr>
          <p:cNvPr id="6" name="Footer Placeholder 5"/>
          <p:cNvSpPr>
            <a:spLocks noGrp="1"/>
          </p:cNvSpPr>
          <p:nvPr>
            <p:ph type="ftr" sz="quarter" idx="11"/>
          </p:nvPr>
        </p:nvSpPr>
        <p:spPr/>
        <p:txBody>
          <a:bodyPr/>
          <a:lstStyle/>
          <a:p>
            <a:endParaRPr lang="en-US">
              <a:solidFill>
                <a:srgbClr val="FFFFFF"/>
              </a:solidFill>
            </a:endParaRPr>
          </a:p>
        </p:txBody>
      </p:sp>
      <p:sp>
        <p:nvSpPr>
          <p:cNvPr id="7" name="Slide Number Placeholder 6"/>
          <p:cNvSpPr>
            <a:spLocks noGrp="1"/>
          </p:cNvSpPr>
          <p:nvPr>
            <p:ph type="sldNum" sz="quarter" idx="12"/>
          </p:nvPr>
        </p:nvSpPr>
        <p:spPr>
          <a:xfrm>
            <a:off x="10729455" y="4711309"/>
            <a:ext cx="1154151" cy="1090789"/>
          </a:xfrm>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107560194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제목 및 캡션">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ko-KR" altLang="en-US"/>
              <a:t>마스터 제목 스타일 편집</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4B4401D8-5128-A44A-8319-D6A9E9B7B21D}" type="datetime1">
              <a:rPr lang="ko-KR" altLang="en-US" smtClean="0"/>
              <a:t>2024. 4. 9.</a:t>
            </a:fld>
            <a:endParaRPr lang="en-US" dirty="0"/>
          </a:p>
        </p:txBody>
      </p:sp>
      <p:sp>
        <p:nvSpPr>
          <p:cNvPr id="6" name="Footer Placeholder 5"/>
          <p:cNvSpPr>
            <a:spLocks noGrp="1"/>
          </p:cNvSpPr>
          <p:nvPr>
            <p:ph type="ftr" sz="quarter" idx="11"/>
          </p:nvPr>
        </p:nvSpPr>
        <p:spPr/>
        <p:txBody>
          <a:bodyPr/>
          <a:lstStyle/>
          <a:p>
            <a:endParaRPr lang="en-US">
              <a:solidFill>
                <a:srgbClr val="FFFFFF"/>
              </a:solidFill>
            </a:endParaRPr>
          </a:p>
        </p:txBody>
      </p:sp>
      <p:sp>
        <p:nvSpPr>
          <p:cNvPr id="7" name="Slide Number Placeholder 6"/>
          <p:cNvSpPr>
            <a:spLocks noGrp="1"/>
          </p:cNvSpPr>
          <p:nvPr>
            <p:ph type="sldNum" sz="quarter" idx="12"/>
          </p:nvPr>
        </p:nvSpPr>
        <p:spPr>
          <a:xfrm>
            <a:off x="10729455" y="4711615"/>
            <a:ext cx="1154151" cy="1090789"/>
          </a:xfrm>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91424415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캡션 있는 인용문">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ko-KR" altLang="en-US"/>
              <a:t>마스터 제목 스타일 편집</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4B4401D8-5128-A44A-8319-D6A9E9B7B21D}" type="datetime1">
              <a:rPr lang="ko-KR" altLang="en-US" smtClean="0"/>
              <a:t>2024. 4. 9.</a:t>
            </a:fld>
            <a:endParaRPr lang="en-US" dirty="0"/>
          </a:p>
        </p:txBody>
      </p:sp>
      <p:sp>
        <p:nvSpPr>
          <p:cNvPr id="6" name="Footer Placeholder 5"/>
          <p:cNvSpPr>
            <a:spLocks noGrp="1"/>
          </p:cNvSpPr>
          <p:nvPr>
            <p:ph type="ftr" sz="quarter" idx="11"/>
          </p:nvPr>
        </p:nvSpPr>
        <p:spPr/>
        <p:txBody>
          <a:bodyPr/>
          <a:lstStyle/>
          <a:p>
            <a:endParaRPr lang="en-US">
              <a:solidFill>
                <a:srgbClr val="FFFFFF"/>
              </a:solidFill>
            </a:endParaRPr>
          </a:p>
        </p:txBody>
      </p:sp>
      <p:sp>
        <p:nvSpPr>
          <p:cNvPr id="7" name="Slide Number Placeholder 6"/>
          <p:cNvSpPr>
            <a:spLocks noGrp="1"/>
          </p:cNvSpPr>
          <p:nvPr>
            <p:ph type="sldNum" sz="quarter" idx="12"/>
          </p:nvPr>
        </p:nvSpPr>
        <p:spPr>
          <a:xfrm>
            <a:off x="10729455" y="4709925"/>
            <a:ext cx="1154151" cy="1090789"/>
          </a:xfrm>
        </p:spPr>
        <p:txBody>
          <a:bodyPr/>
          <a:lstStyle/>
          <a:p>
            <a:fld id="{28844951-7827-47D4-8276-7DDE1FA7D85A}" type="slidenum">
              <a:rPr lang="en-US" smtClean="0"/>
              <a:pPr/>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61838619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명함">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ko-KR" altLang="en-US"/>
              <a:t>마스터 제목 스타일 편집</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4B4401D8-5128-A44A-8319-D6A9E9B7B21D}" type="datetime1">
              <a:rPr lang="ko-KR" altLang="en-US" smtClean="0"/>
              <a:t>2024. 4. 9.</a:t>
            </a:fld>
            <a:endParaRPr lang="en-US" dirty="0"/>
          </a:p>
        </p:txBody>
      </p:sp>
      <p:sp>
        <p:nvSpPr>
          <p:cNvPr id="6" name="Footer Placeholder 5"/>
          <p:cNvSpPr>
            <a:spLocks noGrp="1"/>
          </p:cNvSpPr>
          <p:nvPr>
            <p:ph type="ftr" sz="quarter" idx="11"/>
          </p:nvPr>
        </p:nvSpPr>
        <p:spPr/>
        <p:txBody>
          <a:bodyPr/>
          <a:lstStyle/>
          <a:p>
            <a:endParaRPr lang="en-US">
              <a:solidFill>
                <a:srgbClr val="FFFFFF"/>
              </a:solidFill>
            </a:endParaRPr>
          </a:p>
        </p:txBody>
      </p:sp>
      <p:sp>
        <p:nvSpPr>
          <p:cNvPr id="7" name="Slide Number Placeholder 6"/>
          <p:cNvSpPr>
            <a:spLocks noGrp="1"/>
          </p:cNvSpPr>
          <p:nvPr>
            <p:ph type="sldNum" sz="quarter" idx="12"/>
          </p:nvPr>
        </p:nvSpPr>
        <p:spPr>
          <a:xfrm>
            <a:off x="10729455" y="4709925"/>
            <a:ext cx="1154151" cy="1090789"/>
          </a:xfrm>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29495006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열">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ko-KR" altLang="en-US"/>
              <a:t>마스터 제목 스타일 편집</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편집하려면 클릭</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편집하려면 클릭</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편집하려면 클릭</a:t>
            </a:r>
          </a:p>
        </p:txBody>
      </p:sp>
      <p:sp>
        <p:nvSpPr>
          <p:cNvPr id="3" name="Date Placeholder 2"/>
          <p:cNvSpPr>
            <a:spLocks noGrp="1"/>
          </p:cNvSpPr>
          <p:nvPr>
            <p:ph type="dt" sz="half" idx="10"/>
          </p:nvPr>
        </p:nvSpPr>
        <p:spPr/>
        <p:txBody>
          <a:bodyPr/>
          <a:lstStyle/>
          <a:p>
            <a:fld id="{4B4401D8-5128-A44A-8319-D6A9E9B7B21D}" type="datetime1">
              <a:rPr lang="ko-KR" altLang="en-US" smtClean="0"/>
              <a:t>2024. 4. 9.</a:t>
            </a:fld>
            <a:endParaRPr lang="en-US" dirty="0"/>
          </a:p>
        </p:txBody>
      </p:sp>
      <p:sp>
        <p:nvSpPr>
          <p:cNvPr id="4" name="Footer Placeholder 3"/>
          <p:cNvSpPr>
            <a:spLocks noGrp="1"/>
          </p:cNvSpPr>
          <p:nvPr>
            <p:ph type="ftr" sz="quarter" idx="11"/>
          </p:nvPr>
        </p:nvSpPr>
        <p:spPr/>
        <p:txBody>
          <a:bodyPr/>
          <a:lstStyle/>
          <a:p>
            <a:endParaRPr lang="en-US">
              <a:solidFill>
                <a:srgbClr val="FFFFFF"/>
              </a:solidFill>
            </a:endParaRPr>
          </a:p>
        </p:txBody>
      </p:sp>
      <p:sp>
        <p:nvSpPr>
          <p:cNvPr id="5" name="Slide Number Placeholder 4"/>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2254806805"/>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그림 열 3개">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ko-KR" altLang="en-US"/>
              <a:t>마스터 제목 스타일 편집</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ko-KR" altLang="en-US"/>
              <a:t>그림을 추가하려면 아이콘을 클릭하십시오</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편집하려면 클릭</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ko-KR" altLang="en-US"/>
              <a:t>그림을 추가하려면 아이콘을 클릭하십시오</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편집하려면 클릭</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ko-KR" altLang="en-US"/>
              <a:t>그림을 추가하려면 아이콘을 클릭하십시오</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편집하려면 클릭</a:t>
            </a:r>
          </a:p>
        </p:txBody>
      </p:sp>
      <p:sp>
        <p:nvSpPr>
          <p:cNvPr id="3" name="Date Placeholder 2"/>
          <p:cNvSpPr>
            <a:spLocks noGrp="1"/>
          </p:cNvSpPr>
          <p:nvPr>
            <p:ph type="dt" sz="half" idx="10"/>
          </p:nvPr>
        </p:nvSpPr>
        <p:spPr/>
        <p:txBody>
          <a:bodyPr/>
          <a:lstStyle/>
          <a:p>
            <a:fld id="{4B4401D8-5128-A44A-8319-D6A9E9B7B21D}" type="datetime1">
              <a:rPr lang="ko-KR" altLang="en-US" smtClean="0"/>
              <a:t>2024. 4. 9.</a:t>
            </a:fld>
            <a:endParaRPr lang="en-US" dirty="0"/>
          </a:p>
        </p:txBody>
      </p:sp>
      <p:sp>
        <p:nvSpPr>
          <p:cNvPr id="4" name="Footer Placeholder 3"/>
          <p:cNvSpPr>
            <a:spLocks noGrp="1"/>
          </p:cNvSpPr>
          <p:nvPr>
            <p:ph type="ftr" sz="quarter" idx="11"/>
          </p:nvPr>
        </p:nvSpPr>
        <p:spPr/>
        <p:txBody>
          <a:bodyPr/>
          <a:lstStyle/>
          <a:p>
            <a:endParaRPr lang="en-US">
              <a:solidFill>
                <a:srgbClr val="FFFFFF"/>
              </a:solidFill>
            </a:endParaRPr>
          </a:p>
        </p:txBody>
      </p:sp>
      <p:sp>
        <p:nvSpPr>
          <p:cNvPr id="5" name="Slide Number Placeholder 4"/>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1652673044"/>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4B4401D8-5128-A44A-8319-D6A9E9B7B21D}" type="datetime1">
              <a:rPr lang="ko-KR" altLang="en-US" smtClean="0"/>
              <a:t>2024. 4. 9.</a:t>
            </a:fld>
            <a:endParaRPr lang="en-US" dirty="0"/>
          </a:p>
        </p:txBody>
      </p:sp>
      <p:sp>
        <p:nvSpPr>
          <p:cNvPr id="5" name="Footer Placeholder 4"/>
          <p:cNvSpPr>
            <a:spLocks noGrp="1"/>
          </p:cNvSpPr>
          <p:nvPr>
            <p:ph type="ftr" sz="quarter" idx="11"/>
          </p:nvPr>
        </p:nvSpPr>
        <p:spPr/>
        <p:txBody>
          <a:bodyPr/>
          <a:lstStyle/>
          <a:p>
            <a:endParaRPr lang="en-US">
              <a:solidFill>
                <a:srgbClr val="FFFFFF"/>
              </a:solidFill>
            </a:endParaRPr>
          </a:p>
        </p:txBody>
      </p:sp>
      <p:sp>
        <p:nvSpPr>
          <p:cNvPr id="6" name="Slide Number Placeholder 5"/>
          <p:cNvSpPr>
            <a:spLocks noGrp="1"/>
          </p:cNvSpPr>
          <p:nvPr>
            <p:ph type="sldNum" sz="quarter" idx="12"/>
          </p:nvPr>
        </p:nvSpPr>
        <p:spPr/>
        <p:txBody>
          <a:bodyPr/>
          <a:lstStyle/>
          <a:p>
            <a:fld id="{28844951-7827-47D4-8276-7DDE1FA7D85A}" type="slidenum">
              <a:rPr lang="en-US" smtClean="0"/>
              <a:pPr/>
              <a:t>‹#›</a:t>
            </a:fld>
            <a:endParaRPr lang="en-US"/>
          </a:p>
        </p:txBody>
      </p:sp>
    </p:spTree>
    <p:extLst>
      <p:ext uri="{BB962C8B-B14F-4D97-AF65-F5344CB8AC3E}">
        <p14:creationId xmlns:p14="http://schemas.microsoft.com/office/powerpoint/2010/main" val="3179549707"/>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4B4401D8-5128-A44A-8319-D6A9E9B7B21D}" type="datetime1">
              <a:rPr lang="ko-KR" altLang="en-US" smtClean="0"/>
              <a:t>2024. 4. 9.</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a:solidFill>
                <a:srgbClr val="FFFFFF"/>
              </a:solidFill>
            </a:endParaRPr>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28844951-7827-47D4-8276-7DDE1FA7D85A}" type="slidenum">
              <a:rPr lang="en-US" smtClean="0"/>
              <a:pPr/>
              <a:t>‹#›</a:t>
            </a:fld>
            <a:endParaRPr lang="en-US"/>
          </a:p>
        </p:txBody>
      </p:sp>
    </p:spTree>
    <p:extLst>
      <p:ext uri="{BB962C8B-B14F-4D97-AF65-F5344CB8AC3E}">
        <p14:creationId xmlns:p14="http://schemas.microsoft.com/office/powerpoint/2010/main" val="470868303"/>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B4401D8-5128-A44A-8319-D6A9E9B7B21D}" type="datetime1">
              <a:rPr lang="ko-KR" altLang="en-US" smtClean="0"/>
              <a:t>2024. 4. 9.</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solidFill>
                <a:srgbClr val="FFFFFF"/>
              </a:solidFill>
            </a:endParaRPr>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28844951-7827-47D4-8276-7DDE1FA7D85A}" type="slidenum">
              <a:rPr lang="en-US" smtClean="0"/>
              <a:pPr/>
              <a:t>‹#›</a:t>
            </a:fld>
            <a:endParaRPr lang="en-US"/>
          </a:p>
        </p:txBody>
      </p:sp>
    </p:spTree>
    <p:extLst>
      <p:ext uri="{BB962C8B-B14F-4D97-AF65-F5344CB8AC3E}">
        <p14:creationId xmlns:p14="http://schemas.microsoft.com/office/powerpoint/2010/main" val="3523657915"/>
      </p:ext>
    </p:extLst>
  </p:cSld>
  <p:clrMap bg1="dk1" tx1="lt1" bg2="dk2" tx2="lt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 id="2147483873" r:id="rId12"/>
    <p:sldLayoutId id="2147483874" r:id="rId13"/>
    <p:sldLayoutId id="2147483875" r:id="rId14"/>
    <p:sldLayoutId id="2147483876" r:id="rId15"/>
    <p:sldLayoutId id="2147483877" r:id="rId16"/>
    <p:sldLayoutId id="2147483878" r:id="rId17"/>
  </p:sldLayoutIdLst>
  <p:hf hdr="0" ftr="0" dt="0"/>
  <p:txStyles>
    <p:titleStyle>
      <a:lvl1pPr algn="l" defTabSz="914400" rtl="0" eaLnBrk="1" latinLnBrk="1"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7.png"/><Relationship Id="rId7" Type="http://schemas.openxmlformats.org/officeDocument/2006/relationships/diagramColors" Target="../diagrams/colors1.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AD3E715-BBCA-5C4B-2692-46B8628A2552}"/>
              </a:ext>
            </a:extLst>
          </p:cNvPr>
          <p:cNvSpPr>
            <a:spLocks noGrp="1"/>
          </p:cNvSpPr>
          <p:nvPr>
            <p:ph type="ctrTitle"/>
          </p:nvPr>
        </p:nvSpPr>
        <p:spPr>
          <a:xfrm>
            <a:off x="838200" y="2652585"/>
            <a:ext cx="4800600" cy="3766268"/>
          </a:xfrm>
        </p:spPr>
        <p:txBody>
          <a:bodyPr anchor="t">
            <a:normAutofit/>
          </a:bodyPr>
          <a:lstStyle/>
          <a:p>
            <a:pPr algn="l"/>
            <a:r>
              <a:rPr kumimoji="1" lang="en-US" altLang="ko-KR" dirty="0">
                <a:gradFill flip="none" rotWithShape="1">
                  <a:gsLst>
                    <a:gs pos="0">
                      <a:schemeClr val="accent5">
                        <a:alpha val="70000"/>
                      </a:schemeClr>
                    </a:gs>
                    <a:gs pos="100000">
                      <a:schemeClr val="accent1">
                        <a:alpha val="70000"/>
                      </a:schemeClr>
                    </a:gs>
                  </a:gsLst>
                  <a:lin ang="0" scaled="1"/>
                  <a:tileRect/>
                </a:gradFill>
              </a:rPr>
              <a:t>Computer Vision</a:t>
            </a:r>
            <a:endParaRPr kumimoji="1" lang="ko-KR" altLang="en-US" dirty="0">
              <a:gradFill flip="none" rotWithShape="1">
                <a:gsLst>
                  <a:gs pos="0">
                    <a:schemeClr val="accent5">
                      <a:alpha val="70000"/>
                    </a:schemeClr>
                  </a:gs>
                  <a:gs pos="100000">
                    <a:schemeClr val="accent1">
                      <a:alpha val="70000"/>
                    </a:schemeClr>
                  </a:gs>
                </a:gsLst>
                <a:lin ang="0" scaled="1"/>
                <a:tileRect/>
              </a:gradFill>
            </a:endParaRPr>
          </a:p>
        </p:txBody>
      </p:sp>
      <p:sp>
        <p:nvSpPr>
          <p:cNvPr id="3" name="부제목 2">
            <a:extLst>
              <a:ext uri="{FF2B5EF4-FFF2-40B4-BE49-F238E27FC236}">
                <a16:creationId xmlns:a16="http://schemas.microsoft.com/office/drawing/2014/main" id="{32E3CA5E-7C02-301E-B4E8-D028991509E3}"/>
              </a:ext>
            </a:extLst>
          </p:cNvPr>
          <p:cNvSpPr>
            <a:spLocks noGrp="1"/>
          </p:cNvSpPr>
          <p:nvPr>
            <p:ph type="subTitle" idx="1"/>
          </p:nvPr>
        </p:nvSpPr>
        <p:spPr>
          <a:xfrm>
            <a:off x="838200" y="762000"/>
            <a:ext cx="4800600" cy="1066800"/>
          </a:xfrm>
        </p:spPr>
        <p:txBody>
          <a:bodyPr>
            <a:normAutofit/>
          </a:bodyPr>
          <a:lstStyle/>
          <a:p>
            <a:pPr algn="l"/>
            <a:r>
              <a:rPr kumimoji="1" lang="en-US" altLang="ko-KR" sz="2200">
                <a:solidFill>
                  <a:schemeClr val="tx2">
                    <a:alpha val="60000"/>
                  </a:schemeClr>
                </a:solidFill>
              </a:rPr>
              <a:t>Foundation of AI</a:t>
            </a:r>
            <a:endParaRPr kumimoji="1" lang="ko-KR" altLang="en-US" sz="2200">
              <a:solidFill>
                <a:schemeClr val="tx2">
                  <a:alpha val="60000"/>
                </a:schemeClr>
              </a:solidFill>
            </a:endParaRPr>
          </a:p>
        </p:txBody>
      </p:sp>
      <p:sp>
        <p:nvSpPr>
          <p:cNvPr id="5" name="슬라이드 번호 개체 틀 4">
            <a:extLst>
              <a:ext uri="{FF2B5EF4-FFF2-40B4-BE49-F238E27FC236}">
                <a16:creationId xmlns:a16="http://schemas.microsoft.com/office/drawing/2014/main" id="{2A9B2E7E-708C-5264-7062-592780F0BA08}"/>
              </a:ext>
            </a:extLst>
          </p:cNvPr>
          <p:cNvSpPr>
            <a:spLocks noGrp="1"/>
          </p:cNvSpPr>
          <p:nvPr>
            <p:ph type="sldNum" sz="quarter" idx="12"/>
          </p:nvPr>
        </p:nvSpPr>
        <p:spPr/>
        <p:txBody>
          <a:bodyPr/>
          <a:lstStyle/>
          <a:p>
            <a:fld id="{28844951-7827-47D4-8276-7DDE1FA7D85A}" type="slidenum">
              <a:rPr lang="en-US" smtClean="0"/>
              <a:t>1</a:t>
            </a:fld>
            <a:endParaRPr lang="en-US"/>
          </a:p>
        </p:txBody>
      </p:sp>
      <p:pic>
        <p:nvPicPr>
          <p:cNvPr id="4" name="Picture 3">
            <a:extLst>
              <a:ext uri="{FF2B5EF4-FFF2-40B4-BE49-F238E27FC236}">
                <a16:creationId xmlns:a16="http://schemas.microsoft.com/office/drawing/2014/main" id="{E3E0BB23-952E-CE3A-6D69-51F800C8F822}"/>
              </a:ext>
            </a:extLst>
          </p:cNvPr>
          <p:cNvPicPr>
            <a:picLocks noChangeAspect="1"/>
          </p:cNvPicPr>
          <p:nvPr/>
        </p:nvPicPr>
        <p:blipFill rotWithShape="1">
          <a:blip r:embed="rId2">
            <a:alphaModFix amt="60000"/>
          </a:blip>
          <a:srcRect l="15523" r="21935"/>
          <a:stretch/>
        </p:blipFill>
        <p:spPr>
          <a:xfrm>
            <a:off x="6096000" y="10"/>
            <a:ext cx="6083807" cy="6857989"/>
          </a:xfrm>
          <a:prstGeom prst="rect">
            <a:avLst/>
          </a:prstGeom>
        </p:spPr>
      </p:pic>
    </p:spTree>
    <p:extLst>
      <p:ext uri="{BB962C8B-B14F-4D97-AF65-F5344CB8AC3E}">
        <p14:creationId xmlns:p14="http://schemas.microsoft.com/office/powerpoint/2010/main" val="1945714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ummary of Computer Vision content in a doodle">
            <a:extLst>
              <a:ext uri="{FF2B5EF4-FFF2-40B4-BE49-F238E27FC236}">
                <a16:creationId xmlns:a16="http://schemas.microsoft.com/office/drawing/2014/main" id="{06E7A7D2-B204-515E-F98F-7205FF6A3D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7282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슬라이드 번호 개체 틀 3">
            <a:extLst>
              <a:ext uri="{FF2B5EF4-FFF2-40B4-BE49-F238E27FC236}">
                <a16:creationId xmlns:a16="http://schemas.microsoft.com/office/drawing/2014/main" id="{C3DB4B79-15F9-22C0-4277-975EDA493EDA}"/>
              </a:ext>
            </a:extLst>
          </p:cNvPr>
          <p:cNvSpPr>
            <a:spLocks noGrp="1"/>
          </p:cNvSpPr>
          <p:nvPr>
            <p:ph type="sldNum" sz="quarter" idx="12"/>
          </p:nvPr>
        </p:nvSpPr>
        <p:spPr/>
        <p:txBody>
          <a:bodyPr/>
          <a:lstStyle/>
          <a:p>
            <a:fld id="{28844951-7827-47D4-8276-7DDE1FA7D85A}" type="slidenum">
              <a:rPr lang="en-US" smtClean="0"/>
              <a:t>2</a:t>
            </a:fld>
            <a:endParaRPr lang="en-US"/>
          </a:p>
        </p:txBody>
      </p:sp>
    </p:spTree>
    <p:extLst>
      <p:ext uri="{BB962C8B-B14F-4D97-AF65-F5344CB8AC3E}">
        <p14:creationId xmlns:p14="http://schemas.microsoft.com/office/powerpoint/2010/main" val="2928295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3CB2633-046C-7691-8EA6-E65B85B4A65D}"/>
              </a:ext>
            </a:extLst>
          </p:cNvPr>
          <p:cNvSpPr>
            <a:spLocks noGrp="1"/>
          </p:cNvSpPr>
          <p:nvPr>
            <p:ph type="title"/>
          </p:nvPr>
        </p:nvSpPr>
        <p:spPr>
          <a:xfrm>
            <a:off x="838201" y="857251"/>
            <a:ext cx="5796580" cy="860338"/>
          </a:xfrm>
        </p:spPr>
        <p:txBody>
          <a:bodyPr anchor="b">
            <a:normAutofit/>
          </a:bodyPr>
          <a:lstStyle/>
          <a:p>
            <a:r>
              <a:rPr kumimoji="1" lang="en-US" altLang="ko-KR" sz="4400" dirty="0">
                <a:solidFill>
                  <a:srgbClr val="FFFFFF"/>
                </a:solidFill>
              </a:rPr>
              <a:t>Definition</a:t>
            </a:r>
            <a:endParaRPr kumimoji="1" lang="ko-KR" altLang="en-US" sz="4400" dirty="0">
              <a:solidFill>
                <a:srgbClr val="FFFFFF"/>
              </a:solidFill>
            </a:endParaRPr>
          </a:p>
        </p:txBody>
      </p:sp>
      <p:sp>
        <p:nvSpPr>
          <p:cNvPr id="3" name="내용 개체 틀 2">
            <a:extLst>
              <a:ext uri="{FF2B5EF4-FFF2-40B4-BE49-F238E27FC236}">
                <a16:creationId xmlns:a16="http://schemas.microsoft.com/office/drawing/2014/main" id="{F88947D8-EC1F-A3A1-A414-DEA742E9AD4A}"/>
              </a:ext>
            </a:extLst>
          </p:cNvPr>
          <p:cNvSpPr>
            <a:spLocks noGrp="1"/>
          </p:cNvSpPr>
          <p:nvPr>
            <p:ph idx="1"/>
          </p:nvPr>
        </p:nvSpPr>
        <p:spPr>
          <a:xfrm>
            <a:off x="838199" y="2335427"/>
            <a:ext cx="6489357" cy="4339718"/>
          </a:xfrm>
        </p:spPr>
        <p:txBody>
          <a:bodyPr>
            <a:normAutofit/>
          </a:bodyPr>
          <a:lstStyle/>
          <a:p>
            <a:pPr>
              <a:lnSpc>
                <a:spcPct val="104000"/>
              </a:lnSpc>
            </a:pPr>
            <a:r>
              <a:rPr kumimoji="1" lang="en" altLang="ko-KR" sz="1800" dirty="0">
                <a:solidFill>
                  <a:srgbClr val="FFFFFF"/>
                </a:solidFill>
              </a:rPr>
              <a:t>Computer Vision is a discipline whose aim is to allow computers to gain high-level understanding of digital images</a:t>
            </a:r>
          </a:p>
          <a:p>
            <a:pPr lvl="1">
              <a:lnSpc>
                <a:spcPct val="104000"/>
              </a:lnSpc>
            </a:pPr>
            <a:r>
              <a:rPr kumimoji="1" lang="en-US" altLang="ko-KR" sz="1800" dirty="0">
                <a:solidFill>
                  <a:srgbClr val="FFFFFF"/>
                </a:solidFill>
              </a:rPr>
              <a:t>U</a:t>
            </a:r>
            <a:r>
              <a:rPr kumimoji="1" lang="en" altLang="ko-KR" sz="1800" dirty="0" err="1">
                <a:solidFill>
                  <a:srgbClr val="FFFFFF"/>
                </a:solidFill>
              </a:rPr>
              <a:t>nderstanding</a:t>
            </a:r>
            <a:r>
              <a:rPr kumimoji="1" lang="en" altLang="ko-KR" sz="1800" dirty="0">
                <a:solidFill>
                  <a:srgbClr val="FFFFFF"/>
                </a:solidFill>
              </a:rPr>
              <a:t> can mean many different things, including finding an object on a picture (object detection), understanding what is happening (event detection), describing a picture in text, or reconstructing a scene in 3D</a:t>
            </a:r>
          </a:p>
          <a:p>
            <a:pPr lvl="1">
              <a:lnSpc>
                <a:spcPct val="104000"/>
              </a:lnSpc>
            </a:pPr>
            <a:r>
              <a:rPr kumimoji="1" lang="en" altLang="ko-KR" sz="1800" dirty="0">
                <a:solidFill>
                  <a:srgbClr val="FFFFFF"/>
                </a:solidFill>
              </a:rPr>
              <a:t>There are also special tasks related to human images: age and emotion estimation, face detection and identification, and 3D pose estimation</a:t>
            </a:r>
          </a:p>
          <a:p>
            <a:pPr>
              <a:lnSpc>
                <a:spcPct val="104000"/>
              </a:lnSpc>
            </a:pPr>
            <a:endParaRPr kumimoji="1" lang="en" altLang="ko-KR" sz="1800" dirty="0">
              <a:solidFill>
                <a:srgbClr val="FFFFFF"/>
              </a:solidFill>
            </a:endParaRPr>
          </a:p>
          <a:p>
            <a:pPr>
              <a:lnSpc>
                <a:spcPct val="104000"/>
              </a:lnSpc>
            </a:pPr>
            <a:endParaRPr kumimoji="1" lang="ko-KR" altLang="en-US" sz="1800" dirty="0">
              <a:solidFill>
                <a:srgbClr val="FFFFFF"/>
              </a:solidFill>
            </a:endParaRPr>
          </a:p>
        </p:txBody>
      </p:sp>
      <p:sp>
        <p:nvSpPr>
          <p:cNvPr id="4" name="슬라이드 번호 개체 틀 3">
            <a:extLst>
              <a:ext uri="{FF2B5EF4-FFF2-40B4-BE49-F238E27FC236}">
                <a16:creationId xmlns:a16="http://schemas.microsoft.com/office/drawing/2014/main" id="{750FA584-4B33-086B-D93A-B169F936E228}"/>
              </a:ext>
            </a:extLst>
          </p:cNvPr>
          <p:cNvSpPr>
            <a:spLocks noGrp="1"/>
          </p:cNvSpPr>
          <p:nvPr>
            <p:ph type="sldNum" sz="quarter" idx="12"/>
          </p:nvPr>
        </p:nvSpPr>
        <p:spPr/>
        <p:txBody>
          <a:bodyPr/>
          <a:lstStyle/>
          <a:p>
            <a:fld id="{28844951-7827-47D4-8276-7DDE1FA7D85A}" type="slidenum">
              <a:rPr lang="en-US" smtClean="0"/>
              <a:t>3</a:t>
            </a:fld>
            <a:endParaRPr lang="en-US"/>
          </a:p>
        </p:txBody>
      </p:sp>
      <p:pic>
        <p:nvPicPr>
          <p:cNvPr id="5" name="Picture 4" descr="Graph on document with pen">
            <a:extLst>
              <a:ext uri="{FF2B5EF4-FFF2-40B4-BE49-F238E27FC236}">
                <a16:creationId xmlns:a16="http://schemas.microsoft.com/office/drawing/2014/main" id="{D67A8203-1F73-90C9-E831-BE6BC75E5775}"/>
              </a:ext>
            </a:extLst>
          </p:cNvPr>
          <p:cNvPicPr>
            <a:picLocks noChangeAspect="1"/>
          </p:cNvPicPr>
          <p:nvPr/>
        </p:nvPicPr>
        <p:blipFill rotWithShape="1">
          <a:blip r:embed="rId2">
            <a:alphaModFix amt="60000"/>
          </a:blip>
          <a:srcRect l="35414" r="21691" b="-2"/>
          <a:stretch/>
        </p:blipFill>
        <p:spPr>
          <a:xfrm>
            <a:off x="7784982" y="-1328"/>
            <a:ext cx="4407017" cy="6858000"/>
          </a:xfrm>
          <a:prstGeom prst="rect">
            <a:avLst/>
          </a:prstGeom>
        </p:spPr>
      </p:pic>
    </p:spTree>
    <p:extLst>
      <p:ext uri="{BB962C8B-B14F-4D97-AF65-F5344CB8AC3E}">
        <p14:creationId xmlns:p14="http://schemas.microsoft.com/office/powerpoint/2010/main" val="2987294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2A773CA-28F4-49C2-BFA3-49A5867C7A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5D7C72BA-4476-4E4B-BC37-9A75FD0C59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Rectangle 13">
            <a:extLst>
              <a:ext uri="{FF2B5EF4-FFF2-40B4-BE49-F238E27FC236}">
                <a16:creationId xmlns:a16="http://schemas.microsoft.com/office/drawing/2014/main" id="{3009A16D-868B-4145-BBC6-555098537E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4527"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3992EB33-38E1-4175-8EE2-9BB8CC159C7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print">
            <a:extLst>
              <a:ext uri="{28A0092B-C50C-407E-A947-70E740481C1C}">
                <a14:useLocalDpi xmlns:a14="http://schemas.microsoft.com/office/drawing/2010/main" val="0"/>
              </a:ext>
            </a:extLst>
          </a:blip>
          <a:stretch>
            <a:fillRect/>
          </a:stretch>
        </p:blipFill>
        <p:spPr>
          <a:xfrm>
            <a:off x="1" y="5006045"/>
            <a:ext cx="4965192" cy="144668"/>
          </a:xfrm>
          <a:prstGeom prst="rect">
            <a:avLst/>
          </a:prstGeom>
        </p:spPr>
      </p:pic>
      <p:sp>
        <p:nvSpPr>
          <p:cNvPr id="18" name="Rectangle 17">
            <a:extLst>
              <a:ext uri="{FF2B5EF4-FFF2-40B4-BE49-F238E27FC236}">
                <a16:creationId xmlns:a16="http://schemas.microsoft.com/office/drawing/2014/main" id="{2DCAE5CF-5D29-4779-83E1-BDB64E4F3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838764"/>
            <a:ext cx="4964567" cy="3180473"/>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ko-KR" altLang="en-US"/>
          </a:p>
        </p:txBody>
      </p:sp>
      <p:sp>
        <p:nvSpPr>
          <p:cNvPr id="2" name="제목 1">
            <a:extLst>
              <a:ext uri="{FF2B5EF4-FFF2-40B4-BE49-F238E27FC236}">
                <a16:creationId xmlns:a16="http://schemas.microsoft.com/office/drawing/2014/main" id="{B22CD56C-903E-0CEC-D2E4-ACDC4B49CC87}"/>
              </a:ext>
            </a:extLst>
          </p:cNvPr>
          <p:cNvSpPr>
            <a:spLocks noGrp="1"/>
          </p:cNvSpPr>
          <p:nvPr>
            <p:ph type="title"/>
          </p:nvPr>
        </p:nvSpPr>
        <p:spPr>
          <a:xfrm>
            <a:off x="680321" y="2063262"/>
            <a:ext cx="3739279" cy="2661052"/>
          </a:xfrm>
        </p:spPr>
        <p:txBody>
          <a:bodyPr>
            <a:normAutofit/>
          </a:bodyPr>
          <a:lstStyle/>
          <a:p>
            <a:pPr algn="r"/>
            <a:r>
              <a:rPr kumimoji="1" lang="en" altLang="ko-KR" sz="3700"/>
              <a:t>One of the simplest tasks of computer vision is image classification</a:t>
            </a:r>
            <a:endParaRPr kumimoji="1" lang="ko-KR" altLang="en-US" sz="3700"/>
          </a:p>
        </p:txBody>
      </p:sp>
      <p:sp>
        <p:nvSpPr>
          <p:cNvPr id="4" name="슬라이드 번호 개체 틀 3">
            <a:extLst>
              <a:ext uri="{FF2B5EF4-FFF2-40B4-BE49-F238E27FC236}">
                <a16:creationId xmlns:a16="http://schemas.microsoft.com/office/drawing/2014/main" id="{D66B9205-F7AD-A6D0-FCE7-9DFCB941F7EA}"/>
              </a:ext>
            </a:extLst>
          </p:cNvPr>
          <p:cNvSpPr>
            <a:spLocks noGrp="1"/>
          </p:cNvSpPr>
          <p:nvPr>
            <p:ph type="sldNum" sz="quarter" idx="12"/>
          </p:nvPr>
        </p:nvSpPr>
        <p:spPr>
          <a:xfrm>
            <a:off x="11281776" y="6336872"/>
            <a:ext cx="722655" cy="365760"/>
          </a:xfrm>
        </p:spPr>
        <p:txBody>
          <a:bodyPr>
            <a:normAutofit/>
          </a:bodyPr>
          <a:lstStyle/>
          <a:p>
            <a:pPr>
              <a:spcAft>
                <a:spcPts val="600"/>
              </a:spcAft>
            </a:pPr>
            <a:fld id="{28844951-7827-47D4-8276-7DDE1FA7D85A}" type="slidenum">
              <a:rPr lang="en-US" sz="1400">
                <a:solidFill>
                  <a:srgbClr val="FFFFFF"/>
                </a:solidFill>
              </a:rPr>
              <a:pPr>
                <a:spcAft>
                  <a:spcPts val="600"/>
                </a:spcAft>
              </a:pPr>
              <a:t>4</a:t>
            </a:fld>
            <a:endParaRPr lang="en-US" sz="1400">
              <a:solidFill>
                <a:srgbClr val="FFFFFF"/>
              </a:solidFill>
            </a:endParaRPr>
          </a:p>
        </p:txBody>
      </p:sp>
      <p:graphicFrame>
        <p:nvGraphicFramePr>
          <p:cNvPr id="6" name="내용 개체 틀 2">
            <a:extLst>
              <a:ext uri="{FF2B5EF4-FFF2-40B4-BE49-F238E27FC236}">
                <a16:creationId xmlns:a16="http://schemas.microsoft.com/office/drawing/2014/main" id="{B89ECA85-CD2F-BAAF-4981-9B728CA86F7B}"/>
              </a:ext>
            </a:extLst>
          </p:cNvPr>
          <p:cNvGraphicFramePr>
            <a:graphicFrameLocks noGrp="1"/>
          </p:cNvGraphicFramePr>
          <p:nvPr>
            <p:ph idx="1"/>
            <p:extLst>
              <p:ext uri="{D42A27DB-BD31-4B8C-83A1-F6EECF244321}">
                <p14:modId xmlns:p14="http://schemas.microsoft.com/office/powerpoint/2010/main" val="3714569310"/>
              </p:ext>
            </p:extLst>
          </p:nvPr>
        </p:nvGraphicFramePr>
        <p:xfrm>
          <a:off x="5284788" y="639763"/>
          <a:ext cx="6261100" cy="55784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86797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7341052-73F2-435C-A1F0-70961D11B4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CPU with binary numbers and blueprint">
            <a:extLst>
              <a:ext uri="{FF2B5EF4-FFF2-40B4-BE49-F238E27FC236}">
                <a16:creationId xmlns:a16="http://schemas.microsoft.com/office/drawing/2014/main" id="{D11F08EE-AE60-3946-6086-5FAF36A10EA1}"/>
              </a:ext>
            </a:extLst>
          </p:cNvPr>
          <p:cNvPicPr>
            <a:picLocks noChangeAspect="1"/>
          </p:cNvPicPr>
          <p:nvPr/>
        </p:nvPicPr>
        <p:blipFill rotWithShape="1">
          <a:blip r:embed="rId2">
            <a:alphaModFix amt="15000"/>
            <a:grayscl/>
          </a:blip>
          <a:srcRect/>
          <a:stretch/>
        </p:blipFill>
        <p:spPr>
          <a:xfrm>
            <a:off x="-608749" y="753227"/>
            <a:ext cx="12192000" cy="6858001"/>
          </a:xfrm>
          <a:prstGeom prst="rect">
            <a:avLst/>
          </a:prstGeom>
        </p:spPr>
      </p:pic>
      <p:pic>
        <p:nvPicPr>
          <p:cNvPr id="12" name="Picture 11">
            <a:extLst>
              <a:ext uri="{FF2B5EF4-FFF2-40B4-BE49-F238E27FC236}">
                <a16:creationId xmlns:a16="http://schemas.microsoft.com/office/drawing/2014/main" id="{A4D2D0F6-68B7-4A2F-B80D-B3AAC1F4DC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sp>
        <p:nvSpPr>
          <p:cNvPr id="14" name="Rectangle 13">
            <a:extLst>
              <a:ext uri="{FF2B5EF4-FFF2-40B4-BE49-F238E27FC236}">
                <a16:creationId xmlns:a16="http://schemas.microsoft.com/office/drawing/2014/main" id="{A0BCEF11-98AA-4EF8-91CF-8146F64793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609600"/>
            <a:ext cx="10437812" cy="1368198"/>
          </a:xfrm>
          <a:prstGeom prst="rect">
            <a:avLst/>
          </a:prstGeom>
          <a:solidFill>
            <a:schemeClr val="bg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ko-KR" altLang="en-US"/>
          </a:p>
        </p:txBody>
      </p:sp>
      <p:sp>
        <p:nvSpPr>
          <p:cNvPr id="2" name="제목 1">
            <a:extLst>
              <a:ext uri="{FF2B5EF4-FFF2-40B4-BE49-F238E27FC236}">
                <a16:creationId xmlns:a16="http://schemas.microsoft.com/office/drawing/2014/main" id="{4901BEE3-05D0-C09A-5A2A-36E4148DD04C}"/>
              </a:ext>
            </a:extLst>
          </p:cNvPr>
          <p:cNvSpPr>
            <a:spLocks noGrp="1"/>
          </p:cNvSpPr>
          <p:nvPr>
            <p:ph type="title"/>
          </p:nvPr>
        </p:nvSpPr>
        <p:spPr>
          <a:xfrm>
            <a:off x="680321" y="753228"/>
            <a:ext cx="9613861" cy="1080938"/>
          </a:xfrm>
        </p:spPr>
        <p:txBody>
          <a:bodyPr>
            <a:normAutofit/>
          </a:bodyPr>
          <a:lstStyle/>
          <a:p>
            <a:r>
              <a:rPr kumimoji="1" lang="en" altLang="ko-KR" dirty="0"/>
              <a:t>It makes sense to use some algorithmic techniques to enhance the image first</a:t>
            </a:r>
            <a:endParaRPr kumimoji="1" lang="ko-KR" altLang="en-US" dirty="0"/>
          </a:p>
        </p:txBody>
      </p:sp>
      <p:pic>
        <p:nvPicPr>
          <p:cNvPr id="16" name="Picture 15">
            <a:extLst>
              <a:ext uri="{FF2B5EF4-FFF2-40B4-BE49-F238E27FC236}">
                <a16:creationId xmlns:a16="http://schemas.microsoft.com/office/drawing/2014/main" id="{DB816C00-E2A2-4A28-A8CB-2E9E10E9FDF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8" name="Rectangle 17">
            <a:extLst>
              <a:ext uri="{FF2B5EF4-FFF2-40B4-BE49-F238E27FC236}">
                <a16:creationId xmlns:a16="http://schemas.microsoft.com/office/drawing/2014/main" id="{B2892C6A-FAAA-49A9-B836-6ECC4D48D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ko-KR" altLang="en-US"/>
          </a:p>
        </p:txBody>
      </p:sp>
      <p:sp>
        <p:nvSpPr>
          <p:cNvPr id="4" name="슬라이드 번호 개체 틀 3">
            <a:extLst>
              <a:ext uri="{FF2B5EF4-FFF2-40B4-BE49-F238E27FC236}">
                <a16:creationId xmlns:a16="http://schemas.microsoft.com/office/drawing/2014/main" id="{993A54E4-DC4D-7BCB-4EA5-6A6E777C7AC7}"/>
              </a:ext>
            </a:extLst>
          </p:cNvPr>
          <p:cNvSpPr>
            <a:spLocks noGrp="1"/>
          </p:cNvSpPr>
          <p:nvPr>
            <p:ph type="sldNum" sz="quarter" idx="12"/>
          </p:nvPr>
        </p:nvSpPr>
        <p:spPr>
          <a:xfrm>
            <a:off x="10729455" y="753227"/>
            <a:ext cx="1154151" cy="1090789"/>
          </a:xfrm>
        </p:spPr>
        <p:txBody>
          <a:bodyPr>
            <a:normAutofit/>
          </a:bodyPr>
          <a:lstStyle/>
          <a:p>
            <a:pPr>
              <a:spcAft>
                <a:spcPts val="600"/>
              </a:spcAft>
            </a:pPr>
            <a:fld id="{28844951-7827-47D4-8276-7DDE1FA7D85A}" type="slidenum">
              <a:rPr lang="en-US" smtClean="0"/>
              <a:pPr>
                <a:spcAft>
                  <a:spcPts val="600"/>
                </a:spcAft>
              </a:pPr>
              <a:t>5</a:t>
            </a:fld>
            <a:endParaRPr lang="en-US"/>
          </a:p>
        </p:txBody>
      </p:sp>
      <p:sp>
        <p:nvSpPr>
          <p:cNvPr id="3" name="내용 개체 틀 2">
            <a:extLst>
              <a:ext uri="{FF2B5EF4-FFF2-40B4-BE49-F238E27FC236}">
                <a16:creationId xmlns:a16="http://schemas.microsoft.com/office/drawing/2014/main" id="{BAAFA65E-B53B-84B8-5E19-29AED95C1BF1}"/>
              </a:ext>
            </a:extLst>
          </p:cNvPr>
          <p:cNvSpPr>
            <a:spLocks noGrp="1"/>
          </p:cNvSpPr>
          <p:nvPr>
            <p:ph idx="1"/>
          </p:nvPr>
        </p:nvSpPr>
        <p:spPr>
          <a:xfrm>
            <a:off x="680321" y="2336872"/>
            <a:ext cx="9613861" cy="4199851"/>
          </a:xfrm>
        </p:spPr>
        <p:txBody>
          <a:bodyPr anchor="ctr">
            <a:normAutofit/>
          </a:bodyPr>
          <a:lstStyle/>
          <a:p>
            <a:r>
              <a:rPr kumimoji="1" lang="en" altLang="ko-KR" sz="2000" dirty="0"/>
              <a:t>Python libraries available for image processing:</a:t>
            </a:r>
          </a:p>
          <a:p>
            <a:pPr lvl="1"/>
            <a:r>
              <a:rPr kumimoji="1" lang="en" altLang="ko-KR" dirty="0" err="1"/>
              <a:t>imageio</a:t>
            </a:r>
            <a:r>
              <a:rPr kumimoji="1" lang="en" altLang="ko-KR" dirty="0"/>
              <a:t> can be used for reading/writing different image formats. It also support </a:t>
            </a:r>
            <a:r>
              <a:rPr kumimoji="1" lang="en" altLang="ko-KR" dirty="0" err="1"/>
              <a:t>ffmpeg</a:t>
            </a:r>
            <a:r>
              <a:rPr kumimoji="1" lang="en" altLang="ko-KR" dirty="0"/>
              <a:t>, a useful tool to convert video frames to images</a:t>
            </a:r>
          </a:p>
          <a:p>
            <a:pPr lvl="1"/>
            <a:r>
              <a:rPr kumimoji="1" lang="en" altLang="ko-KR" dirty="0"/>
              <a:t>Pillow (also known as PIL) supports some image manipulation such as morphing, palette adjustments</a:t>
            </a:r>
          </a:p>
          <a:p>
            <a:pPr lvl="1"/>
            <a:r>
              <a:rPr kumimoji="1" lang="en" altLang="ko-KR" dirty="0"/>
              <a:t>OpenCV is an image processing library written in C++, which has become the de facto standard for image processing. It has a convenient Python interface</a:t>
            </a:r>
          </a:p>
          <a:p>
            <a:pPr lvl="1"/>
            <a:r>
              <a:rPr kumimoji="1" lang="en" altLang="ko-KR" dirty="0" err="1"/>
              <a:t>dlib</a:t>
            </a:r>
            <a:r>
              <a:rPr kumimoji="1" lang="en" altLang="ko-KR" dirty="0"/>
              <a:t> is a C++ library that implements many machine learning algorithms, including some of the Computer Vision algorithms. It also has a Python interface, and can be used for tasks such as face and facial landmark detection</a:t>
            </a:r>
            <a:endParaRPr kumimoji="1" lang="ko-KR" altLang="en-US" dirty="0"/>
          </a:p>
        </p:txBody>
      </p:sp>
    </p:spTree>
    <p:extLst>
      <p:ext uri="{BB962C8B-B14F-4D97-AF65-F5344CB8AC3E}">
        <p14:creationId xmlns:p14="http://schemas.microsoft.com/office/powerpoint/2010/main" val="1416892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5285507-1AE1-096B-29B7-194E6F9466A5}"/>
              </a:ext>
            </a:extLst>
          </p:cNvPr>
          <p:cNvSpPr>
            <a:spLocks noGrp="1"/>
          </p:cNvSpPr>
          <p:nvPr>
            <p:ph type="title"/>
          </p:nvPr>
        </p:nvSpPr>
        <p:spPr/>
        <p:txBody>
          <a:bodyPr/>
          <a:lstStyle/>
          <a:p>
            <a:r>
              <a:rPr kumimoji="1" lang="en-US" altLang="ko-KR" dirty="0"/>
              <a:t>OpenCV</a:t>
            </a:r>
            <a:endParaRPr kumimoji="1" lang="ko-KR" altLang="en-US" dirty="0"/>
          </a:p>
        </p:txBody>
      </p:sp>
      <p:sp>
        <p:nvSpPr>
          <p:cNvPr id="3" name="내용 개체 틀 2">
            <a:extLst>
              <a:ext uri="{FF2B5EF4-FFF2-40B4-BE49-F238E27FC236}">
                <a16:creationId xmlns:a16="http://schemas.microsoft.com/office/drawing/2014/main" id="{EBD153A0-8A7F-96F1-8A79-DAE149688009}"/>
              </a:ext>
            </a:extLst>
          </p:cNvPr>
          <p:cNvSpPr>
            <a:spLocks noGrp="1"/>
          </p:cNvSpPr>
          <p:nvPr>
            <p:ph idx="1"/>
          </p:nvPr>
        </p:nvSpPr>
        <p:spPr/>
        <p:txBody>
          <a:bodyPr>
            <a:normAutofit lnSpcReduction="10000"/>
          </a:bodyPr>
          <a:lstStyle/>
          <a:p>
            <a:r>
              <a:rPr kumimoji="1" lang="en-US" altLang="ko-KR" dirty="0"/>
              <a:t>Loading images</a:t>
            </a:r>
          </a:p>
          <a:p>
            <a:pPr lvl="1"/>
            <a:r>
              <a:rPr kumimoji="1" lang="en" altLang="ko-KR" dirty="0"/>
              <a:t>Images in Python can be conveniently represented by NumPy arrays</a:t>
            </a:r>
          </a:p>
          <a:p>
            <a:pPr lvl="1"/>
            <a:r>
              <a:rPr kumimoji="1" lang="en" altLang="ko-KR" dirty="0"/>
              <a:t>For example, grayscale images with the size of 320x200 pixels would be stored in a 200x320 array, and color images of the same dimension would have shape of 200x320x3 (for 3 color channels)</a:t>
            </a:r>
          </a:p>
          <a:p>
            <a:pPr lvl="1"/>
            <a:r>
              <a:rPr kumimoji="1" lang="en" altLang="ko-KR" dirty="0"/>
              <a:t>To load an image, you can use the following code:</a:t>
            </a:r>
          </a:p>
          <a:p>
            <a:pPr lvl="1"/>
            <a:endParaRPr kumimoji="1" lang="en" altLang="ko-KR" dirty="0"/>
          </a:p>
          <a:p>
            <a:pPr marL="914400" lvl="2" indent="0">
              <a:buNone/>
            </a:pPr>
            <a:r>
              <a:rPr kumimoji="1" lang="en" altLang="ko-KR" dirty="0"/>
              <a:t>import cv2</a:t>
            </a:r>
          </a:p>
          <a:p>
            <a:pPr marL="914400" lvl="2" indent="0">
              <a:buNone/>
            </a:pPr>
            <a:r>
              <a:rPr kumimoji="1" lang="en" altLang="ko-KR" dirty="0"/>
              <a:t>import </a:t>
            </a:r>
            <a:r>
              <a:rPr kumimoji="1" lang="en" altLang="ko-KR" dirty="0" err="1"/>
              <a:t>matplotlib.pyplot</a:t>
            </a:r>
            <a:r>
              <a:rPr kumimoji="1" lang="en" altLang="ko-KR" dirty="0"/>
              <a:t> as </a:t>
            </a:r>
            <a:r>
              <a:rPr kumimoji="1" lang="en" altLang="ko-KR" dirty="0" err="1"/>
              <a:t>plt</a:t>
            </a:r>
            <a:endParaRPr kumimoji="1" lang="en" altLang="ko-KR" dirty="0"/>
          </a:p>
          <a:p>
            <a:pPr marL="914400" lvl="2" indent="0">
              <a:buNone/>
            </a:pPr>
            <a:endParaRPr kumimoji="1" lang="en" altLang="ko-KR" dirty="0"/>
          </a:p>
          <a:p>
            <a:pPr marL="914400" lvl="2" indent="0">
              <a:buNone/>
            </a:pPr>
            <a:r>
              <a:rPr kumimoji="1" lang="en" altLang="ko-KR" dirty="0" err="1"/>
              <a:t>im</a:t>
            </a:r>
            <a:r>
              <a:rPr kumimoji="1" lang="en" altLang="ko-KR" dirty="0"/>
              <a:t> = cv2.imread('</a:t>
            </a:r>
            <a:r>
              <a:rPr kumimoji="1" lang="en" altLang="ko-KR" dirty="0" err="1"/>
              <a:t>image.jpeg</a:t>
            </a:r>
            <a:r>
              <a:rPr kumimoji="1" lang="en" altLang="ko-KR" dirty="0"/>
              <a:t>')</a:t>
            </a:r>
          </a:p>
          <a:p>
            <a:pPr marL="914400" lvl="2" indent="0">
              <a:buNone/>
            </a:pPr>
            <a:r>
              <a:rPr kumimoji="1" lang="en" altLang="ko-KR" dirty="0" err="1"/>
              <a:t>plt.imshow</a:t>
            </a:r>
            <a:r>
              <a:rPr kumimoji="1" lang="en" altLang="ko-KR" dirty="0"/>
              <a:t>(</a:t>
            </a:r>
            <a:r>
              <a:rPr kumimoji="1" lang="en" altLang="ko-KR" dirty="0" err="1"/>
              <a:t>im</a:t>
            </a:r>
            <a:r>
              <a:rPr kumimoji="1" lang="en" altLang="ko-KR" dirty="0"/>
              <a:t>)</a:t>
            </a:r>
          </a:p>
          <a:p>
            <a:pPr lvl="2"/>
            <a:endParaRPr kumimoji="1" lang="en" altLang="ko-KR" dirty="0"/>
          </a:p>
          <a:p>
            <a:pPr lvl="1"/>
            <a:endParaRPr kumimoji="1" lang="ko-KR" altLang="en-US" dirty="0"/>
          </a:p>
        </p:txBody>
      </p:sp>
      <p:sp>
        <p:nvSpPr>
          <p:cNvPr id="4" name="슬라이드 번호 개체 틀 3">
            <a:extLst>
              <a:ext uri="{FF2B5EF4-FFF2-40B4-BE49-F238E27FC236}">
                <a16:creationId xmlns:a16="http://schemas.microsoft.com/office/drawing/2014/main" id="{60E8EF0E-1A9F-1CC5-7097-2C36E8E96353}"/>
              </a:ext>
            </a:extLst>
          </p:cNvPr>
          <p:cNvSpPr>
            <a:spLocks noGrp="1"/>
          </p:cNvSpPr>
          <p:nvPr>
            <p:ph type="sldNum" sz="quarter" idx="12"/>
          </p:nvPr>
        </p:nvSpPr>
        <p:spPr/>
        <p:txBody>
          <a:bodyPr/>
          <a:lstStyle/>
          <a:p>
            <a:fld id="{28844951-7827-47D4-8276-7DDE1FA7D85A}" type="slidenum">
              <a:rPr lang="en-US" smtClean="0"/>
              <a:pPr/>
              <a:t>6</a:t>
            </a:fld>
            <a:endParaRPr lang="en-US"/>
          </a:p>
        </p:txBody>
      </p:sp>
    </p:spTree>
    <p:extLst>
      <p:ext uri="{BB962C8B-B14F-4D97-AF65-F5344CB8AC3E}">
        <p14:creationId xmlns:p14="http://schemas.microsoft.com/office/powerpoint/2010/main" val="911253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D94109E-5251-BCBB-C4B7-09109365BE94}"/>
              </a:ext>
            </a:extLst>
          </p:cNvPr>
          <p:cNvSpPr>
            <a:spLocks noGrp="1"/>
          </p:cNvSpPr>
          <p:nvPr>
            <p:ph type="title"/>
          </p:nvPr>
        </p:nvSpPr>
        <p:spPr/>
        <p:txBody>
          <a:bodyPr/>
          <a:lstStyle/>
          <a:p>
            <a:r>
              <a:rPr kumimoji="1" lang="en-US" altLang="ko-KR" dirty="0"/>
              <a:t>OpenCV (cont’d)</a:t>
            </a:r>
            <a:endParaRPr kumimoji="1" lang="ko-KR" altLang="en-US" dirty="0"/>
          </a:p>
        </p:txBody>
      </p:sp>
      <p:sp>
        <p:nvSpPr>
          <p:cNvPr id="3" name="내용 개체 틀 2">
            <a:extLst>
              <a:ext uri="{FF2B5EF4-FFF2-40B4-BE49-F238E27FC236}">
                <a16:creationId xmlns:a16="http://schemas.microsoft.com/office/drawing/2014/main" id="{6A7F5E6A-3BF2-CB21-8BBC-1C7B18959E63}"/>
              </a:ext>
            </a:extLst>
          </p:cNvPr>
          <p:cNvSpPr>
            <a:spLocks noGrp="1"/>
          </p:cNvSpPr>
          <p:nvPr>
            <p:ph idx="1"/>
          </p:nvPr>
        </p:nvSpPr>
        <p:spPr/>
        <p:txBody>
          <a:bodyPr/>
          <a:lstStyle/>
          <a:p>
            <a:r>
              <a:rPr kumimoji="1" lang="en" altLang="ko-KR" dirty="0"/>
              <a:t>Traditionally, OpenCV uses BGR (Blue-Green-Red) encoding for color images, while the rest of Python tools use the more traditional RGB (Red-Green-Blue)</a:t>
            </a:r>
          </a:p>
          <a:p>
            <a:r>
              <a:rPr kumimoji="1" lang="en" altLang="ko-KR" dirty="0"/>
              <a:t>For the image to look right, you need to convert it to the RGB color space, either by swapping dimensions in the NumPy array, or by calling an OpenCV function:</a:t>
            </a:r>
          </a:p>
          <a:p>
            <a:pPr lvl="1"/>
            <a:endParaRPr kumimoji="1" lang="en" altLang="ko-KR" dirty="0"/>
          </a:p>
          <a:p>
            <a:pPr marL="457200" lvl="1" indent="0">
              <a:buNone/>
            </a:pPr>
            <a:r>
              <a:rPr kumimoji="1" lang="en" altLang="ko-KR" dirty="0" err="1"/>
              <a:t>im</a:t>
            </a:r>
            <a:r>
              <a:rPr kumimoji="1" lang="en" altLang="ko-KR" dirty="0"/>
              <a:t> = cv2.cvtColor(im,cv2.COLOR_BGR2RGB)</a:t>
            </a:r>
          </a:p>
          <a:p>
            <a:pPr marL="457200" lvl="1" indent="0">
              <a:buNone/>
            </a:pPr>
            <a:endParaRPr kumimoji="1" lang="en" altLang="ko-KR" dirty="0"/>
          </a:p>
          <a:p>
            <a:endParaRPr kumimoji="1" lang="ko-KR" altLang="en-US" dirty="0"/>
          </a:p>
        </p:txBody>
      </p:sp>
      <p:sp>
        <p:nvSpPr>
          <p:cNvPr id="4" name="슬라이드 번호 개체 틀 3">
            <a:extLst>
              <a:ext uri="{FF2B5EF4-FFF2-40B4-BE49-F238E27FC236}">
                <a16:creationId xmlns:a16="http://schemas.microsoft.com/office/drawing/2014/main" id="{1C2ABF39-24C7-BBB2-6433-F53DBBFE1A11}"/>
              </a:ext>
            </a:extLst>
          </p:cNvPr>
          <p:cNvSpPr>
            <a:spLocks noGrp="1"/>
          </p:cNvSpPr>
          <p:nvPr>
            <p:ph type="sldNum" sz="quarter" idx="12"/>
          </p:nvPr>
        </p:nvSpPr>
        <p:spPr/>
        <p:txBody>
          <a:bodyPr/>
          <a:lstStyle/>
          <a:p>
            <a:fld id="{28844951-7827-47D4-8276-7DDE1FA7D85A}" type="slidenum">
              <a:rPr lang="en-US" smtClean="0"/>
              <a:pPr/>
              <a:t>7</a:t>
            </a:fld>
            <a:endParaRPr lang="en-US"/>
          </a:p>
        </p:txBody>
      </p:sp>
    </p:spTree>
    <p:extLst>
      <p:ext uri="{BB962C8B-B14F-4D97-AF65-F5344CB8AC3E}">
        <p14:creationId xmlns:p14="http://schemas.microsoft.com/office/powerpoint/2010/main" val="3033339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2D34C25-0BC9-39B9-D5D2-F1CCAFF55A5B}"/>
              </a:ext>
            </a:extLst>
          </p:cNvPr>
          <p:cNvSpPr>
            <a:spLocks noGrp="1"/>
          </p:cNvSpPr>
          <p:nvPr>
            <p:ph type="title"/>
          </p:nvPr>
        </p:nvSpPr>
        <p:spPr/>
        <p:txBody>
          <a:bodyPr/>
          <a:lstStyle/>
          <a:p>
            <a:r>
              <a:rPr kumimoji="1" lang="en-US" altLang="ko-KR" dirty="0"/>
              <a:t>OpenCV (cont’d)</a:t>
            </a:r>
            <a:endParaRPr kumimoji="1" lang="ko-KR" altLang="en-US" dirty="0"/>
          </a:p>
        </p:txBody>
      </p:sp>
      <p:sp>
        <p:nvSpPr>
          <p:cNvPr id="3" name="내용 개체 틀 2">
            <a:extLst>
              <a:ext uri="{FF2B5EF4-FFF2-40B4-BE49-F238E27FC236}">
                <a16:creationId xmlns:a16="http://schemas.microsoft.com/office/drawing/2014/main" id="{7221AD40-5BD7-2C8B-8560-F1865CEF80EA}"/>
              </a:ext>
            </a:extLst>
          </p:cNvPr>
          <p:cNvSpPr>
            <a:spLocks noGrp="1"/>
          </p:cNvSpPr>
          <p:nvPr>
            <p:ph idx="1"/>
          </p:nvPr>
        </p:nvSpPr>
        <p:spPr/>
        <p:txBody>
          <a:bodyPr/>
          <a:lstStyle/>
          <a:p>
            <a:r>
              <a:rPr kumimoji="1" lang="en" altLang="ko-KR" dirty="0"/>
              <a:t>The same </a:t>
            </a:r>
            <a:r>
              <a:rPr kumimoji="1" lang="en" altLang="ko-KR" dirty="0" err="1"/>
              <a:t>cvtColor</a:t>
            </a:r>
            <a:r>
              <a:rPr kumimoji="1" lang="en" altLang="ko-KR" dirty="0"/>
              <a:t> function can be used to perform other color space transformations such as converting an image to grayscale or to the HSV (Hue-Saturation-Value) color space</a:t>
            </a:r>
          </a:p>
          <a:p>
            <a:endParaRPr kumimoji="1" lang="en" altLang="ko-KR" dirty="0"/>
          </a:p>
          <a:p>
            <a:r>
              <a:rPr kumimoji="1" lang="en" altLang="ko-KR" dirty="0"/>
              <a:t>You can also use OpenCV to load video frame-by-frame</a:t>
            </a:r>
            <a:endParaRPr kumimoji="1" lang="ko-KR" altLang="en-US" dirty="0"/>
          </a:p>
        </p:txBody>
      </p:sp>
      <p:sp>
        <p:nvSpPr>
          <p:cNvPr id="4" name="슬라이드 번호 개체 틀 3">
            <a:extLst>
              <a:ext uri="{FF2B5EF4-FFF2-40B4-BE49-F238E27FC236}">
                <a16:creationId xmlns:a16="http://schemas.microsoft.com/office/drawing/2014/main" id="{04270D0A-9AB9-924B-15CA-7343319F5C7A}"/>
              </a:ext>
            </a:extLst>
          </p:cNvPr>
          <p:cNvSpPr>
            <a:spLocks noGrp="1"/>
          </p:cNvSpPr>
          <p:nvPr>
            <p:ph type="sldNum" sz="quarter" idx="12"/>
          </p:nvPr>
        </p:nvSpPr>
        <p:spPr/>
        <p:txBody>
          <a:bodyPr/>
          <a:lstStyle/>
          <a:p>
            <a:fld id="{28844951-7827-47D4-8276-7DDE1FA7D85A}" type="slidenum">
              <a:rPr lang="en-US" smtClean="0"/>
              <a:pPr/>
              <a:t>8</a:t>
            </a:fld>
            <a:endParaRPr lang="en-US"/>
          </a:p>
        </p:txBody>
      </p:sp>
    </p:spTree>
    <p:extLst>
      <p:ext uri="{BB962C8B-B14F-4D97-AF65-F5344CB8AC3E}">
        <p14:creationId xmlns:p14="http://schemas.microsoft.com/office/powerpoint/2010/main" val="3968606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7341052-73F2-435C-A1F0-70961D11B4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Human brain nerve cells">
            <a:extLst>
              <a:ext uri="{FF2B5EF4-FFF2-40B4-BE49-F238E27FC236}">
                <a16:creationId xmlns:a16="http://schemas.microsoft.com/office/drawing/2014/main" id="{E8C01726-501E-B99E-B8DC-C38B89005201}"/>
              </a:ext>
            </a:extLst>
          </p:cNvPr>
          <p:cNvPicPr>
            <a:picLocks noChangeAspect="1"/>
          </p:cNvPicPr>
          <p:nvPr/>
        </p:nvPicPr>
        <p:blipFill rotWithShape="1">
          <a:blip r:embed="rId2">
            <a:alphaModFix amt="15000"/>
            <a:grayscl/>
          </a:blip>
          <a:srcRect t="25000"/>
          <a:stretch/>
        </p:blipFill>
        <p:spPr>
          <a:xfrm>
            <a:off x="-608749" y="753227"/>
            <a:ext cx="12192000" cy="6858001"/>
          </a:xfrm>
          <a:prstGeom prst="rect">
            <a:avLst/>
          </a:prstGeom>
        </p:spPr>
      </p:pic>
      <p:pic>
        <p:nvPicPr>
          <p:cNvPr id="12" name="Picture 11">
            <a:extLst>
              <a:ext uri="{FF2B5EF4-FFF2-40B4-BE49-F238E27FC236}">
                <a16:creationId xmlns:a16="http://schemas.microsoft.com/office/drawing/2014/main" id="{A4D2D0F6-68B7-4A2F-B80D-B3AAC1F4DC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sp>
        <p:nvSpPr>
          <p:cNvPr id="14" name="Rectangle 13">
            <a:extLst>
              <a:ext uri="{FF2B5EF4-FFF2-40B4-BE49-F238E27FC236}">
                <a16:creationId xmlns:a16="http://schemas.microsoft.com/office/drawing/2014/main" id="{A0BCEF11-98AA-4EF8-91CF-8146F64793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609600"/>
            <a:ext cx="10437812" cy="1368198"/>
          </a:xfrm>
          <a:prstGeom prst="rect">
            <a:avLst/>
          </a:prstGeom>
          <a:solidFill>
            <a:schemeClr val="bg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ko-KR" altLang="en-US"/>
          </a:p>
        </p:txBody>
      </p:sp>
      <p:sp>
        <p:nvSpPr>
          <p:cNvPr id="2" name="제목 1">
            <a:extLst>
              <a:ext uri="{FF2B5EF4-FFF2-40B4-BE49-F238E27FC236}">
                <a16:creationId xmlns:a16="http://schemas.microsoft.com/office/drawing/2014/main" id="{C2F42B32-A7B4-ED6F-A3C0-B67301B48ED8}"/>
              </a:ext>
            </a:extLst>
          </p:cNvPr>
          <p:cNvSpPr>
            <a:spLocks noGrp="1"/>
          </p:cNvSpPr>
          <p:nvPr>
            <p:ph type="title"/>
          </p:nvPr>
        </p:nvSpPr>
        <p:spPr>
          <a:xfrm>
            <a:off x="680321" y="753228"/>
            <a:ext cx="9613861" cy="1080938"/>
          </a:xfrm>
        </p:spPr>
        <p:txBody>
          <a:bodyPr>
            <a:normAutofit/>
          </a:bodyPr>
          <a:lstStyle/>
          <a:p>
            <a:r>
              <a:rPr kumimoji="1" lang="en-US" altLang="ko-KR" dirty="0"/>
              <a:t>Image Processing</a:t>
            </a:r>
            <a:endParaRPr kumimoji="1" lang="ko-KR" altLang="en-US" dirty="0"/>
          </a:p>
        </p:txBody>
      </p:sp>
      <p:pic>
        <p:nvPicPr>
          <p:cNvPr id="16" name="Picture 15">
            <a:extLst>
              <a:ext uri="{FF2B5EF4-FFF2-40B4-BE49-F238E27FC236}">
                <a16:creationId xmlns:a16="http://schemas.microsoft.com/office/drawing/2014/main" id="{DB816C00-E2A2-4A28-A8CB-2E9E10E9FDF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8" name="Rectangle 17">
            <a:extLst>
              <a:ext uri="{FF2B5EF4-FFF2-40B4-BE49-F238E27FC236}">
                <a16:creationId xmlns:a16="http://schemas.microsoft.com/office/drawing/2014/main" id="{B2892C6A-FAAA-49A9-B836-6ECC4D48D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ko-KR" altLang="en-US"/>
          </a:p>
        </p:txBody>
      </p:sp>
      <p:sp>
        <p:nvSpPr>
          <p:cNvPr id="4" name="슬라이드 번호 개체 틀 3">
            <a:extLst>
              <a:ext uri="{FF2B5EF4-FFF2-40B4-BE49-F238E27FC236}">
                <a16:creationId xmlns:a16="http://schemas.microsoft.com/office/drawing/2014/main" id="{CD505443-3970-8187-E5CF-AEB1D17DF465}"/>
              </a:ext>
            </a:extLst>
          </p:cNvPr>
          <p:cNvSpPr>
            <a:spLocks noGrp="1"/>
          </p:cNvSpPr>
          <p:nvPr>
            <p:ph type="sldNum" sz="quarter" idx="12"/>
          </p:nvPr>
        </p:nvSpPr>
        <p:spPr>
          <a:xfrm>
            <a:off x="10729455" y="753227"/>
            <a:ext cx="1154151" cy="1090789"/>
          </a:xfrm>
        </p:spPr>
        <p:txBody>
          <a:bodyPr>
            <a:normAutofit/>
          </a:bodyPr>
          <a:lstStyle/>
          <a:p>
            <a:pPr>
              <a:spcAft>
                <a:spcPts val="600"/>
              </a:spcAft>
            </a:pPr>
            <a:fld id="{28844951-7827-47D4-8276-7DDE1FA7D85A}" type="slidenum">
              <a:rPr lang="en-US" smtClean="0"/>
              <a:pPr>
                <a:spcAft>
                  <a:spcPts val="600"/>
                </a:spcAft>
              </a:pPr>
              <a:t>9</a:t>
            </a:fld>
            <a:endParaRPr lang="en-US"/>
          </a:p>
        </p:txBody>
      </p:sp>
      <p:sp>
        <p:nvSpPr>
          <p:cNvPr id="3" name="내용 개체 틀 2">
            <a:extLst>
              <a:ext uri="{FF2B5EF4-FFF2-40B4-BE49-F238E27FC236}">
                <a16:creationId xmlns:a16="http://schemas.microsoft.com/office/drawing/2014/main" id="{4ABCCDB4-C2EB-C62D-20C0-8CDDC0D18244}"/>
              </a:ext>
            </a:extLst>
          </p:cNvPr>
          <p:cNvSpPr>
            <a:spLocks noGrp="1"/>
          </p:cNvSpPr>
          <p:nvPr>
            <p:ph idx="1"/>
          </p:nvPr>
        </p:nvSpPr>
        <p:spPr>
          <a:xfrm>
            <a:off x="680321" y="2336873"/>
            <a:ext cx="11203285" cy="3395060"/>
          </a:xfrm>
        </p:spPr>
        <p:txBody>
          <a:bodyPr anchor="ctr">
            <a:normAutofit/>
          </a:bodyPr>
          <a:lstStyle/>
          <a:p>
            <a:r>
              <a:rPr kumimoji="1" lang="en" altLang="ko-KR" sz="2000" dirty="0"/>
              <a:t>Before feeding an image to a neural network, we can apply several pre-processing steps. OpenCV can do many things, including:</a:t>
            </a:r>
          </a:p>
          <a:p>
            <a:pPr lvl="1"/>
            <a:r>
              <a:rPr kumimoji="1" lang="en" altLang="ko-KR" dirty="0"/>
              <a:t>Resizing the image using </a:t>
            </a:r>
            <a:r>
              <a:rPr kumimoji="1" lang="en" altLang="ko-KR" dirty="0" err="1"/>
              <a:t>im</a:t>
            </a:r>
            <a:r>
              <a:rPr kumimoji="1" lang="en" altLang="ko-KR" dirty="0"/>
              <a:t> = cv2.resize(</a:t>
            </a:r>
            <a:r>
              <a:rPr kumimoji="1" lang="en" altLang="ko-KR" dirty="0" err="1"/>
              <a:t>im</a:t>
            </a:r>
            <a:r>
              <a:rPr kumimoji="1" lang="en" altLang="ko-KR" dirty="0"/>
              <a:t>, (320,200),interpolation=cv2.INTER_LANCZOS)</a:t>
            </a:r>
          </a:p>
          <a:p>
            <a:pPr lvl="1"/>
            <a:r>
              <a:rPr kumimoji="1" lang="en" altLang="ko-KR" dirty="0"/>
              <a:t>Blurring the image using </a:t>
            </a:r>
            <a:r>
              <a:rPr kumimoji="1" lang="en" altLang="ko-KR" dirty="0" err="1"/>
              <a:t>im</a:t>
            </a:r>
            <a:r>
              <a:rPr kumimoji="1" lang="en" altLang="ko-KR" dirty="0"/>
              <a:t> = cv2.medianBlur(im,3) or </a:t>
            </a:r>
            <a:r>
              <a:rPr kumimoji="1" lang="en" altLang="ko-KR" dirty="0" err="1"/>
              <a:t>im</a:t>
            </a:r>
            <a:r>
              <a:rPr kumimoji="1" lang="en" altLang="ko-KR" dirty="0"/>
              <a:t> = cv2.GaussianBlur(</a:t>
            </a:r>
            <a:r>
              <a:rPr kumimoji="1" lang="en" altLang="ko-KR" dirty="0" err="1"/>
              <a:t>im</a:t>
            </a:r>
            <a:r>
              <a:rPr kumimoji="1" lang="en" altLang="ko-KR" dirty="0"/>
              <a:t>, (3,3), 0)</a:t>
            </a:r>
          </a:p>
          <a:p>
            <a:pPr lvl="1"/>
            <a:r>
              <a:rPr kumimoji="1" lang="en" altLang="ko-KR" dirty="0"/>
              <a:t>Changing the brightness and contrast of the image can be done by NumPy array manipulations</a:t>
            </a:r>
            <a:endParaRPr kumimoji="1" lang="ko-KR" altLang="en-US" dirty="0"/>
          </a:p>
        </p:txBody>
      </p:sp>
    </p:spTree>
    <p:extLst>
      <p:ext uri="{BB962C8B-B14F-4D97-AF65-F5344CB8AC3E}">
        <p14:creationId xmlns:p14="http://schemas.microsoft.com/office/powerpoint/2010/main" val="2384885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F79A9BF-F7BD-73FB-E1FB-83E2D8C26A82}"/>
              </a:ext>
            </a:extLst>
          </p:cNvPr>
          <p:cNvSpPr>
            <a:spLocks noGrp="1"/>
          </p:cNvSpPr>
          <p:nvPr>
            <p:ph type="title"/>
          </p:nvPr>
        </p:nvSpPr>
        <p:spPr>
          <a:xfrm>
            <a:off x="680321" y="753228"/>
            <a:ext cx="9613861" cy="1080938"/>
          </a:xfrm>
        </p:spPr>
        <p:txBody>
          <a:bodyPr>
            <a:normAutofit/>
          </a:bodyPr>
          <a:lstStyle/>
          <a:p>
            <a:r>
              <a:rPr kumimoji="1" lang="en-US" altLang="ko-KR" dirty="0"/>
              <a:t>Image Processing (cont’d)</a:t>
            </a:r>
            <a:endParaRPr kumimoji="1" lang="ko-KR" altLang="en-US" dirty="0"/>
          </a:p>
        </p:txBody>
      </p:sp>
      <p:sp>
        <p:nvSpPr>
          <p:cNvPr id="4" name="슬라이드 번호 개체 틀 3">
            <a:extLst>
              <a:ext uri="{FF2B5EF4-FFF2-40B4-BE49-F238E27FC236}">
                <a16:creationId xmlns:a16="http://schemas.microsoft.com/office/drawing/2014/main" id="{A6EA68F2-3092-A17C-047C-103FFB6C3E22}"/>
              </a:ext>
            </a:extLst>
          </p:cNvPr>
          <p:cNvSpPr>
            <a:spLocks noGrp="1"/>
          </p:cNvSpPr>
          <p:nvPr>
            <p:ph type="sldNum" sz="quarter" idx="12"/>
          </p:nvPr>
        </p:nvSpPr>
        <p:spPr>
          <a:xfrm>
            <a:off x="10729455" y="753227"/>
            <a:ext cx="1154151" cy="1090789"/>
          </a:xfrm>
        </p:spPr>
        <p:txBody>
          <a:bodyPr>
            <a:normAutofit/>
          </a:bodyPr>
          <a:lstStyle/>
          <a:p>
            <a:pPr>
              <a:spcAft>
                <a:spcPts val="600"/>
              </a:spcAft>
            </a:pPr>
            <a:fld id="{28844951-7827-47D4-8276-7DDE1FA7D85A}" type="slidenum">
              <a:rPr lang="en-US">
                <a:solidFill>
                  <a:srgbClr val="FFFFFF"/>
                </a:solidFill>
              </a:rPr>
              <a:pPr>
                <a:spcAft>
                  <a:spcPts val="600"/>
                </a:spcAft>
              </a:pPr>
              <a:t>10</a:t>
            </a:fld>
            <a:endParaRPr lang="en-US">
              <a:solidFill>
                <a:srgbClr val="FFFFFF"/>
              </a:solidFill>
            </a:endParaRPr>
          </a:p>
        </p:txBody>
      </p:sp>
      <p:sp>
        <p:nvSpPr>
          <p:cNvPr id="3" name="내용 개체 틀 2">
            <a:extLst>
              <a:ext uri="{FF2B5EF4-FFF2-40B4-BE49-F238E27FC236}">
                <a16:creationId xmlns:a16="http://schemas.microsoft.com/office/drawing/2014/main" id="{FC1F450B-9B00-F841-A0FB-8C397B7C741E}"/>
              </a:ext>
            </a:extLst>
          </p:cNvPr>
          <p:cNvSpPr>
            <a:spLocks noGrp="1"/>
          </p:cNvSpPr>
          <p:nvPr>
            <p:ph idx="1"/>
          </p:nvPr>
        </p:nvSpPr>
        <p:spPr>
          <a:xfrm>
            <a:off x="115615" y="2336873"/>
            <a:ext cx="7746124" cy="4389748"/>
          </a:xfrm>
        </p:spPr>
        <p:txBody>
          <a:bodyPr>
            <a:normAutofit fontScale="92500" lnSpcReduction="10000"/>
          </a:bodyPr>
          <a:lstStyle/>
          <a:p>
            <a:pPr>
              <a:lnSpc>
                <a:spcPct val="110000"/>
              </a:lnSpc>
            </a:pPr>
            <a:r>
              <a:rPr kumimoji="1" lang="en" altLang="ko-KR" sz="2200" dirty="0"/>
              <a:t>Using thresholding by calling cv2.threshold/cv2.adaptiveThreshold functions, which is often preferable to adjusting brightness or contrast</a:t>
            </a:r>
          </a:p>
          <a:p>
            <a:pPr>
              <a:lnSpc>
                <a:spcPct val="110000"/>
              </a:lnSpc>
            </a:pPr>
            <a:r>
              <a:rPr kumimoji="1" lang="en" altLang="ko-KR" sz="2200" dirty="0"/>
              <a:t>Applying different transformations to the image:</a:t>
            </a:r>
          </a:p>
          <a:p>
            <a:pPr lvl="1">
              <a:lnSpc>
                <a:spcPct val="110000"/>
              </a:lnSpc>
            </a:pPr>
            <a:r>
              <a:rPr kumimoji="1" lang="en" altLang="ko-KR" sz="1800" dirty="0"/>
              <a:t>Affine transformations can be useful if you need to combine rotation, resizing and skewing to the image and you know the source and destination location of three points in the image Affine transformations keep parallel lines parallel</a:t>
            </a:r>
          </a:p>
          <a:p>
            <a:pPr lvl="1">
              <a:lnSpc>
                <a:spcPct val="110000"/>
              </a:lnSpc>
            </a:pPr>
            <a:r>
              <a:rPr kumimoji="1" lang="en" altLang="ko-KR" sz="1800" dirty="0"/>
              <a:t>Perspective transformations can be useful when you know the source and destination positions of 4 points in the image. For example, if you take a picture of a rectangular document via a smartphone camera from some angle, and you want to make a rectangular image of the document itself</a:t>
            </a:r>
          </a:p>
          <a:p>
            <a:pPr>
              <a:lnSpc>
                <a:spcPct val="110000"/>
              </a:lnSpc>
            </a:pPr>
            <a:r>
              <a:rPr kumimoji="1" lang="en" altLang="ko-KR" sz="2200" dirty="0"/>
              <a:t>Understanding movement inside the image by using optical flow</a:t>
            </a:r>
            <a:endParaRPr kumimoji="1" lang="ko-KR" altLang="en-US" sz="2200" dirty="0"/>
          </a:p>
        </p:txBody>
      </p:sp>
      <p:pic>
        <p:nvPicPr>
          <p:cNvPr id="2050" name="Picture 2">
            <a:extLst>
              <a:ext uri="{FF2B5EF4-FFF2-40B4-BE49-F238E27FC236}">
                <a16:creationId xmlns:a16="http://schemas.microsoft.com/office/drawing/2014/main" id="{3F9AEDA7-9732-E4DE-DE78-B1D69FB4C23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736369" y="3160112"/>
            <a:ext cx="4198182" cy="1863723"/>
          </a:xfrm>
          <a:prstGeom prst="rect">
            <a:avLst/>
          </a:prstGeom>
          <a:noFill/>
          <a:ln>
            <a:noFill/>
          </a:ln>
          <a:effectLst>
            <a:outerShdw blurRad="76200" dist="63500" dir="5040000" algn="tl" rotWithShape="0">
              <a:srgbClr val="000000">
                <a:alpha val="41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2740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5BD05CA-B868-D41E-7BD9-EBB9B44F8AD3}"/>
              </a:ext>
            </a:extLst>
          </p:cNvPr>
          <p:cNvSpPr>
            <a:spLocks noGrp="1"/>
          </p:cNvSpPr>
          <p:nvPr>
            <p:ph type="title"/>
          </p:nvPr>
        </p:nvSpPr>
        <p:spPr>
          <a:xfrm>
            <a:off x="680321" y="753228"/>
            <a:ext cx="9613861" cy="1080938"/>
          </a:xfrm>
        </p:spPr>
        <p:txBody>
          <a:bodyPr>
            <a:normAutofit/>
          </a:bodyPr>
          <a:lstStyle/>
          <a:p>
            <a:r>
              <a:rPr kumimoji="1" lang="en" altLang="ko-KR" dirty="0"/>
              <a:t>Examples of using Computer Vision</a:t>
            </a:r>
            <a:endParaRPr kumimoji="1" lang="ko-KR" altLang="en-US" dirty="0"/>
          </a:p>
        </p:txBody>
      </p:sp>
      <p:sp>
        <p:nvSpPr>
          <p:cNvPr id="4" name="슬라이드 번호 개체 틀 3">
            <a:extLst>
              <a:ext uri="{FF2B5EF4-FFF2-40B4-BE49-F238E27FC236}">
                <a16:creationId xmlns:a16="http://schemas.microsoft.com/office/drawing/2014/main" id="{535B9296-7AFD-6752-B85D-2B2E9D384C61}"/>
              </a:ext>
            </a:extLst>
          </p:cNvPr>
          <p:cNvSpPr>
            <a:spLocks noGrp="1"/>
          </p:cNvSpPr>
          <p:nvPr>
            <p:ph type="sldNum" sz="quarter" idx="12"/>
          </p:nvPr>
        </p:nvSpPr>
        <p:spPr>
          <a:xfrm>
            <a:off x="10729455" y="753227"/>
            <a:ext cx="1154151" cy="1090789"/>
          </a:xfrm>
        </p:spPr>
        <p:txBody>
          <a:bodyPr>
            <a:normAutofit/>
          </a:bodyPr>
          <a:lstStyle/>
          <a:p>
            <a:pPr>
              <a:spcAft>
                <a:spcPts val="600"/>
              </a:spcAft>
            </a:pPr>
            <a:fld id="{28844951-7827-47D4-8276-7DDE1FA7D85A}" type="slidenum">
              <a:rPr lang="en-US" smtClean="0"/>
              <a:pPr>
                <a:spcAft>
                  <a:spcPts val="600"/>
                </a:spcAft>
              </a:pPr>
              <a:t>11</a:t>
            </a:fld>
            <a:endParaRPr lang="en-US"/>
          </a:p>
        </p:txBody>
      </p:sp>
      <p:sp>
        <p:nvSpPr>
          <p:cNvPr id="3" name="내용 개체 틀 2">
            <a:extLst>
              <a:ext uri="{FF2B5EF4-FFF2-40B4-BE49-F238E27FC236}">
                <a16:creationId xmlns:a16="http://schemas.microsoft.com/office/drawing/2014/main" id="{37F7EC43-DD61-2868-7655-D0B287CFFB35}"/>
              </a:ext>
            </a:extLst>
          </p:cNvPr>
          <p:cNvSpPr>
            <a:spLocks noGrp="1"/>
          </p:cNvSpPr>
          <p:nvPr>
            <p:ph idx="1"/>
          </p:nvPr>
        </p:nvSpPr>
        <p:spPr>
          <a:xfrm>
            <a:off x="680322" y="2336873"/>
            <a:ext cx="3973974" cy="3599316"/>
          </a:xfrm>
        </p:spPr>
        <p:txBody>
          <a:bodyPr>
            <a:normAutofit/>
          </a:bodyPr>
          <a:lstStyle/>
          <a:p>
            <a:r>
              <a:rPr kumimoji="1" lang="en" altLang="ko-KR" sz="2000" dirty="0"/>
              <a:t>Pre-processing a photograph of a Braille book. We focus on how we can use thresholding, feature detection, perspective transformation and NumPy manipulations to separate individual Braille symbols for further classification by a neural network</a:t>
            </a:r>
            <a:endParaRPr kumimoji="1" lang="ko-KR" altLang="en-US" sz="2000" dirty="0"/>
          </a:p>
        </p:txBody>
      </p:sp>
      <p:sp>
        <p:nvSpPr>
          <p:cNvPr id="3083" name="Rectangle 3082">
            <a:extLst>
              <a:ext uri="{FF2B5EF4-FFF2-40B4-BE49-F238E27FC236}">
                <a16:creationId xmlns:a16="http://schemas.microsoft.com/office/drawing/2014/main" id="{77F27772-5CC0-47C1-A0A2-A78B951756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2049" y="2295631"/>
            <a:ext cx="3352707" cy="3575782"/>
          </a:xfrm>
          <a:prstGeom prst="rect">
            <a:avLst/>
          </a:prstGeom>
          <a:solidFill>
            <a:srgbClr val="FFFFFF"/>
          </a:solidFill>
          <a:ln>
            <a:noFill/>
          </a:ln>
          <a:effectLst>
            <a:outerShdw blurRad="76200" dist="63500" dir="504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6" name="Picture 4" descr="Braille Image">
            <a:extLst>
              <a:ext uri="{FF2B5EF4-FFF2-40B4-BE49-F238E27FC236}">
                <a16:creationId xmlns:a16="http://schemas.microsoft.com/office/drawing/2014/main" id="{46A30576-22A4-5368-CD91-E0B54FC4595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30355" y="3384716"/>
            <a:ext cx="3033533" cy="1380257"/>
          </a:xfrm>
          <a:prstGeom prst="rect">
            <a:avLst/>
          </a:prstGeom>
          <a:noFill/>
          <a:extLst>
            <a:ext uri="{909E8E84-426E-40DD-AFC4-6F175D3DCCD1}">
              <a14:hiddenFill xmlns:a14="http://schemas.microsoft.com/office/drawing/2010/main">
                <a:solidFill>
                  <a:srgbClr val="FFFFFF"/>
                </a:solidFill>
              </a14:hiddenFill>
            </a:ext>
          </a:extLst>
        </p:spPr>
      </p:pic>
      <p:sp>
        <p:nvSpPr>
          <p:cNvPr id="3085" name="Rectangle 3084">
            <a:extLst>
              <a:ext uri="{FF2B5EF4-FFF2-40B4-BE49-F238E27FC236}">
                <a16:creationId xmlns:a16="http://schemas.microsoft.com/office/drawing/2014/main" id="{B0FBFB5E-69B9-4536-9CD5-5FB696AA95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85624" y="2295631"/>
            <a:ext cx="1941742" cy="1750780"/>
          </a:xfrm>
          <a:prstGeom prst="rect">
            <a:avLst/>
          </a:prstGeom>
          <a:solidFill>
            <a:srgbClr val="FFFFFF"/>
          </a:solidFill>
          <a:ln>
            <a:noFill/>
          </a:ln>
          <a:effectLst>
            <a:outerShdw blurRad="76200" dist="63500" dir="504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Rectangle 3086">
            <a:extLst>
              <a:ext uri="{FF2B5EF4-FFF2-40B4-BE49-F238E27FC236}">
                <a16:creationId xmlns:a16="http://schemas.microsoft.com/office/drawing/2014/main" id="{C2DD65EE-F926-4B9B-90C2-4A5CCC95FD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85624" y="4226650"/>
            <a:ext cx="1941742" cy="1644763"/>
          </a:xfrm>
          <a:prstGeom prst="rect">
            <a:avLst/>
          </a:prstGeom>
          <a:solidFill>
            <a:srgbClr val="FFFFFF"/>
          </a:solidFill>
          <a:ln>
            <a:noFill/>
          </a:ln>
          <a:effectLst>
            <a:outerShdw blurRad="76200" dist="63500" dir="504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8" name="Picture 6" descr="Braille Image Pre-processed">
            <a:extLst>
              <a:ext uri="{FF2B5EF4-FFF2-40B4-BE49-F238E27FC236}">
                <a16:creationId xmlns:a16="http://schemas.microsoft.com/office/drawing/2014/main" id="{EBA1A319-E40A-6D6B-7468-A25A8F43EA4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630658" y="2885561"/>
            <a:ext cx="1651673" cy="570919"/>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Braille Symbols">
            <a:extLst>
              <a:ext uri="{FF2B5EF4-FFF2-40B4-BE49-F238E27FC236}">
                <a16:creationId xmlns:a16="http://schemas.microsoft.com/office/drawing/2014/main" id="{D2A99FD9-2B94-35ED-F03A-20B4BE2CE761}"/>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630657" y="4636340"/>
            <a:ext cx="1652949" cy="60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1784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EA8DA61-C0FA-2FE2-DCD9-A6F6B6299865}"/>
              </a:ext>
            </a:extLst>
          </p:cNvPr>
          <p:cNvSpPr>
            <a:spLocks noGrp="1"/>
          </p:cNvSpPr>
          <p:nvPr>
            <p:ph type="title"/>
          </p:nvPr>
        </p:nvSpPr>
        <p:spPr/>
        <p:txBody>
          <a:bodyPr/>
          <a:lstStyle/>
          <a:p>
            <a:r>
              <a:rPr kumimoji="1" lang="en" altLang="ko-KR" dirty="0"/>
              <a:t>Examples of using Computer Vision (cont’d)</a:t>
            </a:r>
            <a:endParaRPr kumimoji="1" lang="ko-KR" altLang="en-US" dirty="0"/>
          </a:p>
        </p:txBody>
      </p:sp>
      <p:sp>
        <p:nvSpPr>
          <p:cNvPr id="3" name="내용 개체 틀 2">
            <a:extLst>
              <a:ext uri="{FF2B5EF4-FFF2-40B4-BE49-F238E27FC236}">
                <a16:creationId xmlns:a16="http://schemas.microsoft.com/office/drawing/2014/main" id="{94806171-D8B4-7008-AFDC-3F8DEF16F45F}"/>
              </a:ext>
            </a:extLst>
          </p:cNvPr>
          <p:cNvSpPr>
            <a:spLocks noGrp="1"/>
          </p:cNvSpPr>
          <p:nvPr>
            <p:ph idx="1"/>
          </p:nvPr>
        </p:nvSpPr>
        <p:spPr/>
        <p:txBody>
          <a:bodyPr>
            <a:normAutofit/>
          </a:bodyPr>
          <a:lstStyle/>
          <a:p>
            <a:r>
              <a:rPr kumimoji="1" lang="en" altLang="ko-KR" sz="1800" dirty="0"/>
              <a:t>Detecting motion in video using frame difference. If the camera is fixed, then frames from the camera feed should be pretty similar to each other. Since frames are represented as arrays, just by subtracting those arrays for two subsequent frames we will get the pixel difference, which should be low for static frames, and become higher once there is substantial motion in the image.</a:t>
            </a:r>
          </a:p>
          <a:p>
            <a:endParaRPr kumimoji="1" lang="ko-KR" altLang="en-US" sz="1400" dirty="0"/>
          </a:p>
        </p:txBody>
      </p:sp>
      <p:sp>
        <p:nvSpPr>
          <p:cNvPr id="4" name="슬라이드 번호 개체 틀 3">
            <a:extLst>
              <a:ext uri="{FF2B5EF4-FFF2-40B4-BE49-F238E27FC236}">
                <a16:creationId xmlns:a16="http://schemas.microsoft.com/office/drawing/2014/main" id="{BE142760-69C2-CA17-5C92-349FEC7489E2}"/>
              </a:ext>
            </a:extLst>
          </p:cNvPr>
          <p:cNvSpPr>
            <a:spLocks noGrp="1"/>
          </p:cNvSpPr>
          <p:nvPr>
            <p:ph type="sldNum" sz="quarter" idx="12"/>
          </p:nvPr>
        </p:nvSpPr>
        <p:spPr/>
        <p:txBody>
          <a:bodyPr/>
          <a:lstStyle/>
          <a:p>
            <a:fld id="{28844951-7827-47D4-8276-7DDE1FA7D85A}" type="slidenum">
              <a:rPr lang="en-US" smtClean="0"/>
              <a:pPr/>
              <a:t>12</a:t>
            </a:fld>
            <a:endParaRPr lang="en-US"/>
          </a:p>
        </p:txBody>
      </p:sp>
      <p:pic>
        <p:nvPicPr>
          <p:cNvPr id="4098" name="Picture 2">
            <a:extLst>
              <a:ext uri="{FF2B5EF4-FFF2-40B4-BE49-F238E27FC236}">
                <a16:creationId xmlns:a16="http://schemas.microsoft.com/office/drawing/2014/main" id="{C75CD042-E1B7-5042-1E6C-B7AD214DD6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30295"/>
            <a:ext cx="12192000" cy="2879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0998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70C76E9-9276-717E-9D61-317471C03F63}"/>
              </a:ext>
            </a:extLst>
          </p:cNvPr>
          <p:cNvSpPr>
            <a:spLocks noGrp="1"/>
          </p:cNvSpPr>
          <p:nvPr>
            <p:ph type="title"/>
          </p:nvPr>
        </p:nvSpPr>
        <p:spPr/>
        <p:txBody>
          <a:bodyPr/>
          <a:lstStyle/>
          <a:p>
            <a:r>
              <a:rPr kumimoji="1" lang="en" altLang="ko-KR" dirty="0"/>
              <a:t>Examples of using Computer Vision (cont’d)</a:t>
            </a:r>
            <a:endParaRPr kumimoji="1" lang="ko-KR" altLang="en-US" dirty="0"/>
          </a:p>
        </p:txBody>
      </p:sp>
      <p:sp>
        <p:nvSpPr>
          <p:cNvPr id="3" name="내용 개체 틀 2">
            <a:extLst>
              <a:ext uri="{FF2B5EF4-FFF2-40B4-BE49-F238E27FC236}">
                <a16:creationId xmlns:a16="http://schemas.microsoft.com/office/drawing/2014/main" id="{6711859B-AECF-6FC3-0705-EF623BD6D7CC}"/>
              </a:ext>
            </a:extLst>
          </p:cNvPr>
          <p:cNvSpPr>
            <a:spLocks noGrp="1"/>
          </p:cNvSpPr>
          <p:nvPr>
            <p:ph idx="1"/>
          </p:nvPr>
        </p:nvSpPr>
        <p:spPr>
          <a:xfrm>
            <a:off x="680321" y="2336873"/>
            <a:ext cx="10754934" cy="3599316"/>
          </a:xfrm>
        </p:spPr>
        <p:txBody>
          <a:bodyPr>
            <a:normAutofit/>
          </a:bodyPr>
          <a:lstStyle/>
          <a:p>
            <a:r>
              <a:rPr kumimoji="1" lang="en" altLang="ko-KR" sz="2000" dirty="0"/>
              <a:t>Detecting motion using Optical Flow. Optical flow allows us to understand how individual pixels on video frames move. There are two types of optical flow:</a:t>
            </a:r>
          </a:p>
          <a:p>
            <a:pPr lvl="1"/>
            <a:r>
              <a:rPr kumimoji="1" lang="en" altLang="ko-KR" sz="1800" dirty="0"/>
              <a:t>Dense Optical Flow computes the vector field that shows for each pixel where is it moving</a:t>
            </a:r>
          </a:p>
          <a:p>
            <a:pPr lvl="1"/>
            <a:r>
              <a:rPr kumimoji="1" lang="en" altLang="ko-KR" sz="1800" dirty="0"/>
              <a:t>Sparse Optical Flow is based on taking some distinctive features in the image (</a:t>
            </a:r>
            <a:r>
              <a:rPr kumimoji="1" lang="en" altLang="ko-KR" sz="1800" dirty="0" err="1"/>
              <a:t>eg.</a:t>
            </a:r>
            <a:r>
              <a:rPr kumimoji="1" lang="en" altLang="ko-KR" sz="1800" dirty="0"/>
              <a:t> edges), and building their trajectory from frame to frame.</a:t>
            </a:r>
            <a:endParaRPr kumimoji="1" lang="ko-KR" altLang="en-US" sz="1800" dirty="0"/>
          </a:p>
        </p:txBody>
      </p:sp>
      <p:sp>
        <p:nvSpPr>
          <p:cNvPr id="4" name="슬라이드 번호 개체 틀 3">
            <a:extLst>
              <a:ext uri="{FF2B5EF4-FFF2-40B4-BE49-F238E27FC236}">
                <a16:creationId xmlns:a16="http://schemas.microsoft.com/office/drawing/2014/main" id="{A792494F-E6DA-27AF-5F4D-11801A277EA7}"/>
              </a:ext>
            </a:extLst>
          </p:cNvPr>
          <p:cNvSpPr>
            <a:spLocks noGrp="1"/>
          </p:cNvSpPr>
          <p:nvPr>
            <p:ph type="sldNum" sz="quarter" idx="12"/>
          </p:nvPr>
        </p:nvSpPr>
        <p:spPr/>
        <p:txBody>
          <a:bodyPr/>
          <a:lstStyle/>
          <a:p>
            <a:fld id="{28844951-7827-47D4-8276-7DDE1FA7D85A}" type="slidenum">
              <a:rPr lang="en-US" smtClean="0"/>
              <a:pPr/>
              <a:t>13</a:t>
            </a:fld>
            <a:endParaRPr lang="en-US"/>
          </a:p>
        </p:txBody>
      </p:sp>
      <p:pic>
        <p:nvPicPr>
          <p:cNvPr id="5122" name="Picture 2" descr="Image of Optical Flow">
            <a:extLst>
              <a:ext uri="{FF2B5EF4-FFF2-40B4-BE49-F238E27FC236}">
                <a16:creationId xmlns:a16="http://schemas.microsoft.com/office/drawing/2014/main" id="{01A473DA-7E69-4B9B-BB4F-58BD300DF8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434078"/>
            <a:ext cx="12192000" cy="1179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012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890BB17-FBB7-50A6-D4AA-4C3BFD9917EA}"/>
              </a:ext>
            </a:extLst>
          </p:cNvPr>
          <p:cNvSpPr>
            <a:spLocks noGrp="1"/>
          </p:cNvSpPr>
          <p:nvPr>
            <p:ph type="title"/>
          </p:nvPr>
        </p:nvSpPr>
        <p:spPr/>
        <p:txBody>
          <a:bodyPr/>
          <a:lstStyle/>
          <a:p>
            <a:r>
              <a:rPr kumimoji="1" lang="en" altLang="ko-KR" dirty="0"/>
              <a:t>2021 OpenCV AI </a:t>
            </a:r>
            <a:r>
              <a:rPr kumimoji="1" lang="ko-KR" altLang="en-US" dirty="0"/>
              <a:t>대회 </a:t>
            </a:r>
            <a:r>
              <a:rPr kumimoji="1" lang="en-US" altLang="ko-KR" dirty="0"/>
              <a:t>| </a:t>
            </a:r>
            <a:r>
              <a:rPr kumimoji="1" lang="ko-KR" altLang="en-US" dirty="0"/>
              <a:t>대상 수상자 </a:t>
            </a:r>
            <a:r>
              <a:rPr kumimoji="1" lang="en-US" altLang="ko-KR" dirty="0"/>
              <a:t>| </a:t>
            </a:r>
            <a:r>
              <a:rPr kumimoji="1" lang="ko-KR" altLang="en-US" dirty="0" err="1"/>
              <a:t>코르틱</a:t>
            </a:r>
            <a:r>
              <a:rPr kumimoji="1" lang="ko-KR" altLang="en-US" dirty="0"/>
              <a:t> </a:t>
            </a:r>
            <a:r>
              <a:rPr kumimoji="1" lang="ko-KR" altLang="en-US" dirty="0" err="1"/>
              <a:t>타이거스</a:t>
            </a:r>
            <a:endParaRPr kumimoji="1" lang="ko-KR" altLang="en-US" dirty="0"/>
          </a:p>
        </p:txBody>
      </p:sp>
      <p:sp>
        <p:nvSpPr>
          <p:cNvPr id="3" name="내용 개체 틀 2">
            <a:extLst>
              <a:ext uri="{FF2B5EF4-FFF2-40B4-BE49-F238E27FC236}">
                <a16:creationId xmlns:a16="http://schemas.microsoft.com/office/drawing/2014/main" id="{0DC7767E-E339-9CD6-3D65-4A0989F3B209}"/>
              </a:ext>
            </a:extLst>
          </p:cNvPr>
          <p:cNvSpPr>
            <a:spLocks noGrp="1"/>
          </p:cNvSpPr>
          <p:nvPr>
            <p:ph idx="1"/>
          </p:nvPr>
        </p:nvSpPr>
        <p:spPr/>
        <p:txBody>
          <a:bodyPr/>
          <a:lstStyle/>
          <a:p>
            <a:r>
              <a:rPr kumimoji="1" lang="en" altLang="ko-KR" dirty="0"/>
              <a:t>https://</a:t>
            </a:r>
            <a:r>
              <a:rPr kumimoji="1" lang="en" altLang="ko-KR" dirty="0" err="1"/>
              <a:t>learn.microsoft.com</a:t>
            </a:r>
            <a:r>
              <a:rPr kumimoji="1" lang="en" altLang="ko-KR" dirty="0"/>
              <a:t>/ko-</a:t>
            </a:r>
            <a:r>
              <a:rPr kumimoji="1" lang="en" altLang="ko-KR" dirty="0" err="1"/>
              <a:t>kr</a:t>
            </a:r>
            <a:r>
              <a:rPr kumimoji="1" lang="en" altLang="ko-KR" dirty="0"/>
              <a:t>/shows/ai-show/ai-show--2021-opencv-ai-competition--grand-prize-winners--</a:t>
            </a:r>
            <a:r>
              <a:rPr kumimoji="1" lang="en" altLang="ko-KR" dirty="0" err="1"/>
              <a:t>cortic</a:t>
            </a:r>
            <a:r>
              <a:rPr kumimoji="1" lang="en" altLang="ko-KR" dirty="0"/>
              <a:t>-tigers--episode-32?WT.mc_id=academic-77998-cacaste</a:t>
            </a:r>
            <a:endParaRPr kumimoji="1" lang="ko-KR" altLang="en-US" dirty="0"/>
          </a:p>
        </p:txBody>
      </p:sp>
      <p:sp>
        <p:nvSpPr>
          <p:cNvPr id="4" name="슬라이드 번호 개체 틀 3">
            <a:extLst>
              <a:ext uri="{FF2B5EF4-FFF2-40B4-BE49-F238E27FC236}">
                <a16:creationId xmlns:a16="http://schemas.microsoft.com/office/drawing/2014/main" id="{A663C756-6995-5D3E-C55A-02FB401657DE}"/>
              </a:ext>
            </a:extLst>
          </p:cNvPr>
          <p:cNvSpPr>
            <a:spLocks noGrp="1"/>
          </p:cNvSpPr>
          <p:nvPr>
            <p:ph type="sldNum" sz="quarter" idx="12"/>
          </p:nvPr>
        </p:nvSpPr>
        <p:spPr/>
        <p:txBody>
          <a:bodyPr/>
          <a:lstStyle/>
          <a:p>
            <a:fld id="{28844951-7827-47D4-8276-7DDE1FA7D85A}" type="slidenum">
              <a:rPr lang="en-US" smtClean="0"/>
              <a:pPr/>
              <a:t>14</a:t>
            </a:fld>
            <a:endParaRPr lang="en-US"/>
          </a:p>
        </p:txBody>
      </p:sp>
    </p:spTree>
    <p:extLst>
      <p:ext uri="{BB962C8B-B14F-4D97-AF65-F5344CB8AC3E}">
        <p14:creationId xmlns:p14="http://schemas.microsoft.com/office/powerpoint/2010/main" val="3735630531"/>
      </p:ext>
    </p:extLst>
  </p:cSld>
  <p:clrMapOvr>
    <a:masterClrMapping/>
  </p:clrMapOvr>
</p:sld>
</file>

<file path=ppt/theme/theme1.xml><?xml version="1.0" encoding="utf-8"?>
<a:theme xmlns:a="http://schemas.openxmlformats.org/drawingml/2006/main" name="베를린">
  <a:themeElements>
    <a:clrScheme name="베를린">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베를린">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베를린">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Dividend</Template>
  <TotalTime>191</TotalTime>
  <Words>962</Words>
  <Application>Microsoft Macintosh PowerPoint</Application>
  <PresentationFormat>와이드스크린</PresentationFormat>
  <Paragraphs>71</Paragraphs>
  <Slides>14</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14</vt:i4>
      </vt:variant>
    </vt:vector>
  </HeadingPairs>
  <TitlesOfParts>
    <vt:vector size="18" baseType="lpstr">
      <vt:lpstr>맑은 고딕</vt:lpstr>
      <vt:lpstr>Arial</vt:lpstr>
      <vt:lpstr>Trebuchet MS</vt:lpstr>
      <vt:lpstr>베를린</vt:lpstr>
      <vt:lpstr>Computer Vision</vt:lpstr>
      <vt:lpstr>PowerPoint 프레젠테이션</vt:lpstr>
      <vt:lpstr>Definition</vt:lpstr>
      <vt:lpstr>One of the simplest tasks of computer vision is image classification</vt:lpstr>
      <vt:lpstr>It makes sense to use some algorithmic techniques to enhance the image first</vt:lpstr>
      <vt:lpstr>OpenCV</vt:lpstr>
      <vt:lpstr>OpenCV (cont’d)</vt:lpstr>
      <vt:lpstr>OpenCV (cont’d)</vt:lpstr>
      <vt:lpstr>Image Processing</vt:lpstr>
      <vt:lpstr>Image Processing (cont’d)</vt:lpstr>
      <vt:lpstr>Examples of using Computer Vision</vt:lpstr>
      <vt:lpstr>Examples of using Computer Vision (cont’d)</vt:lpstr>
      <vt:lpstr>Examples of using Computer Vision (cont’d)</vt:lpstr>
      <vt:lpstr>2021 OpenCV AI 대회 | 대상 수상자 | 코르틱 타이거스</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Vision</dc:title>
  <dc:creator>백우진</dc:creator>
  <cp:lastModifiedBy>백우진</cp:lastModifiedBy>
  <cp:revision>16</cp:revision>
  <dcterms:created xsi:type="dcterms:W3CDTF">2024-04-09T10:12:03Z</dcterms:created>
  <dcterms:modified xsi:type="dcterms:W3CDTF">2024-04-09T13:23:32Z</dcterms:modified>
</cp:coreProperties>
</file>